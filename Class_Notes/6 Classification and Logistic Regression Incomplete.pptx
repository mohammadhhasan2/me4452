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0"/>
  </p:notesMasterIdLst>
  <p:sldIdLst>
    <p:sldId id="315" r:id="rId2"/>
    <p:sldId id="343" r:id="rId3"/>
    <p:sldId id="364" r:id="rId4"/>
    <p:sldId id="370" r:id="rId5"/>
    <p:sldId id="369" r:id="rId6"/>
    <p:sldId id="363" r:id="rId7"/>
    <p:sldId id="371" r:id="rId8"/>
    <p:sldId id="372" r:id="rId9"/>
    <p:sldId id="373" r:id="rId10"/>
    <p:sldId id="374" r:id="rId11"/>
    <p:sldId id="375" r:id="rId12"/>
    <p:sldId id="376" r:id="rId13"/>
    <p:sldId id="378" r:id="rId14"/>
    <p:sldId id="379" r:id="rId15"/>
    <p:sldId id="377" r:id="rId16"/>
    <p:sldId id="380" r:id="rId17"/>
    <p:sldId id="362" r:id="rId18"/>
    <p:sldId id="360" r:id="rId19"/>
  </p:sldIdLst>
  <p:sldSz cx="9144000" cy="5143500" type="screen16x9"/>
  <p:notesSz cx="9236075" cy="70104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0"/>
    <p:restoredTop sz="94245"/>
  </p:normalViewPr>
  <p:slideViewPr>
    <p:cSldViewPr snapToGrid="0">
      <p:cViewPr varScale="1">
        <p:scale>
          <a:sx n="236" d="100"/>
          <a:sy n="236" d="100"/>
        </p:scale>
        <p:origin x="38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44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9/16/26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9/16/26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9/16/26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9/16/26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9/16/26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9/16/26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9/16/26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9/16/26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9/16/26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9/16/26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9/16/26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9/16/26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9/16/26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9/16/26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image" Target="../media/image15.png"/><Relationship Id="rId18" Type="http://schemas.openxmlformats.org/officeDocument/2006/relationships/image" Target="../media/image315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12" Type="http://schemas.openxmlformats.org/officeDocument/2006/relationships/image" Target="../media/image14.png"/><Relationship Id="rId17" Type="http://schemas.openxmlformats.org/officeDocument/2006/relationships/image" Target="../media/image314.png"/><Relationship Id="rId2" Type="http://schemas.openxmlformats.org/officeDocument/2006/relationships/image" Target="../media/image11.png"/><Relationship Id="rId16" Type="http://schemas.openxmlformats.org/officeDocument/2006/relationships/image" Target="../media/image3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3.png"/><Relationship Id="rId11" Type="http://schemas.openxmlformats.org/officeDocument/2006/relationships/image" Target="../media/image13.png"/><Relationship Id="rId5" Type="http://schemas.openxmlformats.org/officeDocument/2006/relationships/image" Target="../media/image302.png"/><Relationship Id="rId15" Type="http://schemas.openxmlformats.org/officeDocument/2006/relationships/image" Target="../media/image312.png"/><Relationship Id="rId10" Type="http://schemas.openxmlformats.org/officeDocument/2006/relationships/image" Target="../media/image307.png"/><Relationship Id="rId4" Type="http://schemas.openxmlformats.org/officeDocument/2006/relationships/image" Target="../media/image12.png"/><Relationship Id="rId9" Type="http://schemas.openxmlformats.org/officeDocument/2006/relationships/image" Target="../media/image306.png"/><Relationship Id="rId1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09/18/26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Classification and Logistic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Categorical Variables and Categorical Features</a:t>
            </a:r>
          </a:p>
          <a:p>
            <a:r>
              <a:rPr lang="en-US" dirty="0"/>
              <a:t>Multi-class classification problems</a:t>
            </a:r>
          </a:p>
          <a:p>
            <a:r>
              <a:rPr lang="en-US" dirty="0"/>
              <a:t>Categorical Cross-Entropy Loss Function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6047E0-4B66-A3BE-40DF-F93439DB85B4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Suppose that you have you have a feature that describes the Mode of an AC unit (binary categorical variable):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{HEATING, COOLING}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Machine learning can only deal with numbers. As such, we can create a dummy variable instead: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6047E0-4B66-A3BE-40DF-F93439DB8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33" t="-836" r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 and How to Use Them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BDB193-403C-1594-00BB-F5431D054EDC}"/>
              </a:ext>
            </a:extLst>
          </p:cNvPr>
          <p:cNvCxnSpPr/>
          <p:nvPr/>
        </p:nvCxnSpPr>
        <p:spPr>
          <a:xfrm>
            <a:off x="536713" y="3895658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5AEE90-F904-4CC7-93AE-BDDF07B68A2B}"/>
              </a:ext>
            </a:extLst>
          </p:cNvPr>
          <p:cNvCxnSpPr/>
          <p:nvPr/>
        </p:nvCxnSpPr>
        <p:spPr>
          <a:xfrm>
            <a:off x="536713" y="4421769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357B78-25E0-917F-443E-94A3EDBFB9A5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When dealing with categorical variables with more categories or classes, we instead use a technique called </a:t>
            </a:r>
            <a:r>
              <a:rPr lang="en-US" i="1" dirty="0"/>
              <a:t>One-hot encoding</a:t>
            </a:r>
            <a:r>
              <a:rPr lang="en-US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8C81AA-F65D-EDEC-1A22-67B85C98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ADF3E0-8E97-BDD5-F954-166F0D9C65EA}"/>
              </a:ext>
            </a:extLst>
          </p:cNvPr>
          <p:cNvGrpSpPr/>
          <p:nvPr/>
        </p:nvGrpSpPr>
        <p:grpSpPr>
          <a:xfrm>
            <a:off x="403189" y="2108421"/>
            <a:ext cx="8070574" cy="2132275"/>
            <a:chOff x="403189" y="2108421"/>
            <a:chExt cx="8070574" cy="213227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9A0F8B4-1B47-FED5-0FE7-3595E11E59E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E567E2-8CA8-4D3E-9263-5D13392C503E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74C6D9-247E-4F1F-14E5-CF1F68253D0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789421-3045-96E0-9239-D2458485CCDB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3A176C-A834-8EF7-0154-9FF63D749796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140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BB5988-085F-05BC-E442-A25A5CCB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81E6E-9D82-34AF-920F-C106185B15DE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99EA88-8CF5-1BFD-9288-D7F56BEF1AF9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E3EEA-A762-CE68-14BD-94AA5146AEF6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F9549-2439-EBAC-1DBE-46020E16BEA8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1B128A-C435-BA3D-3024-314FA51463E3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9707B71-1821-F526-7B44-C50BEA8264F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4CD9E2E-B265-51D5-722D-812D4F3C974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074D20F-D9DE-5C5E-4423-0136DB1B3B40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341158" y="2236193"/>
            <a:ext cx="561080" cy="11006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F60D3-67C7-3A87-3220-4094DFD4547F}"/>
              </a:ext>
            </a:extLst>
          </p:cNvPr>
          <p:cNvSpPr/>
          <p:nvPr/>
        </p:nvSpPr>
        <p:spPr>
          <a:xfrm>
            <a:off x="300087" y="306706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Regression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71A72-C549-418E-6D40-4F19B7E01AB1}"/>
              </a:ext>
            </a:extLst>
          </p:cNvPr>
          <p:cNvSpPr/>
          <p:nvPr/>
        </p:nvSpPr>
        <p:spPr>
          <a:xfrm>
            <a:off x="2745481" y="3067066"/>
            <a:ext cx="168111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Classification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25CFF6B-326A-7A0A-2C0B-9E46FA204FB7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2598494" y="2079522"/>
            <a:ext cx="561080" cy="141400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1EB3898-86FF-34EB-0A17-71829A5D6F98}"/>
              </a:ext>
            </a:extLst>
          </p:cNvPr>
          <p:cNvSpPr/>
          <p:nvPr/>
        </p:nvSpPr>
        <p:spPr>
          <a:xfrm>
            <a:off x="0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number from a continuous space (example: temperature of a room)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923B-B564-CE30-BC12-541EB821FCA7}"/>
              </a:ext>
            </a:extLst>
          </p:cNvPr>
          <p:cNvSpPr/>
          <p:nvPr/>
        </p:nvSpPr>
        <p:spPr>
          <a:xfrm>
            <a:off x="2265228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category or a number from a discrete 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DAC3B-EC21-535B-8E77-D8F5AE8BF1F0}"/>
              </a:ext>
            </a:extLst>
          </p:cNvPr>
          <p:cNvSpPr/>
          <p:nvPr/>
        </p:nvSpPr>
        <p:spPr>
          <a:xfrm>
            <a:off x="143123" y="2926080"/>
            <a:ext cx="2226366" cy="165553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Machine Learning : 'Classification' - Day 1">
            <a:extLst>
              <a:ext uri="{FF2B5EF4-FFF2-40B4-BE49-F238E27FC236}">
                <a16:creationId xmlns:a16="http://schemas.microsoft.com/office/drawing/2014/main" id="{2BE4ECA6-56B7-782C-67DE-562457BA2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26" y="2571750"/>
            <a:ext cx="4031087" cy="201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3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58025E-6 L 0.24618 -0.001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307B9D-05D5-3E7D-4DD2-66B6566E0EAF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We often want to find ways to classify phenomena and things based on data. Regression is not enough, unfortunately (not directly).</a:t>
            </a:r>
          </a:p>
          <a:p>
            <a:endParaRPr lang="en-US" dirty="0"/>
          </a:p>
          <a:p>
            <a:r>
              <a:rPr lang="en-US" dirty="0"/>
              <a:t>We can use tools from regression to help us with classification problems.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6" name="Picture 5" descr="Machine Learning : 'Classification' - Day 1">
            <a:extLst>
              <a:ext uri="{FF2B5EF4-FFF2-40B4-BE49-F238E27FC236}">
                <a16:creationId xmlns:a16="http://schemas.microsoft.com/office/drawing/2014/main" id="{F7690628-9D74-A197-9A58-8D3FC1C0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26" y="2571750"/>
            <a:ext cx="4031087" cy="2015544"/>
          </a:xfrm>
          <a:prstGeom prst="rect">
            <a:avLst/>
          </a:prstGeom>
        </p:spPr>
      </p:pic>
      <p:pic>
        <p:nvPicPr>
          <p:cNvPr id="7" name="Picture 6" descr="How to Develop a CNN for MNIST Handwritten Digit Classification -  MachineLearningMastery.com">
            <a:extLst>
              <a:ext uri="{FF2B5EF4-FFF2-40B4-BE49-F238E27FC236}">
                <a16:creationId xmlns:a16="http://schemas.microsoft.com/office/drawing/2014/main" id="{35E92D20-DB6A-F904-D494-205D10C0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63080"/>
            <a:ext cx="2698952" cy="202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492375-A8DA-1F59-9D73-7517028C682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Suppose you have a bunch of features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that are used to predict the category of an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is transaction information used to predict if a transaction is a legit or a scam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In this case,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 two possible classes. </a:t>
                </a:r>
              </a:p>
              <a:p>
                <a:endParaRPr lang="en-US" dirty="0"/>
              </a:p>
              <a:p>
                <a:r>
                  <a:rPr lang="en-US" dirty="0"/>
                  <a:t>We can (and should) treat each category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its own individual output. (On-hot encoding fashion)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492375-A8DA-1F59-9D73-7517028C6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4A3B1C-C21B-A141-9594-7F822FE4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Primer: Thinking about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73353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48DD-6A3D-BDBE-3A55-4D81C214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24CD94-7F80-F32A-9309-9C4587F6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 task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62169C-D6D6-E4BB-3AEA-419A427FA2BE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FE1BC5-D7AF-FFA5-FC79-B81375AC5A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D29173B-8C62-AB95-2775-8170E9B8A1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DB87C55-5CCB-2C2D-EABF-D0D812C0747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8F9EC15-BD9C-1409-D86C-834424416A5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EEA17B-0935-EF76-45E2-80631AB8B334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20510E-1126-BB70-16FB-CFF0E3799E3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F60150-3E25-BEB8-FD68-0794F474C18B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9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DEEBF4-02BE-A9BC-23B2-A4B766234163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The key to regression is to develop a hypothesis (or a model) that predicts the probability for each input to fit each output class.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Our model requires us to find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equations (equal to the number of classes for our output).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DEEBF4-02BE-A9BC-23B2-A4B7662341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62" t="-1042" r="-457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CFF2BE1-7148-3377-AE83-D2963F46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27754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C47E-C06F-672C-8791-CCB8EBBF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DC8FE1-24E9-B593-4C9C-CF5C5C95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E62075-1D25-0C8C-40AC-F96E8DF6EC7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89E9A9-A057-F750-5A76-636B0505541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6B55BAA-5BE5-A539-1994-C4A3D84FE5F7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31F3F5-EE3A-B36A-CE02-190B46994E90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D44D09-FD25-ED10-C1AE-7923F1645DF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3B2818-189C-FA3A-6019-C564DE5B0480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8CF957-5AC2-4D4B-916A-8228FA99CCC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0ED8D5-601F-1CE7-14BA-5147CDE7109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77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4D60-B4B6-E06B-FB78-A3329BC4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849FC2-394E-CBB1-3783-65374FE8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98B0A4-BC78-5290-C7D5-ACAD0ACCDB3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2390FB4-FD17-2AE4-9B1B-94FC4BBC6A6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40FBAE-A3B5-53FE-C258-BB89ED34CE4C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D354BF-C3E9-B621-E392-9470F2991CD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FF754F-4A0F-F02E-46DF-D013368FE020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4772BC-72D3-D1D5-B986-D2F32E014F7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6A2CAC-8008-FF47-B742-30A561DA108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25F234-FC9B-DC91-7E64-A21D92E80A9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993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AA57A9-26EF-9FE5-9AB7-F0F2E6146BC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In the literature,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is called a logit</a:t>
                </a:r>
              </a:p>
              <a:p>
                <a:r>
                  <a:rPr lang="en-US" dirty="0"/>
                  <a:t>Our hypothesis for the system now becomes: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AA57A9-26EF-9FE5-9AB7-F0F2E6146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313A07-5B36-3A34-E142-632D3ACF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Concepts</a:t>
            </a:r>
          </a:p>
        </p:txBody>
      </p:sp>
    </p:spTree>
    <p:extLst>
      <p:ext uri="{BB962C8B-B14F-4D97-AF65-F5344CB8AC3E}">
        <p14:creationId xmlns:p14="http://schemas.microsoft.com/office/powerpoint/2010/main" val="230056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01E76C-24F4-0038-759F-6C00BBA6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Logistic Regression (2 classes)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2CA70D2-30DC-1BCC-F23F-C1BCC2405105}"/>
                  </a:ext>
                </a:extLst>
              </p:cNvPr>
              <p:cNvSpPr/>
              <p:nvPr/>
            </p:nvSpPr>
            <p:spPr>
              <a:xfrm>
                <a:off x="199505" y="2252750"/>
                <a:ext cx="1978429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2.4, 3.3, −1, 1, 0, 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2CA70D2-30DC-1BCC-F23F-C1BCC2405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05" y="2252750"/>
                <a:ext cx="1978429" cy="490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178D9D7-256F-CA62-27AA-B488DCE1E0E4}"/>
              </a:ext>
            </a:extLst>
          </p:cNvPr>
          <p:cNvSpPr/>
          <p:nvPr/>
        </p:nvSpPr>
        <p:spPr>
          <a:xfrm>
            <a:off x="127462" y="1856510"/>
            <a:ext cx="1978429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Input features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7640D1-E8B8-B88C-C1FB-D81EFD8B9BAA}"/>
                  </a:ext>
                </a:extLst>
              </p:cNvPr>
              <p:cNvSpPr/>
              <p:nvPr/>
            </p:nvSpPr>
            <p:spPr>
              <a:xfrm>
                <a:off x="3014749" y="1024717"/>
                <a:ext cx="942110" cy="16635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7640D1-E8B8-B88C-C1FB-D81EFD8B9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49" y="1024717"/>
                <a:ext cx="942110" cy="1663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65C5A8-8CFA-D9E9-9554-5D1EA3ECD128}"/>
                  </a:ext>
                </a:extLst>
              </p:cNvPr>
              <p:cNvSpPr/>
              <p:nvPr/>
            </p:nvSpPr>
            <p:spPr>
              <a:xfrm>
                <a:off x="3014749" y="2995700"/>
                <a:ext cx="942110" cy="16635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65C5A8-8CFA-D9E9-9554-5D1EA3ECD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49" y="2995700"/>
                <a:ext cx="942110" cy="1663585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EB984B1-4CAC-8644-D28E-8196A3850DA6}"/>
                  </a:ext>
                </a:extLst>
              </p:cNvPr>
              <p:cNvSpPr/>
              <p:nvPr/>
            </p:nvSpPr>
            <p:spPr>
              <a:xfrm>
                <a:off x="2441171" y="591284"/>
                <a:ext cx="2089265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Class 1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EB984B1-4CAC-8644-D28E-8196A385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71" y="591284"/>
                <a:ext cx="2089265" cy="490451"/>
              </a:xfrm>
              <a:prstGeom prst="rect">
                <a:avLst/>
              </a:prstGeom>
              <a:blipFill>
                <a:blip r:embed="rId5"/>
                <a:stretch>
                  <a:fillRect l="-583" t="-10000" r="-8163" b="-1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6F98EF6-4FC4-111F-3987-3DCF5F03C246}"/>
                  </a:ext>
                </a:extLst>
              </p:cNvPr>
              <p:cNvSpPr/>
              <p:nvPr/>
            </p:nvSpPr>
            <p:spPr>
              <a:xfrm>
                <a:off x="2441170" y="2596776"/>
                <a:ext cx="2089265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Class 2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6F98EF6-4FC4-111F-3987-3DCF5F03C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70" y="2596776"/>
                <a:ext cx="2089265" cy="490451"/>
              </a:xfrm>
              <a:prstGeom prst="rect">
                <a:avLst/>
              </a:prstGeom>
              <a:blipFill>
                <a:blip r:embed="rId6"/>
                <a:stretch>
                  <a:fillRect l="-875" t="-10000" r="-7872" b="-1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4B85DFAF-C585-8663-13F4-4F8DC268D507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177934" y="1856510"/>
            <a:ext cx="836815" cy="641466"/>
          </a:xfrm>
          <a:prstGeom prst="bentConnector3">
            <a:avLst>
              <a:gd name="adj1" fmla="val 26159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6BEDB52-E6DB-13B7-4FCC-D4275080BB5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177934" y="2497976"/>
            <a:ext cx="836815" cy="1329517"/>
          </a:xfrm>
          <a:prstGeom prst="bentConnector3">
            <a:avLst>
              <a:gd name="adj1" fmla="val 26159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9865508-732B-EF11-DCFC-9264805B6057}"/>
              </a:ext>
            </a:extLst>
          </p:cNvPr>
          <p:cNvGrpSpPr/>
          <p:nvPr/>
        </p:nvGrpSpPr>
        <p:grpSpPr>
          <a:xfrm>
            <a:off x="4612175" y="1354975"/>
            <a:ext cx="1083426" cy="3084021"/>
            <a:chOff x="4645427" y="1354975"/>
            <a:chExt cx="1083426" cy="308402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BB3067-0D40-FB84-6A92-23E617064C43}"/>
                </a:ext>
              </a:extLst>
            </p:cNvPr>
            <p:cNvSpPr/>
            <p:nvPr/>
          </p:nvSpPr>
          <p:spPr>
            <a:xfrm>
              <a:off x="4711235" y="1354975"/>
              <a:ext cx="916481" cy="308402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93FF25C-B9B5-F824-D7A6-AAFCD45A8D05}"/>
                    </a:ext>
                  </a:extLst>
                </p:cNvPr>
                <p:cNvSpPr/>
                <p:nvPr/>
              </p:nvSpPr>
              <p:spPr>
                <a:xfrm>
                  <a:off x="4645428" y="1515167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93FF25C-B9B5-F824-D7A6-AAFCD45A8D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428" y="1515167"/>
                  <a:ext cx="1083425" cy="490451"/>
                </a:xfrm>
                <a:prstGeom prst="rect">
                  <a:avLst/>
                </a:prstGeom>
                <a:blipFill>
                  <a:blip r:embed="rId7"/>
                  <a:stretch>
                    <a:fillRect l="-565"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92C59B9-B30F-70FA-BE9E-7E653A0DB836}"/>
                    </a:ext>
                  </a:extLst>
                </p:cNvPr>
                <p:cNvSpPr/>
                <p:nvPr/>
              </p:nvSpPr>
              <p:spPr>
                <a:xfrm>
                  <a:off x="4874029" y="1856509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2.1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92C59B9-B30F-70FA-BE9E-7E653A0DB8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029" y="1856509"/>
                  <a:ext cx="626225" cy="4904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55991CE-29E0-C0D3-237D-09AFC8F139C6}"/>
                    </a:ext>
                  </a:extLst>
                </p:cNvPr>
                <p:cNvSpPr/>
                <p:nvPr/>
              </p:nvSpPr>
              <p:spPr>
                <a:xfrm>
                  <a:off x="4874029" y="3628333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6.6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55991CE-29E0-C0D3-237D-09AFC8F139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029" y="3628333"/>
                  <a:ext cx="626225" cy="49045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76CFE1-D910-2108-5237-6C5FEE4BE439}"/>
                    </a:ext>
                  </a:extLst>
                </p:cNvPr>
                <p:cNvSpPr/>
                <p:nvPr/>
              </p:nvSpPr>
              <p:spPr>
                <a:xfrm>
                  <a:off x="4645427" y="3286991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76CFE1-D910-2108-5237-6C5FEE4BE4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427" y="3286991"/>
                  <a:ext cx="1083425" cy="490451"/>
                </a:xfrm>
                <a:prstGeom prst="rect">
                  <a:avLst/>
                </a:prstGeom>
                <a:blipFill>
                  <a:blip r:embed="rId10"/>
                  <a:stretch>
                    <a:fillRect l="-565" b="-61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713E3C-3E4D-4964-CA03-B0B033690FD5}"/>
              </a:ext>
            </a:extLst>
          </p:cNvPr>
          <p:cNvGrpSpPr/>
          <p:nvPr/>
        </p:nvGrpSpPr>
        <p:grpSpPr>
          <a:xfrm>
            <a:off x="5857694" y="1354975"/>
            <a:ext cx="916481" cy="3084021"/>
            <a:chOff x="5857694" y="1354975"/>
            <a:chExt cx="916481" cy="308402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95CB33E-2D17-BA53-F125-5C2E831CFF55}"/>
                </a:ext>
              </a:extLst>
            </p:cNvPr>
            <p:cNvSpPr/>
            <p:nvPr/>
          </p:nvSpPr>
          <p:spPr>
            <a:xfrm>
              <a:off x="5857694" y="1354975"/>
              <a:ext cx="916481" cy="3084021"/>
            </a:xfrm>
            <a:prstGeom prst="rect">
              <a:avLst/>
            </a:prstGeom>
            <a:solidFill>
              <a:srgbClr val="8B92D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90F7D9D-691B-1870-2C3A-680F8076CA03}"/>
                    </a:ext>
                  </a:extLst>
                </p:cNvPr>
                <p:cNvSpPr/>
                <p:nvPr/>
              </p:nvSpPr>
              <p:spPr>
                <a:xfrm>
                  <a:off x="6022591" y="1515166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90F7D9D-691B-1870-2C3A-680F8076C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91" y="1515166"/>
                  <a:ext cx="623432" cy="4904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48D467D-A1D7-899E-DD06-6A20C4B8F562}"/>
                    </a:ext>
                  </a:extLst>
                </p:cNvPr>
                <p:cNvSpPr/>
                <p:nvPr/>
              </p:nvSpPr>
              <p:spPr>
                <a:xfrm>
                  <a:off x="6019798" y="185650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8.17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48D467D-A1D7-899E-DD06-6A20C4B8F5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798" y="1856508"/>
                  <a:ext cx="626225" cy="49045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A336A9-7189-958B-5455-2FD236C765F3}"/>
                </a:ext>
              </a:extLst>
            </p:cNvPr>
            <p:cNvSpPr/>
            <p:nvPr/>
          </p:nvSpPr>
          <p:spPr>
            <a:xfrm>
              <a:off x="5909652" y="3628333"/>
              <a:ext cx="846515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735.10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EBED69-9798-06F3-D8EB-B046B876DA8D}"/>
                    </a:ext>
                  </a:extLst>
                </p:cNvPr>
                <p:cNvSpPr/>
                <p:nvPr/>
              </p:nvSpPr>
              <p:spPr>
                <a:xfrm>
                  <a:off x="6022590" y="3286990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EBED69-9798-06F3-D8EB-B046B876DA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90" y="3286990"/>
                  <a:ext cx="623432" cy="49045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BEA22E-50A3-27A6-FCCC-DA032AC30AF7}"/>
              </a:ext>
            </a:extLst>
          </p:cNvPr>
          <p:cNvCxnSpPr>
            <a:cxnSpLocks/>
          </p:cNvCxnSpPr>
          <p:nvPr/>
        </p:nvCxnSpPr>
        <p:spPr>
          <a:xfrm>
            <a:off x="5336771" y="2086495"/>
            <a:ext cx="683027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2E54BE-507C-21F8-9A27-B88D0551F6EF}"/>
              </a:ext>
            </a:extLst>
          </p:cNvPr>
          <p:cNvCxnSpPr>
            <a:cxnSpLocks/>
          </p:cNvCxnSpPr>
          <p:nvPr/>
        </p:nvCxnSpPr>
        <p:spPr>
          <a:xfrm>
            <a:off x="5336771" y="3909754"/>
            <a:ext cx="644629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9D0A7DC-F935-969B-919C-89BF11EB14D0}"/>
              </a:ext>
            </a:extLst>
          </p:cNvPr>
          <p:cNvSpPr/>
          <p:nvPr/>
        </p:nvSpPr>
        <p:spPr>
          <a:xfrm>
            <a:off x="6445133" y="811570"/>
            <a:ext cx="1083425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Apply </a:t>
            </a:r>
            <a:r>
              <a:rPr lang="en-US" dirty="0" err="1">
                <a:solidFill>
                  <a:sysClr val="windowText" lastClr="000000"/>
                </a:solidFill>
              </a:rPr>
              <a:t>softmax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8" name="Picture 57" descr="ArtStation - Synth Knob Design / Re-Creation">
            <a:extLst>
              <a:ext uri="{FF2B5EF4-FFF2-40B4-BE49-F238E27FC236}">
                <a16:creationId xmlns:a16="http://schemas.microsoft.com/office/drawing/2014/main" id="{9DC8EEAB-62B7-5D5D-5A87-C634C0EB45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0913" y="1034911"/>
            <a:ext cx="754944" cy="754944"/>
          </a:xfrm>
          <a:prstGeom prst="rect">
            <a:avLst/>
          </a:prstGeom>
        </p:spPr>
      </p:pic>
      <p:pic>
        <p:nvPicPr>
          <p:cNvPr id="59" name="Picture 58" descr="ArtStation - Synth Knob Design / Re-Creation">
            <a:extLst>
              <a:ext uri="{FF2B5EF4-FFF2-40B4-BE49-F238E27FC236}">
                <a16:creationId xmlns:a16="http://schemas.microsoft.com/office/drawing/2014/main" id="{FB6724B2-DB0C-859D-C099-BC80D73132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0913" y="3881651"/>
            <a:ext cx="754944" cy="754944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400D3E34-B722-9DEC-32A6-B014D6E6A570}"/>
              </a:ext>
            </a:extLst>
          </p:cNvPr>
          <p:cNvGrpSpPr/>
          <p:nvPr/>
        </p:nvGrpSpPr>
        <p:grpSpPr>
          <a:xfrm>
            <a:off x="3592643" y="1605959"/>
            <a:ext cx="1248134" cy="490451"/>
            <a:chOff x="3592643" y="1605959"/>
            <a:chExt cx="1248134" cy="49045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F566B1B-397C-CE13-1022-9CDB1052C900}"/>
                </a:ext>
              </a:extLst>
            </p:cNvPr>
            <p:cNvCxnSpPr/>
            <p:nvPr/>
          </p:nvCxnSpPr>
          <p:spPr>
            <a:xfrm>
              <a:off x="3848793" y="2086495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2DC109-5404-23F4-3CCD-2C58FEE8FD9C}"/>
                </a:ext>
              </a:extLst>
            </p:cNvPr>
            <p:cNvSpPr/>
            <p:nvPr/>
          </p:nvSpPr>
          <p:spPr>
            <a:xfrm>
              <a:off x="3592643" y="1605959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Vector multiplication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8C808A-DCDB-E0C6-9C7C-EF5DC027C661}"/>
              </a:ext>
            </a:extLst>
          </p:cNvPr>
          <p:cNvGrpSpPr/>
          <p:nvPr/>
        </p:nvGrpSpPr>
        <p:grpSpPr>
          <a:xfrm>
            <a:off x="3587407" y="3442333"/>
            <a:ext cx="1253370" cy="490451"/>
            <a:chOff x="3587407" y="3442333"/>
            <a:chExt cx="1253370" cy="490451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91FC3A7-4066-1CE1-35E7-217DC1590DAD}"/>
                </a:ext>
              </a:extLst>
            </p:cNvPr>
            <p:cNvCxnSpPr/>
            <p:nvPr/>
          </p:nvCxnSpPr>
          <p:spPr>
            <a:xfrm>
              <a:off x="3848793" y="3909754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F25D02-032C-E3DE-45FF-9B3C8C32382C}"/>
                </a:ext>
              </a:extLst>
            </p:cNvPr>
            <p:cNvSpPr/>
            <p:nvPr/>
          </p:nvSpPr>
          <p:spPr>
            <a:xfrm>
              <a:off x="3587407" y="3442333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Vector multiplication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624D48A-5120-7F39-78A1-38DACA5CD70B}"/>
              </a:ext>
            </a:extLst>
          </p:cNvPr>
          <p:cNvGrpSpPr/>
          <p:nvPr/>
        </p:nvGrpSpPr>
        <p:grpSpPr>
          <a:xfrm>
            <a:off x="6986846" y="1354974"/>
            <a:ext cx="2387118" cy="3113113"/>
            <a:chOff x="6986846" y="1354974"/>
            <a:chExt cx="2387118" cy="311311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BABAA93-D1FC-23A8-D623-0BC2CF10317F}"/>
                </a:ext>
              </a:extLst>
            </p:cNvPr>
            <p:cNvGrpSpPr/>
            <p:nvPr/>
          </p:nvGrpSpPr>
          <p:grpSpPr>
            <a:xfrm>
              <a:off x="6986846" y="1354974"/>
              <a:ext cx="2387118" cy="3084021"/>
              <a:chOff x="6936968" y="1354974"/>
              <a:chExt cx="2387118" cy="3084021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87EBAF5-36E5-8935-31DA-846C56B93004}"/>
                  </a:ext>
                </a:extLst>
              </p:cNvPr>
              <p:cNvSpPr/>
              <p:nvPr/>
            </p:nvSpPr>
            <p:spPr>
              <a:xfrm>
                <a:off x="7111233" y="1354974"/>
                <a:ext cx="1966265" cy="3084021"/>
              </a:xfrm>
              <a:prstGeom prst="rect">
                <a:avLst/>
              </a:prstGeom>
              <a:solidFill>
                <a:srgbClr val="FFA284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A3E6675-474D-F31E-BB18-85379AE51E98}"/>
                      </a:ext>
                    </a:extLst>
                  </p:cNvPr>
                  <p:cNvSpPr/>
                  <p:nvPr/>
                </p:nvSpPr>
                <p:spPr>
                  <a:xfrm>
                    <a:off x="6936968" y="1515165"/>
                    <a:ext cx="2387118" cy="4904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A3E6675-474D-F31E-BB18-85379AE51E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6968" y="1515165"/>
                    <a:ext cx="2387118" cy="49045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8FCAC1E-E5B0-1EE5-EDF9-E58A87E0DEF0}"/>
                      </a:ext>
                    </a:extLst>
                  </p:cNvPr>
                  <p:cNvSpPr/>
                  <p:nvPr/>
                </p:nvSpPr>
                <p:spPr>
                  <a:xfrm>
                    <a:off x="6936968" y="3286990"/>
                    <a:ext cx="2387118" cy="4904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8FCAC1E-E5B0-1EE5-EDF9-E58A87E0DE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6968" y="3286990"/>
                    <a:ext cx="2387118" cy="49045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833829B-90FC-25C8-672D-35FA42BE7D1D}"/>
                      </a:ext>
                    </a:extLst>
                  </p:cNvPr>
                  <p:cNvSpPr/>
                  <p:nvPr/>
                </p:nvSpPr>
                <p:spPr>
                  <a:xfrm>
                    <a:off x="7536567" y="2005616"/>
                    <a:ext cx="1179364" cy="8397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0.011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r>
                      <a:rPr lang="en-US" dirty="0">
                        <a:solidFill>
                          <a:sysClr val="windowText" lastClr="000000"/>
                        </a:solidFill>
                      </a:rPr>
                      <a:t>Or</a:t>
                    </a:r>
                  </a:p>
                  <a:p>
                    <a:pPr algn="ctr"/>
                    <a:r>
                      <a:rPr lang="en-US" dirty="0">
                        <a:solidFill>
                          <a:sysClr val="windowText" lastClr="000000"/>
                        </a:solidFill>
                      </a:rPr>
                      <a:t>1.1%</a:t>
                    </a:r>
                  </a:p>
                </p:txBody>
              </p:sp>
            </mc:Choice>
            <mc:Fallback xmlns="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833829B-90FC-25C8-672D-35FA42BE7D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6567" y="2005616"/>
                    <a:ext cx="1179364" cy="83975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594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88D9364B-8EB5-35D8-5ABD-7CFD0E08CB2A}"/>
                    </a:ext>
                  </a:extLst>
                </p:cNvPr>
                <p:cNvSpPr/>
                <p:nvPr/>
              </p:nvSpPr>
              <p:spPr>
                <a:xfrm>
                  <a:off x="7606017" y="3628333"/>
                  <a:ext cx="1179364" cy="8397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0.989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Or</a:t>
                  </a:r>
                </a:p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98.9%</a:t>
                  </a: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88D9364B-8EB5-35D8-5ABD-7CFD0E08C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17" y="3628333"/>
                  <a:ext cx="1179364" cy="839754"/>
                </a:xfrm>
                <a:prstGeom prst="rect">
                  <a:avLst/>
                </a:prstGeom>
                <a:blipFill>
                  <a:blip r:embed="rId18"/>
                  <a:stretch>
                    <a:fillRect b="-159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3E8DF5-1746-A3DB-698A-75159318CFEA}"/>
              </a:ext>
            </a:extLst>
          </p:cNvPr>
          <p:cNvCxnSpPr>
            <a:cxnSpLocks/>
          </p:cNvCxnSpPr>
          <p:nvPr/>
        </p:nvCxnSpPr>
        <p:spPr>
          <a:xfrm>
            <a:off x="6586451" y="2105892"/>
            <a:ext cx="1032901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7BE87F-CAAA-1579-3161-2C134AF9D7AB}"/>
              </a:ext>
            </a:extLst>
          </p:cNvPr>
          <p:cNvCxnSpPr>
            <a:cxnSpLocks/>
          </p:cNvCxnSpPr>
          <p:nvPr/>
        </p:nvCxnSpPr>
        <p:spPr>
          <a:xfrm>
            <a:off x="6684515" y="3909754"/>
            <a:ext cx="863441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77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28CBF-008A-89B4-AFB2-E3437D5A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Visualizing Logistic Regression (vector approach)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7F9111F-C260-D734-365F-1284DF551D86}"/>
              </a:ext>
            </a:extLst>
          </p:cNvPr>
          <p:cNvGrpSpPr/>
          <p:nvPr/>
        </p:nvGrpSpPr>
        <p:grpSpPr>
          <a:xfrm>
            <a:off x="-102502" y="1856510"/>
            <a:ext cx="2050472" cy="886691"/>
            <a:chOff x="-102502" y="1856510"/>
            <a:chExt cx="2050472" cy="886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1A6C131-0F3D-0C60-70AC-A9F1B486051C}"/>
                    </a:ext>
                  </a:extLst>
                </p:cNvPr>
                <p:cNvSpPr/>
                <p:nvPr/>
              </p:nvSpPr>
              <p:spPr>
                <a:xfrm>
                  <a:off x="-30459" y="2252750"/>
                  <a:ext cx="1978429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2.4, 3.3, −1, 1, 0, 0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1A6C131-0F3D-0C60-70AC-A9F1B4860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0459" y="2252750"/>
                  <a:ext cx="1978429" cy="49045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5D04C5-DAC7-C928-9C55-A5FFF6A3F12C}"/>
                </a:ext>
              </a:extLst>
            </p:cNvPr>
            <p:cNvSpPr/>
            <p:nvPr/>
          </p:nvSpPr>
          <p:spPr>
            <a:xfrm>
              <a:off x="-102502" y="1856510"/>
              <a:ext cx="1978429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Input features x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6CD7528-7178-38A8-0099-9001BCA6DD10}"/>
              </a:ext>
            </a:extLst>
          </p:cNvPr>
          <p:cNvGrpSpPr/>
          <p:nvPr/>
        </p:nvGrpSpPr>
        <p:grpSpPr>
          <a:xfrm>
            <a:off x="4267844" y="2067208"/>
            <a:ext cx="1083425" cy="831793"/>
            <a:chOff x="3853696" y="1515166"/>
            <a:chExt cx="1083425" cy="83179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CB8BCC1-92AF-17A1-9AEB-D7ADF50F83A6}"/>
                </a:ext>
              </a:extLst>
            </p:cNvPr>
            <p:cNvSpPr/>
            <p:nvPr/>
          </p:nvSpPr>
          <p:spPr>
            <a:xfrm>
              <a:off x="3919503" y="1579417"/>
              <a:ext cx="916481" cy="76754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B1C571-F82B-DA6E-4A3F-96003B5BAA74}"/>
                    </a:ext>
                  </a:extLst>
                </p:cNvPr>
                <p:cNvSpPr/>
                <p:nvPr/>
              </p:nvSpPr>
              <p:spPr>
                <a:xfrm>
                  <a:off x="3853696" y="1515166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B1C571-F82B-DA6E-4A3F-96003B5BA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696" y="1515166"/>
                  <a:ext cx="1083425" cy="490451"/>
                </a:xfrm>
                <a:prstGeom prst="rect">
                  <a:avLst/>
                </a:prstGeom>
                <a:blipFill>
                  <a:blip r:embed="rId3"/>
                  <a:stretch>
                    <a:fillRect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DD26A63-0FD0-EA01-2C6F-134BBE052FA2}"/>
                    </a:ext>
                  </a:extLst>
                </p:cNvPr>
                <p:cNvSpPr/>
                <p:nvPr/>
              </p:nvSpPr>
              <p:spPr>
                <a:xfrm>
                  <a:off x="4082297" y="185650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[2.1, 6.6]</m:t>
                        </m:r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DD26A63-0FD0-EA01-2C6F-134BBE052F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297" y="1856508"/>
                  <a:ext cx="626225" cy="490451"/>
                </a:xfrm>
                <a:prstGeom prst="rect">
                  <a:avLst/>
                </a:prstGeom>
                <a:blipFill>
                  <a:blip r:embed="rId4"/>
                  <a:stretch>
                    <a:fillRect l="-40000" r="-3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67778FB-9624-3F76-BF1A-A962752D2171}"/>
              </a:ext>
            </a:extLst>
          </p:cNvPr>
          <p:cNvGrpSpPr/>
          <p:nvPr/>
        </p:nvGrpSpPr>
        <p:grpSpPr>
          <a:xfrm>
            <a:off x="5686107" y="2059048"/>
            <a:ext cx="1459669" cy="831793"/>
            <a:chOff x="4788892" y="1675356"/>
            <a:chExt cx="1459669" cy="83179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D43B16E-FC1A-C51E-9545-2AEAD089FC83}"/>
                </a:ext>
              </a:extLst>
            </p:cNvPr>
            <p:cNvSpPr/>
            <p:nvPr/>
          </p:nvSpPr>
          <p:spPr>
            <a:xfrm>
              <a:off x="4788892" y="1737366"/>
              <a:ext cx="1459669" cy="767542"/>
            </a:xfrm>
            <a:prstGeom prst="rect">
              <a:avLst/>
            </a:prstGeom>
            <a:solidFill>
              <a:srgbClr val="8B92D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D8EB83B-F498-BA3D-9830-12F7168E2783}"/>
                    </a:ext>
                  </a:extLst>
                </p:cNvPr>
                <p:cNvSpPr/>
                <p:nvPr/>
              </p:nvSpPr>
              <p:spPr>
                <a:xfrm>
                  <a:off x="5237017" y="1675356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acc>
                              <m:accPr>
                                <m:chr m:val="⃗"/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sup>
                        </m:sSup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D8EB83B-F498-BA3D-9830-12F7168E27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017" y="1675356"/>
                  <a:ext cx="623432" cy="49045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6CD2DB2-8A20-628E-0D43-E30302F45A89}"/>
                    </a:ext>
                  </a:extLst>
                </p:cNvPr>
                <p:cNvSpPr/>
                <p:nvPr/>
              </p:nvSpPr>
              <p:spPr>
                <a:xfrm>
                  <a:off x="5234224" y="201669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[8.17, 735.10]</m:t>
                        </m:r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6CD2DB2-8A20-628E-0D43-E30302F45A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224" y="2016698"/>
                  <a:ext cx="626225" cy="490451"/>
                </a:xfrm>
                <a:prstGeom prst="rect">
                  <a:avLst/>
                </a:prstGeom>
                <a:blipFill>
                  <a:blip r:embed="rId6"/>
                  <a:stretch>
                    <a:fillRect l="-76471" r="-686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09E6190-E8CA-86AA-4733-4DDC16043A23}"/>
              </a:ext>
            </a:extLst>
          </p:cNvPr>
          <p:cNvGrpSpPr/>
          <p:nvPr/>
        </p:nvGrpSpPr>
        <p:grpSpPr>
          <a:xfrm>
            <a:off x="7525656" y="2093896"/>
            <a:ext cx="1572850" cy="827024"/>
            <a:chOff x="7127853" y="1573705"/>
            <a:chExt cx="1572850" cy="82702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6B36C89-C661-9487-1097-CF996A185F08}"/>
                </a:ext>
              </a:extLst>
            </p:cNvPr>
            <p:cNvSpPr/>
            <p:nvPr/>
          </p:nvSpPr>
          <p:spPr>
            <a:xfrm>
              <a:off x="7127853" y="1590557"/>
              <a:ext cx="1572850" cy="790494"/>
            </a:xfrm>
            <a:prstGeom prst="rect">
              <a:avLst/>
            </a:prstGeom>
            <a:solidFill>
              <a:srgbClr val="FFA284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232D839-A210-2ECE-775D-AC34828EFEA7}"/>
                    </a:ext>
                  </a:extLst>
                </p:cNvPr>
                <p:cNvSpPr/>
                <p:nvPr/>
              </p:nvSpPr>
              <p:spPr>
                <a:xfrm>
                  <a:off x="7522897" y="1573705"/>
                  <a:ext cx="78276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  <m:d>
                          <m:d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232D839-A210-2ECE-775D-AC34828EFE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897" y="1573705"/>
                  <a:ext cx="782762" cy="49045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6E0478F-2CD2-7648-0584-F59E5E5B2404}"/>
                    </a:ext>
                  </a:extLst>
                </p:cNvPr>
                <p:cNvSpPr/>
                <p:nvPr/>
              </p:nvSpPr>
              <p:spPr>
                <a:xfrm>
                  <a:off x="7601166" y="191027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0.011, 0.989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6E0478F-2CD2-7648-0584-F59E5E5B24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166" y="1910278"/>
                  <a:ext cx="626225" cy="490451"/>
                </a:xfrm>
                <a:prstGeom prst="rect">
                  <a:avLst/>
                </a:prstGeom>
                <a:blipFill>
                  <a:blip r:embed="rId8"/>
                  <a:stretch>
                    <a:fillRect l="-58824" r="-5098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4A50E0-1E89-7682-5B36-2684605322EF}"/>
              </a:ext>
            </a:extLst>
          </p:cNvPr>
          <p:cNvCxnSpPr>
            <a:cxnSpLocks/>
            <a:stCxn id="52" idx="3"/>
            <a:endCxn id="58" idx="1"/>
          </p:cNvCxnSpPr>
          <p:nvPr/>
        </p:nvCxnSpPr>
        <p:spPr>
          <a:xfrm flipV="1">
            <a:off x="5250132" y="2504829"/>
            <a:ext cx="435975" cy="1040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B2E64F-320E-09D4-1B8A-5214B04DF960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>
            <a:off x="7145776" y="2504829"/>
            <a:ext cx="379880" cy="116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81EFC95-1D26-FC97-A5AB-3A2022D6E41A}"/>
              </a:ext>
            </a:extLst>
          </p:cNvPr>
          <p:cNvSpPr/>
          <p:nvPr/>
        </p:nvSpPr>
        <p:spPr>
          <a:xfrm>
            <a:off x="6757664" y="1438721"/>
            <a:ext cx="1083425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Apply </a:t>
            </a:r>
            <a:r>
              <a:rPr lang="en-US" err="1">
                <a:solidFill>
                  <a:sysClr val="windowText" lastClr="000000"/>
                </a:solidFill>
              </a:rPr>
              <a:t>softmax</a:t>
            </a:r>
            <a:endParaRPr lang="en-US">
              <a:solidFill>
                <a:sysClr val="windowText" lastClr="000000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21DDA9B-1E22-7F55-9D42-A9523DAA4B34}"/>
              </a:ext>
            </a:extLst>
          </p:cNvPr>
          <p:cNvGrpSpPr/>
          <p:nvPr/>
        </p:nvGrpSpPr>
        <p:grpSpPr>
          <a:xfrm>
            <a:off x="3147573" y="2007524"/>
            <a:ext cx="1224427" cy="490451"/>
            <a:chOff x="3669758" y="3442333"/>
            <a:chExt cx="1224427" cy="490451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6975E0F-A0CA-6BDD-5A45-567CB7FBCD1D}"/>
                </a:ext>
              </a:extLst>
            </p:cNvPr>
            <p:cNvCxnSpPr/>
            <p:nvPr/>
          </p:nvCxnSpPr>
          <p:spPr>
            <a:xfrm>
              <a:off x="3848793" y="3909754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904007-F6D8-4B6F-A441-BAADED482325}"/>
                </a:ext>
              </a:extLst>
            </p:cNvPr>
            <p:cNvSpPr/>
            <p:nvPr/>
          </p:nvSpPr>
          <p:spPr>
            <a:xfrm>
              <a:off x="3669758" y="3442333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ysClr val="windowText" lastClr="000000"/>
                  </a:solidFill>
                </a:rPr>
                <a:t>Matrix multiplication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F0267BD-1C0A-FC2A-1219-12B4D6089A02}"/>
              </a:ext>
            </a:extLst>
          </p:cNvPr>
          <p:cNvGrpSpPr/>
          <p:nvPr/>
        </p:nvGrpSpPr>
        <p:grpSpPr>
          <a:xfrm>
            <a:off x="1705289" y="1644388"/>
            <a:ext cx="2089265" cy="2722157"/>
            <a:chOff x="1705289" y="1644388"/>
            <a:chExt cx="2089265" cy="27221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38D75A6-0B78-3CAC-79F5-B42F16F65697}"/>
                    </a:ext>
                  </a:extLst>
                </p:cNvPr>
                <p:cNvSpPr/>
                <p:nvPr/>
              </p:nvSpPr>
              <p:spPr>
                <a:xfrm>
                  <a:off x="1705289" y="3182429"/>
                  <a:ext cx="208926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Weight matrix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38D75A6-0B78-3CAC-79F5-B42F16F656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5289" y="3182429"/>
                  <a:ext cx="2089265" cy="490451"/>
                </a:xfrm>
                <a:prstGeom prst="rect">
                  <a:avLst/>
                </a:prstGeom>
                <a:blipFill>
                  <a:blip r:embed="rId9"/>
                  <a:stretch>
                    <a:fillRect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4" name="Picture 73" descr="ArtStation - Synth Knob Design / Re-Creation">
              <a:extLst>
                <a:ext uri="{FF2B5EF4-FFF2-40B4-BE49-F238E27FC236}">
                  <a16:creationId xmlns:a16="http://schemas.microsoft.com/office/drawing/2014/main" id="{D4105539-077E-D4BC-2057-862A7EBA6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55883" y="3611601"/>
              <a:ext cx="754944" cy="7549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AAEEDF6-BE8A-CE33-1134-6588D707C201}"/>
                    </a:ext>
                  </a:extLst>
                </p:cNvPr>
                <p:cNvSpPr txBox="1"/>
                <p:nvPr/>
              </p:nvSpPr>
              <p:spPr bwMode="auto">
                <a:xfrm>
                  <a:off x="1946930" y="1644388"/>
                  <a:ext cx="1572850" cy="16368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FAA26D3D-D897-4be2-8F04-BA451C77F1D7}">
                    <ma14:placeholderFlag xmlns:ma14="http://schemas.microsoft.com/office/mac/drawingml/2011/main" xmlns="" val="1"/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AAEEDF6-BE8A-CE33-1134-6588D707C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6930" y="1644388"/>
                  <a:ext cx="1572850" cy="1636858"/>
                </a:xfrm>
                <a:prstGeom prst="rect">
                  <a:avLst/>
                </a:prstGeom>
                <a:blipFill>
                  <a:blip r:embed="rId11"/>
                  <a:stretch>
                    <a:fillRect b="-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FAA26D3D-D897-4be2-8F04-BA451C77F1D7}">
                    <ma14:placeholderFlag xmlns:a14="http://schemas.microsoft.com/office/drawing/2010/main" xmlns:ma14="http://schemas.microsoft.com/office/mac/drawingml/2011/main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D7A6F58-291D-AF82-E804-FEE56D0C520E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 flipV="1">
              <a:off x="1947970" y="2471672"/>
              <a:ext cx="234743" cy="2630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081EA4B-C59C-0E6A-BBC2-11B700FB520E}"/>
                  </a:ext>
                </a:extLst>
              </p:cNvPr>
              <p:cNvSpPr/>
              <p:nvPr/>
            </p:nvSpPr>
            <p:spPr>
              <a:xfrm>
                <a:off x="8191902" y="1662885"/>
                <a:ext cx="37194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081EA4B-C59C-0E6A-BBC2-11B700FB52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02" y="1662885"/>
                <a:ext cx="371947" cy="4904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C2A8197-DE34-127B-761D-11D4C0A437FA}"/>
                  </a:ext>
                </a:extLst>
              </p:cNvPr>
              <p:cNvSpPr/>
              <p:nvPr/>
            </p:nvSpPr>
            <p:spPr>
              <a:xfrm>
                <a:off x="6131439" y="3366375"/>
                <a:ext cx="120427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C2A8197-DE34-127B-761D-11D4C0A437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39" y="3366375"/>
                <a:ext cx="1204277" cy="4904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91C0F80-C46E-6524-A635-34FDC1A44FF5}"/>
                  </a:ext>
                </a:extLst>
              </p:cNvPr>
              <p:cNvSpPr/>
              <p:nvPr/>
            </p:nvSpPr>
            <p:spPr>
              <a:xfrm>
                <a:off x="6131439" y="3772037"/>
                <a:ext cx="120427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91C0F80-C46E-6524-A635-34FDC1A44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39" y="3772037"/>
                <a:ext cx="1204277" cy="4904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DE741233-CC28-73D1-FF7D-310B8C001A46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7335716" y="2789453"/>
            <a:ext cx="663253" cy="822148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8DB8AEC3-F8D9-7D25-D8F8-00957A4BA7EA}"/>
              </a:ext>
            </a:extLst>
          </p:cNvPr>
          <p:cNvCxnSpPr>
            <a:cxnSpLocks/>
            <a:stCxn id="151" idx="3"/>
          </p:cNvCxnSpPr>
          <p:nvPr/>
        </p:nvCxnSpPr>
        <p:spPr>
          <a:xfrm flipV="1">
            <a:off x="7335716" y="2789453"/>
            <a:ext cx="1367746" cy="1227810"/>
          </a:xfrm>
          <a:prstGeom prst="bentConnector3">
            <a:avLst>
              <a:gd name="adj1" fmla="val 99837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812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49" grpId="0"/>
      <p:bldP spid="150" grpId="0"/>
      <p:bldP spid="1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00FCA2-7613-F325-35B1-35CC0CCEFD2A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Research shows that MSE is not a good loss function for classification problems.</a:t>
            </a:r>
          </a:p>
          <a:p>
            <a:endParaRPr lang="en-US" dirty="0"/>
          </a:p>
          <a:p>
            <a:r>
              <a:rPr lang="en-US" dirty="0"/>
              <a:t>For classification problems, a measure of certainty of your output random variable. This certainty (or lack thereof) is called </a:t>
            </a:r>
            <a:r>
              <a:rPr lang="en-US" i="1" dirty="0"/>
              <a:t>entropy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higher the entropy of a random variable, the less information, and more random it conveys.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9A8876-B86A-6093-DA76-D6D1312A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Loss Function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C11310-443E-C8F1-C6D5-073BAF56893B}"/>
              </a:ext>
            </a:extLst>
          </p:cNvPr>
          <p:cNvCxnSpPr/>
          <p:nvPr/>
        </p:nvCxnSpPr>
        <p:spPr>
          <a:xfrm>
            <a:off x="473527" y="4003427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7C209C-1ED1-E51C-6A1C-4E1404E952F0}"/>
              </a:ext>
            </a:extLst>
          </p:cNvPr>
          <p:cNvCxnSpPr/>
          <p:nvPr/>
        </p:nvCxnSpPr>
        <p:spPr>
          <a:xfrm>
            <a:off x="473527" y="4542791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78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2A70A4-4429-BE9E-CCB8-4CC76E00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Cross Entropy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CF2DA7-636E-A40E-E6FF-D78E065D220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15D1E4-8898-2FB3-D2D7-20CF9598B319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744AE2-9655-2E0A-51AF-30C437EAA9F8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1AE866B-35A6-E2F9-BB11-AAC4CA282172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EF5E01E-7CAD-7FC1-52D0-6BCA4F10FAF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3A15D4-4E90-F12C-4757-D3FAF0C6838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F931066-08B2-755B-C493-5497B758531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C8F7B65-E81F-1933-51AE-8F639DFA864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070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Materials from this slides (slide 3 – 16)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3.2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14724</TotalTime>
  <Words>575</Words>
  <Application>Microsoft Macintosh PowerPoint</Application>
  <PresentationFormat>On-screen Show (16:9)</PresentationFormat>
  <Paragraphs>104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Palatino Linotype</vt:lpstr>
      <vt:lpstr>CP_ppt_standard_v1</vt:lpstr>
      <vt:lpstr>Classification and Logistic Regression</vt:lpstr>
      <vt:lpstr>Overview</vt:lpstr>
      <vt:lpstr>Categorical Variables and How to Use Them</vt:lpstr>
      <vt:lpstr>Categorical Variables</vt:lpstr>
      <vt:lpstr>Reminder</vt:lpstr>
      <vt:lpstr>Motivation</vt:lpstr>
      <vt:lpstr>Primer: Thinking about classification</vt:lpstr>
      <vt:lpstr>Multiclass classification task</vt:lpstr>
      <vt:lpstr>Logistic Regression</vt:lpstr>
      <vt:lpstr>Logistic Regression</vt:lpstr>
      <vt:lpstr>Logistic Regression</vt:lpstr>
      <vt:lpstr>Logistic Regression Concepts</vt:lpstr>
      <vt:lpstr>Visualizing Logistic Regression (2 classes)</vt:lpstr>
      <vt:lpstr>Visualizing Logistic Regression (vector approach)</vt:lpstr>
      <vt:lpstr>Logistic Regression Loss Function</vt:lpstr>
      <vt:lpstr>Categorical Cross Entropy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229</cp:revision>
  <dcterms:modified xsi:type="dcterms:W3CDTF">2026-09-18T00:44:07Z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