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org&amp;utm_campaign=index&amp;utm_content=original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27"/>
  </p:notesMasterIdLst>
  <p:sldIdLst>
    <p:sldId id="315" r:id="rId2"/>
    <p:sldId id="343" r:id="rId3"/>
    <p:sldId id="365" r:id="rId4"/>
    <p:sldId id="396" r:id="rId5"/>
    <p:sldId id="398" r:id="rId6"/>
    <p:sldId id="399" r:id="rId7"/>
    <p:sldId id="400" r:id="rId8"/>
    <p:sldId id="401" r:id="rId9"/>
    <p:sldId id="402" r:id="rId10"/>
    <p:sldId id="397" r:id="rId11"/>
    <p:sldId id="403" r:id="rId12"/>
    <p:sldId id="404" r:id="rId13"/>
    <p:sldId id="407" r:id="rId14"/>
    <p:sldId id="410" r:id="rId15"/>
    <p:sldId id="405" r:id="rId16"/>
    <p:sldId id="406" r:id="rId17"/>
    <p:sldId id="408" r:id="rId18"/>
    <p:sldId id="409" r:id="rId19"/>
    <p:sldId id="411" r:id="rId20"/>
    <p:sldId id="412" r:id="rId21"/>
    <p:sldId id="413" r:id="rId22"/>
    <p:sldId id="414" r:id="rId23"/>
    <p:sldId id="415" r:id="rId24"/>
    <p:sldId id="362" r:id="rId25"/>
    <p:sldId id="373" r:id="rId26"/>
  </p:sldIdLst>
  <p:sldSz cx="9144000" cy="5143500" type="screen16x9"/>
  <p:notesSz cx="9236075" cy="7010400"/>
  <p:custDataLst>
    <p:tags r:id="rId2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84"/>
    <a:srgbClr val="8B92DE"/>
    <a:srgbClr val="EAAB00"/>
    <a:srgbClr val="C6C0B7"/>
    <a:srgbClr val="3B3523"/>
    <a:srgbClr val="F0EED7"/>
    <a:srgbClr val="857756"/>
    <a:srgbClr val="7E7462"/>
    <a:srgbClr val="273015"/>
    <a:srgbClr val="4F5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86464"/>
  </p:normalViewPr>
  <p:slideViewPr>
    <p:cSldViewPr snapToGrid="0">
      <p:cViewPr>
        <p:scale>
          <a:sx n="114" d="100"/>
          <a:sy n="114" d="100"/>
        </p:scale>
        <p:origin x="1464" y="6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68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next layer is as big as input: you have N^2 parameters: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614,656 from one layer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67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Parameters:</a:t>
            </a:r>
          </a:p>
          <a:p>
            <a:pPr marL="171450" indent="-171450">
              <a:buFontTx/>
              <a:buChar char="-"/>
            </a:pPr>
            <a:r>
              <a:rPr lang="en-US" dirty="0"/>
              <a:t>All kernel cell values.</a:t>
            </a:r>
          </a:p>
          <a:p>
            <a:pPr marL="171450" indent="-171450">
              <a:buFontTx/>
              <a:buChar char="-"/>
            </a:pPr>
            <a:r>
              <a:rPr lang="en-US" dirty="0"/>
              <a:t>Weights and biases for the fully connected neural network in the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05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10/11/26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10/11/26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4014441" y="4788791"/>
            <a:ext cx="418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ME 4452 Machine Learning in Mechanical Engineering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10/11/26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10/11/26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10/11/26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10/11/26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10/11/26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10/11/26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10/11/26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10/11/26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10/11/26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10/11/26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10/11/26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10/11/26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10/11/26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10/11/26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10/11/26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10/11/26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hyperlink" Target="https://medium.com/@Suraj_Yadav/in-depth-knowledge-of-convolutional-neural-networks-b4bfff8145ab" TargetMode="Externa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org&amp;utm_campaign=index&amp;utm_content=origina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 dirty="0"/>
              <a:t>10/14/26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dirty="0"/>
              <a:t>Digital Images and Vision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Digital Images</a:t>
            </a:r>
          </a:p>
          <a:p>
            <a:endParaRPr lang="en-US" dirty="0"/>
          </a:p>
          <a:p>
            <a:r>
              <a:rPr lang="en-US" dirty="0"/>
              <a:t>Digital Image Processing and Kernels</a:t>
            </a:r>
          </a:p>
          <a:p>
            <a:endParaRPr lang="en-US" dirty="0"/>
          </a:p>
          <a:p>
            <a:r>
              <a:rPr lang="en-US" dirty="0"/>
              <a:t>CNNs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63FC08-569F-5666-8E52-C78CDE71A1F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698665"/>
            <a:ext cx="8318119" cy="3968751"/>
          </a:xfrm>
        </p:spPr>
        <p:txBody>
          <a:bodyPr/>
          <a:lstStyle/>
          <a:p>
            <a:r>
              <a:rPr lang="en-US" dirty="0"/>
              <a:t>So far, we have seen how neural networks are used for regression and classification problems.</a:t>
            </a:r>
          </a:p>
          <a:p>
            <a:endParaRPr lang="en-US" dirty="0"/>
          </a:p>
          <a:p>
            <a:r>
              <a:rPr lang="en-US" dirty="0"/>
              <a:t>In all these problems, features were either numerical or categorical (can be converted to numbers using One-Hot Encoding).</a:t>
            </a:r>
          </a:p>
          <a:p>
            <a:endParaRPr lang="en-US" dirty="0"/>
          </a:p>
          <a:p>
            <a:r>
              <a:rPr lang="en-US" dirty="0"/>
              <a:t>What if we deal with images?</a:t>
            </a:r>
          </a:p>
          <a:p>
            <a:endParaRPr lang="en-US" dirty="0"/>
          </a:p>
          <a:p>
            <a:r>
              <a:rPr lang="en-US" dirty="0"/>
              <a:t>How can we classify a handwritten digit?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5E13A0-F572-7C70-0D95-5DBB40CEE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Neural Networks for Regression and Classification</a:t>
            </a:r>
          </a:p>
        </p:txBody>
      </p:sp>
      <p:pic>
        <p:nvPicPr>
          <p:cNvPr id="11" name="Picture 10" descr="Medium">
            <a:hlinkClick r:id="rId2"/>
            <a:extLst>
              <a:ext uri="{FF2B5EF4-FFF2-40B4-BE49-F238E27FC236}">
                <a16:creationId xmlns:a16="http://schemas.microsoft.com/office/drawing/2014/main" id="{6AE4B549-850A-BCAD-11A3-999843412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166" y="2683040"/>
            <a:ext cx="31750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9808D6-AAA0-FDD9-FBD4-92D72B91FE10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Monochrome images: grey-scale images.</a:t>
            </a:r>
          </a:p>
          <a:p>
            <a:endParaRPr lang="en-US" dirty="0"/>
          </a:p>
          <a:p>
            <a:r>
              <a:rPr lang="en-US" dirty="0"/>
              <a:t>Digital images are made of pixels. </a:t>
            </a:r>
          </a:p>
          <a:p>
            <a:endParaRPr lang="en-US" dirty="0"/>
          </a:p>
          <a:p>
            <a:r>
              <a:rPr lang="en-US" dirty="0"/>
              <a:t>Pixel information is stored in a 2D array</a:t>
            </a:r>
          </a:p>
          <a:p>
            <a:endParaRPr lang="en-US" dirty="0"/>
          </a:p>
          <a:p>
            <a:r>
              <a:rPr lang="en-US" dirty="0"/>
              <a:t>White pixels: 255</a:t>
            </a:r>
          </a:p>
          <a:p>
            <a:r>
              <a:rPr lang="en-US" dirty="0"/>
              <a:t>Black pixels: 0</a:t>
            </a:r>
          </a:p>
          <a:p>
            <a:r>
              <a:rPr lang="en-US" dirty="0"/>
              <a:t>Greys: 1-254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4F34B3-CCE3-7457-47FC-7C3AE716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Images (monochrome)</a:t>
            </a:r>
          </a:p>
        </p:txBody>
      </p:sp>
      <p:pic>
        <p:nvPicPr>
          <p:cNvPr id="4" name="Picture 3" descr="Monochrome pixel rainbow with clouds, retro digital black and white 8 bit  illustration, minimal aesthetic icon 73504030 Vector Art at Vecteezy">
            <a:extLst>
              <a:ext uri="{FF2B5EF4-FFF2-40B4-BE49-F238E27FC236}">
                <a16:creationId xmlns:a16="http://schemas.microsoft.com/office/drawing/2014/main" id="{E65A7C5E-A13D-F95D-09F3-69094E310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254" y="1620142"/>
            <a:ext cx="2220687" cy="222068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36DBC0-2238-BDFD-92D9-7336C3DB7136}"/>
              </a:ext>
            </a:extLst>
          </p:cNvPr>
          <p:cNvCxnSpPr/>
          <p:nvPr/>
        </p:nvCxnSpPr>
        <p:spPr>
          <a:xfrm>
            <a:off x="8676867" y="1620142"/>
            <a:ext cx="24332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3D70F9-9DC1-9AEF-63B9-8CD5D52FE040}"/>
              </a:ext>
            </a:extLst>
          </p:cNvPr>
          <p:cNvCxnSpPr/>
          <p:nvPr/>
        </p:nvCxnSpPr>
        <p:spPr>
          <a:xfrm>
            <a:off x="8676866" y="3840829"/>
            <a:ext cx="24332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AB4309-4083-9757-CA86-52A14B098382}"/>
              </a:ext>
            </a:extLst>
          </p:cNvPr>
          <p:cNvCxnSpPr>
            <a:cxnSpLocks/>
          </p:cNvCxnSpPr>
          <p:nvPr/>
        </p:nvCxnSpPr>
        <p:spPr>
          <a:xfrm>
            <a:off x="8604941" y="3884525"/>
            <a:ext cx="0" cy="2206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07A083-1157-AD7F-2A8B-3CBC44A44070}"/>
              </a:ext>
            </a:extLst>
          </p:cNvPr>
          <p:cNvCxnSpPr>
            <a:cxnSpLocks/>
          </p:cNvCxnSpPr>
          <p:nvPr/>
        </p:nvCxnSpPr>
        <p:spPr>
          <a:xfrm>
            <a:off x="6381259" y="3881820"/>
            <a:ext cx="0" cy="2206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D04B86-4C1A-027A-6143-D85ADACC0343}"/>
              </a:ext>
            </a:extLst>
          </p:cNvPr>
          <p:cNvCxnSpPr/>
          <p:nvPr/>
        </p:nvCxnSpPr>
        <p:spPr>
          <a:xfrm>
            <a:off x="6381259" y="3992162"/>
            <a:ext cx="222368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465D31-0A70-7A28-742B-1EBD1A0E5941}"/>
              </a:ext>
            </a:extLst>
          </p:cNvPr>
          <p:cNvCxnSpPr>
            <a:cxnSpLocks/>
          </p:cNvCxnSpPr>
          <p:nvPr/>
        </p:nvCxnSpPr>
        <p:spPr>
          <a:xfrm flipV="1">
            <a:off x="8789513" y="1620142"/>
            <a:ext cx="9017" cy="222068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B39926A-BBA8-C6B3-46C9-75CD5B03131F}"/>
              </a:ext>
            </a:extLst>
          </p:cNvPr>
          <p:cNvSpPr/>
          <p:nvPr/>
        </p:nvSpPr>
        <p:spPr>
          <a:xfrm>
            <a:off x="6991142" y="3881820"/>
            <a:ext cx="1003916" cy="1841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980 </a:t>
            </a:r>
            <a:r>
              <a:rPr lang="en-US" dirty="0" err="1">
                <a:solidFill>
                  <a:sysClr val="windowText" lastClr="000000"/>
                </a:solidFill>
              </a:rPr>
              <a:t>px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E0E1A-E2F7-B4B0-E723-0E105C0DDC18}"/>
              </a:ext>
            </a:extLst>
          </p:cNvPr>
          <p:cNvSpPr/>
          <p:nvPr/>
        </p:nvSpPr>
        <p:spPr>
          <a:xfrm rot="5400000" flipH="1">
            <a:off x="8231031" y="2590615"/>
            <a:ext cx="1158154" cy="1841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980 </a:t>
            </a:r>
            <a:r>
              <a:rPr lang="en-US" dirty="0" err="1">
                <a:solidFill>
                  <a:sysClr val="windowText" lastClr="000000"/>
                </a:solidFill>
              </a:rPr>
              <a:t>px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EAA97D-9002-FD30-544E-BF6B3EC7B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368" y="3148679"/>
            <a:ext cx="137795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0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98F63A-9AD6-8E3C-5DE0-D40202197864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Colored images are composed of different channels.</a:t>
            </a:r>
          </a:p>
          <a:p>
            <a:endParaRPr lang="en-US" dirty="0"/>
          </a:p>
          <a:p>
            <a:r>
              <a:rPr lang="en-US" dirty="0"/>
              <a:t>Colored images are made of RGB components (Red, Green, Blue).</a:t>
            </a:r>
          </a:p>
          <a:p>
            <a:endParaRPr lang="en-US" dirty="0"/>
          </a:p>
          <a:p>
            <a:r>
              <a:rPr lang="en-US" dirty="0"/>
              <a:t>Each components has its own “channel”</a:t>
            </a:r>
          </a:p>
          <a:p>
            <a:endParaRPr lang="en-US" dirty="0"/>
          </a:p>
          <a:p>
            <a:r>
              <a:rPr lang="en-US" dirty="0"/>
              <a:t>Colored Images are stored in 3D arrays.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E02C8-5CBB-AFB9-B57C-F9388748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Images (Color Images)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595E4F-434E-512F-5624-87CF88FF2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362" y="2730486"/>
            <a:ext cx="2846038" cy="189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2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257B61-F372-0D36-42CF-63EC4D696089}"/>
              </a:ext>
            </a:extLst>
          </p:cNvPr>
          <p:cNvPicPr>
            <a:picLocks noGrp="1" noChangeAspect="1"/>
          </p:cNvPicPr>
          <p:nvPr>
            <p:ph idx="26"/>
          </p:nvPr>
        </p:nvPicPr>
        <p:blipFill>
          <a:blip r:embed="rId2"/>
          <a:stretch>
            <a:fillRect/>
          </a:stretch>
        </p:blipFill>
        <p:spPr bwMode="auto">
          <a:xfrm>
            <a:off x="6966239" y="2486721"/>
            <a:ext cx="2055098" cy="207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F7DBA15-1CCD-3C56-C810-C478C064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Colored Images Representation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C4C1F8F-9ADD-38AF-D6AC-7968D41DEC84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1539A81-77B3-D22C-9E1A-1BAE4DE77EAC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C20D75A-3DE8-B66B-34FB-B4079535C7AF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E376365-3AF3-4284-C4AA-A35860BD4F6F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2634532"/>
              <a:ext cx="63767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8358DC-3C2C-A89A-4557-BAF5B38D4B94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3173896"/>
              <a:ext cx="63767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2D67E0-A460-49ED-FAE0-CA3133EFE336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3700007"/>
              <a:ext cx="63767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6FE4EA-9B52-D8B9-7217-A79016BE576A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4240696"/>
              <a:ext cx="63767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048C85-FFFB-F57D-BCC8-EE354F5D27CE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530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8E2EE9-2D6A-DF9E-A7B3-57F78AA1272C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Color images can be represented with RGB triplets.</a:t>
            </a:r>
          </a:p>
          <a:p>
            <a:endParaRPr lang="en-US" dirty="0"/>
          </a:p>
          <a:p>
            <a:r>
              <a:rPr lang="en-US" dirty="0"/>
              <a:t>Another common alternative is HSV: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Hue: color family</a:t>
            </a:r>
          </a:p>
          <a:p>
            <a:pPr>
              <a:buFontTx/>
              <a:buChar char="-"/>
            </a:pPr>
            <a:r>
              <a:rPr lang="en-US" dirty="0"/>
              <a:t>Saturation: vibrancy or color intensity</a:t>
            </a:r>
          </a:p>
          <a:p>
            <a:pPr>
              <a:buFontTx/>
              <a:buChar char="-"/>
            </a:pPr>
            <a:r>
              <a:rPr lang="en-US" dirty="0"/>
              <a:t>Value: brightness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Hue is a useful tool to identify colors in images.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2AAFA1-4F90-F1C0-1E09-280BF332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Color Representation</a:t>
            </a:r>
          </a:p>
        </p:txBody>
      </p:sp>
      <p:pic>
        <p:nvPicPr>
          <p:cNvPr id="4" name="Picture 3" descr="Conceptual depiction of the Hue-Saturation-Value (HSV) space at the... |  Download Scientific Diagram">
            <a:extLst>
              <a:ext uri="{FF2B5EF4-FFF2-40B4-BE49-F238E27FC236}">
                <a16:creationId xmlns:a16="http://schemas.microsoft.com/office/drawing/2014/main" id="{FD86E9F4-684F-B38E-B98A-EED947839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226" y="1283697"/>
            <a:ext cx="3767774" cy="257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2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18AB5B-5CB0-81FD-AEF6-51364AFCEF55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3795277" cy="3650177"/>
          </a:xfrm>
        </p:spPr>
        <p:txBody>
          <a:bodyPr/>
          <a:lstStyle/>
          <a:p>
            <a:r>
              <a:rPr lang="en-US" dirty="0"/>
              <a:t>We may be tempted to utilize grey scale images for machine learning.</a:t>
            </a:r>
          </a:p>
          <a:p>
            <a:endParaRPr lang="en-US" dirty="0"/>
          </a:p>
          <a:p>
            <a:r>
              <a:rPr lang="en-US" dirty="0"/>
              <a:t>Consider a small 28 x 28 pixel image.</a:t>
            </a:r>
          </a:p>
          <a:p>
            <a:endParaRPr lang="en-US" dirty="0"/>
          </a:p>
          <a:p>
            <a:r>
              <a:rPr lang="en-US" dirty="0"/>
              <a:t>The image can be flattened into a vector of 784 elements (each is a feature)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DE9094-D62A-A26F-653F-6D912997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for Machine Learning</a:t>
            </a:r>
          </a:p>
        </p:txBody>
      </p:sp>
      <p:pic>
        <p:nvPicPr>
          <p:cNvPr id="4" name="Picture 3" descr="Neural Network taking flattened image as input on Make a GIF">
            <a:extLst>
              <a:ext uri="{FF2B5EF4-FFF2-40B4-BE49-F238E27FC236}">
                <a16:creationId xmlns:a16="http://schemas.microsoft.com/office/drawing/2014/main" id="{EC37FEE8-DB95-BF58-BF82-5BA31D47F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444" y="716768"/>
            <a:ext cx="4802459" cy="270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6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8A3593-1644-B99F-8E96-F49F4BBD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that it? Just Flatten Images?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7F204C-5057-BD02-961D-8FCB346D93A7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18B051E-879F-5D0C-5075-0F93C412FA9E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3204FE3-02A3-E2B8-5991-011557D99A0D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949459-7C1E-5339-45D7-9A374C762376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D03EB4D-9CCA-7690-5B01-A2FD2BD82AC5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A47F98A-0909-F826-AD37-5F9F145F9BEA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56B4A82-D793-91B1-6D55-827B605C05F1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B254061-0CD4-99E4-F6A6-2D7116CE9991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673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C8FCDD-DD38-A9AB-12DC-BE08E18B4971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Prior to machine learning, images were studied using image processing techniques.</a:t>
            </a:r>
          </a:p>
          <a:p>
            <a:endParaRPr lang="en-US" dirty="0"/>
          </a:p>
          <a:p>
            <a:r>
              <a:rPr lang="en-US" dirty="0"/>
              <a:t>These techniques utilized matrix operations on images</a:t>
            </a:r>
          </a:p>
          <a:p>
            <a:endParaRPr lang="en-US" dirty="0"/>
          </a:p>
          <a:p>
            <a:r>
              <a:rPr lang="en-US" dirty="0"/>
              <a:t>Software like Photoshop applies filters using “</a:t>
            </a:r>
            <a:r>
              <a:rPr lang="en-US" i="1" dirty="0"/>
              <a:t>masks</a:t>
            </a:r>
            <a:r>
              <a:rPr lang="en-US" dirty="0"/>
              <a:t>” and “</a:t>
            </a:r>
            <a:r>
              <a:rPr lang="en-US" i="1" dirty="0"/>
              <a:t>kernels</a:t>
            </a:r>
            <a:r>
              <a:rPr lang="en-US" dirty="0"/>
              <a:t>”.</a:t>
            </a:r>
          </a:p>
          <a:p>
            <a:endParaRPr lang="en-US" dirty="0"/>
          </a:p>
          <a:p>
            <a:r>
              <a:rPr lang="en-US" dirty="0"/>
              <a:t>These filters are applied through a convolution operation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8A3528-BA57-7B95-5549-AF66585A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Images</a:t>
            </a:r>
          </a:p>
        </p:txBody>
      </p:sp>
    </p:spTree>
    <p:extLst>
      <p:ext uri="{BB962C8B-B14F-4D97-AF65-F5344CB8AC3E}">
        <p14:creationId xmlns:p14="http://schemas.microsoft.com/office/powerpoint/2010/main" val="175636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A37840-A869-6357-DB7A-BCDBB5C81DCB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1" y="905398"/>
            <a:ext cx="5307662" cy="3650177"/>
          </a:xfrm>
        </p:spPr>
        <p:txBody>
          <a:bodyPr/>
          <a:lstStyle/>
          <a:p>
            <a:r>
              <a:rPr lang="en-US" dirty="0"/>
              <a:t>A mask is an array (which is typically smaller than the image)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mask is applied to parts of the image.</a:t>
            </a:r>
          </a:p>
          <a:p>
            <a:endParaRPr lang="en-US" dirty="0"/>
          </a:p>
          <a:p>
            <a:r>
              <a:rPr lang="en-US" dirty="0"/>
              <a:t>The mask slides through the image with a defined </a:t>
            </a:r>
            <a:r>
              <a:rPr lang="en-US" i="1" dirty="0"/>
              <a:t>stride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new image is constructed after the mask is applied.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E0E556-1154-FB86-F3A1-192E2727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Masks/Kernels</a:t>
            </a:r>
          </a:p>
        </p:txBody>
      </p:sp>
      <p:pic>
        <p:nvPicPr>
          <p:cNvPr id="4" name="Picture 3" descr="File:2D Convolution Animation.gif - Wikimedia Commons">
            <a:extLst>
              <a:ext uri="{FF2B5EF4-FFF2-40B4-BE49-F238E27FC236}">
                <a16:creationId xmlns:a16="http://schemas.microsoft.com/office/drawing/2014/main" id="{E5AB7811-5441-5614-DE86-4356BCE15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262" y="905398"/>
            <a:ext cx="3412738" cy="301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3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C9A2DD-37F4-068A-CF99-99E03B8F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Convolution Operation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831FD6-F223-69FA-E0CE-78DDF0C6731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B5FBDF7-2CC1-45E5-81F2-FB4E54875161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0E89D2F-DE80-470C-BC54-2BC3B19D7E04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4AE6B5B-2DC3-4037-C31D-45144F3FDD02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01D08D1-2BF5-C729-6699-C58322457A09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34C31EC-57A0-F9CB-201E-0A7AE682F28E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CC357FF-8367-E146-8985-7F97BD7A8EC7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6BBC3F-4B09-C8A3-8933-39CECDD71043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273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9EED-18D4-C973-85AD-2ABB4127D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D08C85-87D6-A86D-F7AC-497EB136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Convolution Operation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279C47-4C86-DE09-116A-52B53CBE908B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454BEA4-1A6E-F486-70E8-EDC19C7FBAF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B8C153E-558A-7449-04C2-754E1C0777A9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EC1D0FA-A9BA-3E49-82B6-90B8748FBD24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90F1AE-974E-1B82-8CEC-665B5512A6A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A88264-8D45-3EA1-71B5-A1CC44C7EC28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6DBEBC-A56D-A55D-D76D-0B16E61A7FB0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5212CE3-9401-4612-E73E-884BFDC66386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664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6D47-BA82-C6F7-3BB0-07EA246D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4373D8-DB53-F3DD-7B22-C6976BF7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Convolution Operation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CA3DDE7-5217-9A83-6693-54B4C0A1A8D0}"/>
              </a:ext>
            </a:extLst>
          </p:cNvPr>
          <p:cNvGrpSpPr/>
          <p:nvPr/>
        </p:nvGrpSpPr>
        <p:grpSpPr>
          <a:xfrm>
            <a:off x="5029200" y="1543425"/>
            <a:ext cx="2743200" cy="1828801"/>
            <a:chOff x="4282067" y="1041620"/>
            <a:chExt cx="2743200" cy="182880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612E83E-C03C-4810-D4F8-BECE4DDD9E79}"/>
                </a:ext>
              </a:extLst>
            </p:cNvPr>
            <p:cNvSpPr/>
            <p:nvPr/>
          </p:nvSpPr>
          <p:spPr>
            <a:xfrm>
              <a:off x="4282067" y="1041621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AE94656-E774-61EC-CDB1-D72EAC811D6F}"/>
                </a:ext>
              </a:extLst>
            </p:cNvPr>
            <p:cNvSpPr/>
            <p:nvPr/>
          </p:nvSpPr>
          <p:spPr>
            <a:xfrm>
              <a:off x="4739267" y="1041621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8BC571F-3C1D-AF40-1310-3C3E3738E70F}"/>
                </a:ext>
              </a:extLst>
            </p:cNvPr>
            <p:cNvSpPr/>
            <p:nvPr/>
          </p:nvSpPr>
          <p:spPr>
            <a:xfrm>
              <a:off x="5196467" y="10416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185C926-B4B3-40B8-4D01-65B48F150F1D}"/>
                </a:ext>
              </a:extLst>
            </p:cNvPr>
            <p:cNvSpPr/>
            <p:nvPr/>
          </p:nvSpPr>
          <p:spPr>
            <a:xfrm>
              <a:off x="5653667" y="10416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0015B40-9385-6BD0-AFA6-DA4E5F020E2B}"/>
                </a:ext>
              </a:extLst>
            </p:cNvPr>
            <p:cNvSpPr/>
            <p:nvPr/>
          </p:nvSpPr>
          <p:spPr>
            <a:xfrm>
              <a:off x="6110867" y="10416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CC8AFA5-3732-904F-88B5-C25B3C97BDF6}"/>
                </a:ext>
              </a:extLst>
            </p:cNvPr>
            <p:cNvSpPr/>
            <p:nvPr/>
          </p:nvSpPr>
          <p:spPr>
            <a:xfrm>
              <a:off x="6568067" y="10416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B2F70A8-CAF0-57B8-19D6-6D01A4E7C123}"/>
                </a:ext>
              </a:extLst>
            </p:cNvPr>
            <p:cNvSpPr/>
            <p:nvPr/>
          </p:nvSpPr>
          <p:spPr>
            <a:xfrm>
              <a:off x="4282067" y="1498821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07E269B-3D19-FE6D-30CF-F5D95FE310DD}"/>
                </a:ext>
              </a:extLst>
            </p:cNvPr>
            <p:cNvSpPr/>
            <p:nvPr/>
          </p:nvSpPr>
          <p:spPr>
            <a:xfrm>
              <a:off x="4739267" y="1498821"/>
              <a:ext cx="4572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50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1C18B5-A672-1827-9572-DD06C8AB0683}"/>
                </a:ext>
              </a:extLst>
            </p:cNvPr>
            <p:cNvSpPr/>
            <p:nvPr/>
          </p:nvSpPr>
          <p:spPr>
            <a:xfrm>
              <a:off x="5196467" y="1498820"/>
              <a:ext cx="4572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50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EC2B5E0-7370-76B0-BBC5-6F68483E15EE}"/>
                </a:ext>
              </a:extLst>
            </p:cNvPr>
            <p:cNvSpPr/>
            <p:nvPr/>
          </p:nvSpPr>
          <p:spPr>
            <a:xfrm>
              <a:off x="5653667" y="1498820"/>
              <a:ext cx="4572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50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5D4E4A9-DF55-5E9D-CB5C-527AE1DCF5C5}"/>
                </a:ext>
              </a:extLst>
            </p:cNvPr>
            <p:cNvSpPr/>
            <p:nvPr/>
          </p:nvSpPr>
          <p:spPr>
            <a:xfrm>
              <a:off x="6110867" y="14988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574EF6F-1F94-7799-B90D-E393441DBA19}"/>
                </a:ext>
              </a:extLst>
            </p:cNvPr>
            <p:cNvSpPr/>
            <p:nvPr/>
          </p:nvSpPr>
          <p:spPr>
            <a:xfrm>
              <a:off x="6568067" y="14988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92E4BE9-6BA3-3A13-DD02-3C2E05113690}"/>
                </a:ext>
              </a:extLst>
            </p:cNvPr>
            <p:cNvSpPr/>
            <p:nvPr/>
          </p:nvSpPr>
          <p:spPr>
            <a:xfrm>
              <a:off x="4282067" y="1956021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3A10C99-328D-B61D-BD04-E6F5A7C5C597}"/>
                </a:ext>
              </a:extLst>
            </p:cNvPr>
            <p:cNvSpPr/>
            <p:nvPr/>
          </p:nvSpPr>
          <p:spPr>
            <a:xfrm>
              <a:off x="4739267" y="1956021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BFB5774-C661-7CA3-842C-F35A41752BDD}"/>
                </a:ext>
              </a:extLst>
            </p:cNvPr>
            <p:cNvSpPr/>
            <p:nvPr/>
          </p:nvSpPr>
          <p:spPr>
            <a:xfrm>
              <a:off x="5196467" y="1956020"/>
              <a:ext cx="4572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50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6536894-3F5B-DC02-D184-8111336F6B32}"/>
                </a:ext>
              </a:extLst>
            </p:cNvPr>
            <p:cNvSpPr/>
            <p:nvPr/>
          </p:nvSpPr>
          <p:spPr>
            <a:xfrm>
              <a:off x="5653667" y="1956020"/>
              <a:ext cx="4572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50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D32305E-2369-40D7-8245-099FCD348040}"/>
                </a:ext>
              </a:extLst>
            </p:cNvPr>
            <p:cNvSpPr/>
            <p:nvPr/>
          </p:nvSpPr>
          <p:spPr>
            <a:xfrm>
              <a:off x="6110867" y="1956020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5E52281-7E46-1238-FF08-EE1EA76A5503}"/>
                </a:ext>
              </a:extLst>
            </p:cNvPr>
            <p:cNvSpPr/>
            <p:nvPr/>
          </p:nvSpPr>
          <p:spPr>
            <a:xfrm>
              <a:off x="6568067" y="19560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8F510C3-3223-F8D5-5C9B-EC56F6091343}"/>
                </a:ext>
              </a:extLst>
            </p:cNvPr>
            <p:cNvSpPr/>
            <p:nvPr/>
          </p:nvSpPr>
          <p:spPr>
            <a:xfrm>
              <a:off x="4282067" y="2413221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0D3EF59-F43D-2DAE-6EAF-3DEB8B323A34}"/>
                </a:ext>
              </a:extLst>
            </p:cNvPr>
            <p:cNvSpPr/>
            <p:nvPr/>
          </p:nvSpPr>
          <p:spPr>
            <a:xfrm>
              <a:off x="4739267" y="2413221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5C92518-0B12-2100-AD96-6ACD2289CBE9}"/>
                </a:ext>
              </a:extLst>
            </p:cNvPr>
            <p:cNvSpPr/>
            <p:nvPr/>
          </p:nvSpPr>
          <p:spPr>
            <a:xfrm>
              <a:off x="5196467" y="24132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FDA004A-26B5-DDDD-25CA-8F5D8156B3FD}"/>
                </a:ext>
              </a:extLst>
            </p:cNvPr>
            <p:cNvSpPr/>
            <p:nvPr/>
          </p:nvSpPr>
          <p:spPr>
            <a:xfrm>
              <a:off x="5653667" y="2413220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63B2144-7FF4-697D-66E1-5E3D43BECD01}"/>
                </a:ext>
              </a:extLst>
            </p:cNvPr>
            <p:cNvSpPr/>
            <p:nvPr/>
          </p:nvSpPr>
          <p:spPr>
            <a:xfrm>
              <a:off x="6110867" y="2413220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608C2C6-B537-D247-6FB1-C8C7324F968A}"/>
                </a:ext>
              </a:extLst>
            </p:cNvPr>
            <p:cNvSpPr/>
            <p:nvPr/>
          </p:nvSpPr>
          <p:spPr>
            <a:xfrm>
              <a:off x="6568067" y="2413220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10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2748976-4FC7-5D05-1A1E-78A1DE9D4867}"/>
              </a:ext>
            </a:extLst>
          </p:cNvPr>
          <p:cNvGrpSpPr/>
          <p:nvPr/>
        </p:nvGrpSpPr>
        <p:grpSpPr>
          <a:xfrm>
            <a:off x="4572000" y="3372223"/>
            <a:ext cx="3657600" cy="457201"/>
            <a:chOff x="3824867" y="2870418"/>
            <a:chExt cx="3657600" cy="457201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79A924B-F33C-CF0F-3102-2B74D400D492}"/>
                </a:ext>
              </a:extLst>
            </p:cNvPr>
            <p:cNvSpPr/>
            <p:nvPr/>
          </p:nvSpPr>
          <p:spPr>
            <a:xfrm>
              <a:off x="4282067" y="2870419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48BBB1A-6FCE-357B-6976-BC83FD25C4E2}"/>
                </a:ext>
              </a:extLst>
            </p:cNvPr>
            <p:cNvSpPr/>
            <p:nvPr/>
          </p:nvSpPr>
          <p:spPr>
            <a:xfrm>
              <a:off x="4739267" y="2870419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DA5AD2E-9927-896C-6A3A-FE4ECB37D14E}"/>
                </a:ext>
              </a:extLst>
            </p:cNvPr>
            <p:cNvSpPr/>
            <p:nvPr/>
          </p:nvSpPr>
          <p:spPr>
            <a:xfrm>
              <a:off x="51964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89BC8FA-F5C5-5ADF-7001-C489319CBF27}"/>
                </a:ext>
              </a:extLst>
            </p:cNvPr>
            <p:cNvSpPr/>
            <p:nvPr/>
          </p:nvSpPr>
          <p:spPr>
            <a:xfrm>
              <a:off x="56536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0F780E3-E1C6-973C-6225-F2E52FB75E8D}"/>
                </a:ext>
              </a:extLst>
            </p:cNvPr>
            <p:cNvSpPr/>
            <p:nvPr/>
          </p:nvSpPr>
          <p:spPr>
            <a:xfrm>
              <a:off x="61108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5C7C9E5-6E37-D7A2-A3B0-DA90FA34A657}"/>
                </a:ext>
              </a:extLst>
            </p:cNvPr>
            <p:cNvSpPr/>
            <p:nvPr/>
          </p:nvSpPr>
          <p:spPr>
            <a:xfrm>
              <a:off x="65680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ACB0D25-F9CA-FC1B-CA14-97CEF921750F}"/>
                </a:ext>
              </a:extLst>
            </p:cNvPr>
            <p:cNvSpPr/>
            <p:nvPr/>
          </p:nvSpPr>
          <p:spPr>
            <a:xfrm>
              <a:off x="38248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BFDE722-C996-0AAB-9D06-22A23B444DB3}"/>
                </a:ext>
              </a:extLst>
            </p:cNvPr>
            <p:cNvSpPr/>
            <p:nvPr/>
          </p:nvSpPr>
          <p:spPr>
            <a:xfrm>
              <a:off x="70252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83798B6-0236-8B15-E532-02E719DC70C5}"/>
              </a:ext>
            </a:extLst>
          </p:cNvPr>
          <p:cNvGrpSpPr/>
          <p:nvPr/>
        </p:nvGrpSpPr>
        <p:grpSpPr>
          <a:xfrm>
            <a:off x="4572000" y="1085202"/>
            <a:ext cx="3657600" cy="457201"/>
            <a:chOff x="3824867" y="583397"/>
            <a:chExt cx="3657600" cy="457201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99F4B31-34AE-DF5C-368E-0BFD335C915A}"/>
                </a:ext>
              </a:extLst>
            </p:cNvPr>
            <p:cNvSpPr/>
            <p:nvPr/>
          </p:nvSpPr>
          <p:spPr>
            <a:xfrm>
              <a:off x="4282067" y="58339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2B2A25C8-D4F5-4E35-1E88-F30EB7148F13}"/>
                </a:ext>
              </a:extLst>
            </p:cNvPr>
            <p:cNvSpPr/>
            <p:nvPr/>
          </p:nvSpPr>
          <p:spPr>
            <a:xfrm>
              <a:off x="4739267" y="58339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1255672-F0D3-8015-1EF9-49FB73A2AAC3}"/>
                </a:ext>
              </a:extLst>
            </p:cNvPr>
            <p:cNvSpPr/>
            <p:nvPr/>
          </p:nvSpPr>
          <p:spPr>
            <a:xfrm>
              <a:off x="51964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5338DAD-C7C4-F0A3-B861-9DDB09BF0D12}"/>
                </a:ext>
              </a:extLst>
            </p:cNvPr>
            <p:cNvSpPr/>
            <p:nvPr/>
          </p:nvSpPr>
          <p:spPr>
            <a:xfrm>
              <a:off x="56536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694A313-B87A-ADBA-266A-15D44922A96C}"/>
                </a:ext>
              </a:extLst>
            </p:cNvPr>
            <p:cNvSpPr/>
            <p:nvPr/>
          </p:nvSpPr>
          <p:spPr>
            <a:xfrm>
              <a:off x="61108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03E2D01-7A61-1402-56D4-804AEE342404}"/>
                </a:ext>
              </a:extLst>
            </p:cNvPr>
            <p:cNvSpPr/>
            <p:nvPr/>
          </p:nvSpPr>
          <p:spPr>
            <a:xfrm>
              <a:off x="65680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C922AE9-FA47-5FBD-3F63-B7EB3D2B06BD}"/>
                </a:ext>
              </a:extLst>
            </p:cNvPr>
            <p:cNvSpPr/>
            <p:nvPr/>
          </p:nvSpPr>
          <p:spPr>
            <a:xfrm>
              <a:off x="38248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3F1B7E7-7A52-B999-D747-54B08D22BEA5}"/>
                </a:ext>
              </a:extLst>
            </p:cNvPr>
            <p:cNvSpPr/>
            <p:nvPr/>
          </p:nvSpPr>
          <p:spPr>
            <a:xfrm>
              <a:off x="70252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AFDBE42-FF11-595E-DBCD-F2C332E1ACEC}"/>
              </a:ext>
            </a:extLst>
          </p:cNvPr>
          <p:cNvGrpSpPr/>
          <p:nvPr/>
        </p:nvGrpSpPr>
        <p:grpSpPr>
          <a:xfrm rot="5400000">
            <a:off x="7086600" y="2228202"/>
            <a:ext cx="1828800" cy="457200"/>
            <a:chOff x="5806067" y="735797"/>
            <a:chExt cx="1828800" cy="45720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43EE379-DDC6-7F49-88DB-C2002731973E}"/>
                </a:ext>
              </a:extLst>
            </p:cNvPr>
            <p:cNvSpPr/>
            <p:nvPr/>
          </p:nvSpPr>
          <p:spPr>
            <a:xfrm>
              <a:off x="58060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33512C7-BE96-F26E-4E01-9300C71704C7}"/>
                </a:ext>
              </a:extLst>
            </p:cNvPr>
            <p:cNvSpPr/>
            <p:nvPr/>
          </p:nvSpPr>
          <p:spPr>
            <a:xfrm>
              <a:off x="62632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9E3AC24-4D1F-D729-E026-3C16F2D23963}"/>
                </a:ext>
              </a:extLst>
            </p:cNvPr>
            <p:cNvSpPr/>
            <p:nvPr/>
          </p:nvSpPr>
          <p:spPr>
            <a:xfrm>
              <a:off x="67204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4C5E85E-493E-A1CE-B889-BB593C938F6F}"/>
                </a:ext>
              </a:extLst>
            </p:cNvPr>
            <p:cNvSpPr/>
            <p:nvPr/>
          </p:nvSpPr>
          <p:spPr>
            <a:xfrm>
              <a:off x="71776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CDD2156-CB24-C13E-B619-8CF3914F8CE7}"/>
              </a:ext>
            </a:extLst>
          </p:cNvPr>
          <p:cNvGrpSpPr/>
          <p:nvPr/>
        </p:nvGrpSpPr>
        <p:grpSpPr>
          <a:xfrm rot="5400000">
            <a:off x="3886200" y="2236086"/>
            <a:ext cx="1828800" cy="457200"/>
            <a:chOff x="5806067" y="735797"/>
            <a:chExt cx="1828800" cy="45720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AB14A81-29B1-40F6-0599-2F2FAFCC3EDD}"/>
                </a:ext>
              </a:extLst>
            </p:cNvPr>
            <p:cNvSpPr/>
            <p:nvPr/>
          </p:nvSpPr>
          <p:spPr>
            <a:xfrm>
              <a:off x="58060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DEAA3D3-2E95-2A43-39AA-2DB46DFA7BE7}"/>
                </a:ext>
              </a:extLst>
            </p:cNvPr>
            <p:cNvSpPr/>
            <p:nvPr/>
          </p:nvSpPr>
          <p:spPr>
            <a:xfrm>
              <a:off x="62632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2834C87-15B6-AEAF-8F85-C8E0FF63EDD2}"/>
                </a:ext>
              </a:extLst>
            </p:cNvPr>
            <p:cNvSpPr/>
            <p:nvPr/>
          </p:nvSpPr>
          <p:spPr>
            <a:xfrm>
              <a:off x="67204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5E5502A-CE36-FAB8-65EB-6D6F38414031}"/>
                </a:ext>
              </a:extLst>
            </p:cNvPr>
            <p:cNvSpPr/>
            <p:nvPr/>
          </p:nvSpPr>
          <p:spPr>
            <a:xfrm>
              <a:off x="71776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B719196-A441-2850-2AA7-45FA0014B2F9}"/>
              </a:ext>
            </a:extLst>
          </p:cNvPr>
          <p:cNvGrpSpPr/>
          <p:nvPr/>
        </p:nvGrpSpPr>
        <p:grpSpPr>
          <a:xfrm>
            <a:off x="2057400" y="1085202"/>
            <a:ext cx="1371600" cy="1371600"/>
            <a:chOff x="1925444" y="1753153"/>
            <a:chExt cx="1371600" cy="1371600"/>
          </a:xfrm>
          <a:solidFill>
            <a:schemeClr val="tx2">
              <a:lumMod val="10000"/>
              <a:lumOff val="90000"/>
              <a:alpha val="79221"/>
            </a:schemeClr>
          </a:solidFill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8C962A7-E0F4-7577-3777-486DF39629E7}"/>
                </a:ext>
              </a:extLst>
            </p:cNvPr>
            <p:cNvSpPr/>
            <p:nvPr/>
          </p:nvSpPr>
          <p:spPr>
            <a:xfrm>
              <a:off x="2839844" y="17531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1.9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2EAC97C-1878-B278-1B32-65C29815DDF0}"/>
                </a:ext>
              </a:extLst>
            </p:cNvPr>
            <p:cNvSpPr/>
            <p:nvPr/>
          </p:nvSpPr>
          <p:spPr>
            <a:xfrm>
              <a:off x="2382644" y="17531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A32DF7D-240A-7A20-0B94-2DCB5ECC6BC8}"/>
                </a:ext>
              </a:extLst>
            </p:cNvPr>
            <p:cNvSpPr/>
            <p:nvPr/>
          </p:nvSpPr>
          <p:spPr>
            <a:xfrm>
              <a:off x="1925444" y="17531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85BE536-3035-097D-CB2A-0D1CBAB85195}"/>
                </a:ext>
              </a:extLst>
            </p:cNvPr>
            <p:cNvSpPr/>
            <p:nvPr/>
          </p:nvSpPr>
          <p:spPr>
            <a:xfrm>
              <a:off x="2839844" y="22103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63B365F-58FB-A07E-E29C-2361AF6DB7DA}"/>
                </a:ext>
              </a:extLst>
            </p:cNvPr>
            <p:cNvSpPr/>
            <p:nvPr/>
          </p:nvSpPr>
          <p:spPr>
            <a:xfrm>
              <a:off x="2382644" y="22103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9ECE501-7B1F-1245-EEEF-BBE49D2A33A4}"/>
                </a:ext>
              </a:extLst>
            </p:cNvPr>
            <p:cNvSpPr/>
            <p:nvPr/>
          </p:nvSpPr>
          <p:spPr>
            <a:xfrm>
              <a:off x="1925444" y="22103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1C5B926-34AB-E165-CFD9-86AE283B3916}"/>
                </a:ext>
              </a:extLst>
            </p:cNvPr>
            <p:cNvSpPr/>
            <p:nvPr/>
          </p:nvSpPr>
          <p:spPr>
            <a:xfrm>
              <a:off x="2839844" y="26675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254BF36-9F80-BC58-854C-3309598B183D}"/>
                </a:ext>
              </a:extLst>
            </p:cNvPr>
            <p:cNvSpPr/>
            <p:nvPr/>
          </p:nvSpPr>
          <p:spPr>
            <a:xfrm>
              <a:off x="2382644" y="26675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DE8F622-7661-EDC4-B20C-1FB11F9BC7E5}"/>
                </a:ext>
              </a:extLst>
            </p:cNvPr>
            <p:cNvSpPr/>
            <p:nvPr/>
          </p:nvSpPr>
          <p:spPr>
            <a:xfrm>
              <a:off x="1925444" y="26675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1/9</a:t>
              </a:r>
            </a:p>
          </p:txBody>
        </p: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AF8DCB0-BC9D-B9A5-C67A-8744623C6829}"/>
              </a:ext>
            </a:extLst>
          </p:cNvPr>
          <p:cNvCxnSpPr>
            <a:cxnSpLocks/>
          </p:cNvCxnSpPr>
          <p:nvPr/>
        </p:nvCxnSpPr>
        <p:spPr>
          <a:xfrm>
            <a:off x="536713" y="2921886"/>
            <a:ext cx="377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CD834F6-8F24-921D-1474-B4DDE0BE77D4}"/>
              </a:ext>
            </a:extLst>
          </p:cNvPr>
          <p:cNvCxnSpPr>
            <a:cxnSpLocks/>
          </p:cNvCxnSpPr>
          <p:nvPr/>
        </p:nvCxnSpPr>
        <p:spPr>
          <a:xfrm>
            <a:off x="536713" y="3489079"/>
            <a:ext cx="377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C956B3E-8BD8-5F4B-5D8B-EB905F08BB3E}"/>
              </a:ext>
            </a:extLst>
          </p:cNvPr>
          <p:cNvCxnSpPr>
            <a:cxnSpLocks/>
          </p:cNvCxnSpPr>
          <p:nvPr/>
        </p:nvCxnSpPr>
        <p:spPr>
          <a:xfrm>
            <a:off x="536713" y="4033291"/>
            <a:ext cx="377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B8ACFEA3-436F-610B-3E3E-536235812E57}"/>
              </a:ext>
            </a:extLst>
          </p:cNvPr>
          <p:cNvCxnSpPr>
            <a:cxnSpLocks/>
          </p:cNvCxnSpPr>
          <p:nvPr/>
        </p:nvCxnSpPr>
        <p:spPr>
          <a:xfrm>
            <a:off x="536713" y="4600484"/>
            <a:ext cx="377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69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4.44444E-6 L 0.275 -4.44444E-6 " pathEditMode="relative" ptsTypes="AA">
                                      <p:cBhvr>
                                        <p:cTn id="6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38257A-FD6A-A5EB-6646-D08679EC83A3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1" y="905398"/>
            <a:ext cx="5007044" cy="3650177"/>
          </a:xfrm>
        </p:spPr>
        <p:txBody>
          <a:bodyPr/>
          <a:lstStyle/>
          <a:p>
            <a:r>
              <a:rPr lang="en-US" dirty="0"/>
              <a:t>Blur kernel: averages the colors from surrounding pixels.</a:t>
            </a:r>
          </a:p>
          <a:p>
            <a:endParaRPr lang="en-US" dirty="0"/>
          </a:p>
          <a:p>
            <a:r>
              <a:rPr lang="en-US" dirty="0"/>
              <a:t>Sharpen kernel: increases contrast. Shows local details.</a:t>
            </a:r>
          </a:p>
          <a:p>
            <a:endParaRPr lang="en-US" dirty="0"/>
          </a:p>
          <a:p>
            <a:r>
              <a:rPr lang="en-US" dirty="0"/>
              <a:t>Edge detection kernel: detect edges in images due to color contrast.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E66796-55F3-F549-2D48-051F9044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kernels</a:t>
            </a:r>
          </a:p>
        </p:txBody>
      </p:sp>
      <p:pic>
        <p:nvPicPr>
          <p:cNvPr id="4" name="Picture 3" descr="Shown above is an animation of applying a convolution to an image with a  kernel. This operation slides a small matrix, known as a kernel or filter,  over the image to compute">
            <a:extLst>
              <a:ext uri="{FF2B5EF4-FFF2-40B4-BE49-F238E27FC236}">
                <a16:creationId xmlns:a16="http://schemas.microsoft.com/office/drawing/2014/main" id="{971EE0D8-C867-B11C-26FE-5D8C34579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307" y="100951"/>
            <a:ext cx="3590693" cy="451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7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517874-5635-D5A7-9557-DE6C88ED2B49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If kernels can extract information from images, why not create custom kernels?</a:t>
            </a:r>
          </a:p>
          <a:p>
            <a:endParaRPr lang="en-US" dirty="0"/>
          </a:p>
          <a:p>
            <a:r>
              <a:rPr lang="en-US" dirty="0"/>
              <a:t>Advantage: kernels are small. A 3x3 kernel can be used on much bigger images.</a:t>
            </a:r>
          </a:p>
          <a:p>
            <a:endParaRPr lang="en-US" dirty="0"/>
          </a:p>
          <a:p>
            <a:r>
              <a:rPr lang="en-US" dirty="0"/>
              <a:t>Hope: apply multiple kernels to an image to extract all needed information to “understand” the image.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3A1A3F-E078-226D-CFF4-E0E65D44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kernels can be learned?</a:t>
            </a:r>
          </a:p>
        </p:txBody>
      </p:sp>
    </p:spTree>
    <p:extLst>
      <p:ext uri="{BB962C8B-B14F-4D97-AF65-F5344CB8AC3E}">
        <p14:creationId xmlns:p14="http://schemas.microsoft.com/office/powerpoint/2010/main" val="105534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64333A-3E37-EF26-2F75-B3173249F358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B6081B-FE3B-2678-8CDC-5C213A02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(CNNs)</a:t>
            </a:r>
          </a:p>
        </p:txBody>
      </p:sp>
      <p:pic>
        <p:nvPicPr>
          <p:cNvPr id="4" name="Picture 3" descr="A Guide to Convolutional Neural Networks — the ELI5 way | Saturn Cloud Blog">
            <a:extLst>
              <a:ext uri="{FF2B5EF4-FFF2-40B4-BE49-F238E27FC236}">
                <a16:creationId xmlns:a16="http://schemas.microsoft.com/office/drawing/2014/main" id="{C8CB4BE0-BC87-A80A-0786-647B931D7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75" y="750905"/>
            <a:ext cx="7292450" cy="390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0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343CE0-0C94-F582-FD2C-FC126BFD2A94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The state of the art (until very recently) for vision.</a:t>
            </a:r>
          </a:p>
          <a:p>
            <a:endParaRPr lang="en-US" dirty="0"/>
          </a:p>
          <a:p>
            <a:r>
              <a:rPr lang="en-US" dirty="0"/>
              <a:t>Efficient, spatial invariant architecture.</a:t>
            </a:r>
          </a:p>
          <a:p>
            <a:endParaRPr lang="en-US" dirty="0"/>
          </a:p>
          <a:p>
            <a:r>
              <a:rPr lang="en-US" dirty="0"/>
              <a:t>Able to utilize spatial information.</a:t>
            </a:r>
          </a:p>
          <a:p>
            <a:endParaRPr lang="en-US" dirty="0"/>
          </a:p>
          <a:p>
            <a:r>
              <a:rPr lang="en-US" dirty="0"/>
              <a:t>Can utilize deep architecture and learn with gradient descent.</a:t>
            </a:r>
          </a:p>
          <a:p>
            <a:endParaRPr lang="en-US" dirty="0"/>
          </a:p>
          <a:p>
            <a:r>
              <a:rPr lang="en-US" dirty="0"/>
              <a:t>What are the parameters in CNNs?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BB044A-F6CF-8827-D2A5-CD16EAF7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</a:t>
            </a:r>
          </a:p>
        </p:txBody>
      </p:sp>
    </p:spTree>
    <p:extLst>
      <p:ext uri="{BB962C8B-B14F-4D97-AF65-F5344CB8AC3E}">
        <p14:creationId xmlns:p14="http://schemas.microsoft.com/office/powerpoint/2010/main" val="293748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D9BED2-B9AD-C929-86FD-F0C7193B7808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Applying </a:t>
            </a:r>
            <a:r>
              <a:rPr lang="en-US" i="1" dirty="0"/>
              <a:t>d</a:t>
            </a:r>
            <a:r>
              <a:rPr lang="en-US" dirty="0"/>
              <a:t> kernels with </a:t>
            </a:r>
            <a:r>
              <a:rPr lang="en-US" i="1" dirty="0"/>
              <a:t>s</a:t>
            </a:r>
            <a:r>
              <a:rPr lang="en-US" dirty="0"/>
              <a:t> stride.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5C05D2-41A8-D880-288D-89DCD1AC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in a CNN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4255A4-CDD8-9417-603B-5349F4B6E130}"/>
              </a:ext>
            </a:extLst>
          </p:cNvPr>
          <p:cNvGrpSpPr/>
          <p:nvPr/>
        </p:nvGrpSpPr>
        <p:grpSpPr>
          <a:xfrm>
            <a:off x="403189" y="1608814"/>
            <a:ext cx="8070574" cy="2631882"/>
            <a:chOff x="403189" y="1608814"/>
            <a:chExt cx="8070574" cy="26318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A95EC1C-35C5-CF71-7F09-D9A3B8D6A82B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B523FC8-A1D3-3FBE-D6B1-139A48A4D758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87AFA50-F7E6-1B39-04FB-9A0E8ABAD87A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E8A7FA-75F8-A923-5B6A-5CB106B91509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E12F51-BB21-3497-5254-A7502529426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FBA60AD-35C0-D1F5-BAC8-583848E28EEE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637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5EBECC-6842-7368-74DB-D68B48C83E3C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Pooling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C7D01F-4FAF-F002-9F6F-597F50CC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in a CNN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BA427E-0A19-C8C5-FFE5-24D4C68B34CF}"/>
              </a:ext>
            </a:extLst>
          </p:cNvPr>
          <p:cNvGrpSpPr/>
          <p:nvPr/>
        </p:nvGrpSpPr>
        <p:grpSpPr>
          <a:xfrm>
            <a:off x="403189" y="1608814"/>
            <a:ext cx="8070574" cy="2631882"/>
            <a:chOff x="403189" y="1608814"/>
            <a:chExt cx="8070574" cy="26318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96ADF65-F494-37C0-07DA-CB9F2234AD13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4D824D5-608F-B24F-ED98-927B7C6314A1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3F6627-1167-7F95-AEB2-2A1CA1780A4C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31C7D22-EB3A-7DB9-B252-4C3250A7A4DE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D29CBF-6620-D801-261B-5F8A5DB8DF43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2B18093-EA08-6FAB-86CC-0E1CF2035C9C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765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EA72C5-7D07-7A2A-4F67-CFAB0409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CNN: Applying kernels and pooling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C29D23-A49C-0ECC-9538-73B818799525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021F987-9DC8-1FD8-9FE9-18F9D672BDF8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0D0D3C4-635E-CA53-B488-A3F10D9995DC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ACA6479-A22F-C93E-3B70-279EED9D6813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7C15EA-3513-064A-3A00-76266084AF95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3C2AEE-64BA-678B-CC4D-DF367F178A0F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506FE2-855C-406D-A156-613744E90035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1A5F00-7E5E-AD27-F683-E1FA58B48685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499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1DA3C-A2B1-668B-5142-AC527A7C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CNN: Applying kernels and pooling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8D2918-F2D5-BDAC-36DF-61E60DA63281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FDC8094-4BD9-B35B-B1A0-53DECE71BA8D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EE8F759-70CB-C095-84E8-AA3C0128774E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9EFDF41-6762-5B6C-FBFD-61ACCCD3393D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A71A7FB-F103-8A0A-ABB2-FA364E0C1821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E2EC47B-8334-DDC7-16DE-DD89BC21F8E2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183FE7-931A-8041-AF62-14EF3DCC74DA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9D87E37-8A6D-B8E4-6609-68892E4E075A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0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1AA914-7C68-E38B-575B-175981EF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CNN: Full Implementation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BD1147-E4C5-17B4-7BFA-1195A2DD1A66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9883743-8C76-3C8C-BE95-86E1B0BFBA10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BF8A862-FA33-5365-5E80-DC32791D01F4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FEB75DA-7AF6-C374-07E8-BAC590E3C2B4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7A535B-50DF-F6F5-D576-EE355727DBDB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AF301A9-787E-BF5B-1732-BC85394638D9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9C261E9-C40F-9B11-8843-F887BC393B95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DEA3E73-7C3B-8A6C-BB08-0D4583BA5B62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891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Materials from this handout used Machine Learning, A First Course for Engineers and Scientists by Lindholm et. al (March 4</a:t>
            </a:r>
            <a:r>
              <a:rPr lang="en-US" baseline="30000" dirty="0"/>
              <a:t>th</a:t>
            </a:r>
            <a:r>
              <a:rPr lang="en-US" dirty="0"/>
              <a:t>, 2026 version), section 6.3 as a reference. Access to this document is free at the publishers’ GitHub page. </a:t>
            </a:r>
          </a:p>
          <a:p>
            <a:r>
              <a:rPr lang="en-US" dirty="0"/>
              <a:t>The following was also used for materials: </a:t>
            </a:r>
            <a:r>
              <a:rPr lang="en-US" i="1" dirty="0"/>
              <a:t>Artificial Intelligence: A Modern Approach</a:t>
            </a:r>
            <a:r>
              <a:rPr lang="en-US" dirty="0"/>
              <a:t>, Russel and Norvig, 4</a:t>
            </a:r>
            <a:r>
              <a:rPr lang="en-US" baseline="30000" dirty="0"/>
              <a:t>th</a:t>
            </a:r>
            <a:r>
              <a:rPr lang="en-US" dirty="0"/>
              <a:t> edition, section 21.3.</a:t>
            </a:r>
          </a:p>
          <a:p>
            <a:endParaRPr lang="en-US" dirty="0"/>
          </a:p>
          <a:p>
            <a:r>
              <a:rPr lang="en-US" dirty="0"/>
              <a:t>Data Driven Science and Engineering: Machine Learning, Dynamical Systems and Control, Brunton and Kutz, 2</a:t>
            </a:r>
            <a:r>
              <a:rPr lang="en-US" baseline="30000" dirty="0"/>
              <a:t>nd</a:t>
            </a:r>
            <a:r>
              <a:rPr lang="en-US" dirty="0"/>
              <a:t> edition, section 6.5.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76C07-D41A-AEFA-B42E-48C3DBC6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53156F-1A2F-8505-D207-92180BBB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7336C1-5220-AC4A-445F-99497361E25F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70EE114-1063-253B-FB2C-BFA39DC3EF20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FBB1F5-906F-0250-0D16-77C4DC5D9A16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F31AFC-1484-5785-3E87-671DAC523D16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86074F-80CB-D98B-5737-52C190287FFE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965DB92-0732-96C5-B36D-D7853A6F6C83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003FED1-AAB1-F690-CB81-9E9A6B7731BE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BD5393A-A68F-5765-F267-E302B784B23C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543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PROJECT_OPEN" val="0"/>
  <p:tag name="ARTICULATE_SLIDE_COUNT" val="6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="" xmlns:ma14="http://schemas.microsoft.com/office/mac/drawingml/2011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3576</TotalTime>
  <Words>743</Words>
  <Application>Microsoft Macintosh PowerPoint</Application>
  <PresentationFormat>On-screen Show (16:9)</PresentationFormat>
  <Paragraphs>178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Palatino Linotype</vt:lpstr>
      <vt:lpstr>CP_ppt_standard_v1</vt:lpstr>
      <vt:lpstr>Digital Images and Vision</vt:lpstr>
      <vt:lpstr>Overview</vt:lpstr>
      <vt:lpstr>Neural Networks for Regression and Classification</vt:lpstr>
      <vt:lpstr>Digital Images (monochrome)</vt:lpstr>
      <vt:lpstr>Digital Images (Color Images)</vt:lpstr>
      <vt:lpstr>Colored Images Representation</vt:lpstr>
      <vt:lpstr>Other Color Representation</vt:lpstr>
      <vt:lpstr>Images for Machine Learning</vt:lpstr>
      <vt:lpstr>Is that it? Just Flatten Images?</vt:lpstr>
      <vt:lpstr>Processing Images</vt:lpstr>
      <vt:lpstr>Masks/Kernels</vt:lpstr>
      <vt:lpstr>The Convolution Operation</vt:lpstr>
      <vt:lpstr>The Convolution Operation</vt:lpstr>
      <vt:lpstr>The Convolution Operation</vt:lpstr>
      <vt:lpstr>Common kernels</vt:lpstr>
      <vt:lpstr>What if kernels can be learned?</vt:lpstr>
      <vt:lpstr>Convolutional Neural Networks (CNNs)</vt:lpstr>
      <vt:lpstr>CNNs</vt:lpstr>
      <vt:lpstr>Operations in a CNN</vt:lpstr>
      <vt:lpstr>Operations in a CNN</vt:lpstr>
      <vt:lpstr>Sample CNN: Applying kernels and pooling</vt:lpstr>
      <vt:lpstr>Sample CNN: Applying kernels and pooling</vt:lpstr>
      <vt:lpstr>Sample CNN: Full Implementation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8</cp:revision>
  <dcterms:modified xsi:type="dcterms:W3CDTF">2026-10-14T14:39:06Z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