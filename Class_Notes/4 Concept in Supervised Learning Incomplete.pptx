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14"/>
  </p:notesMasterIdLst>
  <p:sldIdLst>
    <p:sldId id="315" r:id="rId2"/>
    <p:sldId id="343" r:id="rId3"/>
    <p:sldId id="353" r:id="rId4"/>
    <p:sldId id="355" r:id="rId5"/>
    <p:sldId id="352" r:id="rId6"/>
    <p:sldId id="354" r:id="rId7"/>
    <p:sldId id="356" r:id="rId8"/>
    <p:sldId id="358" r:id="rId9"/>
    <p:sldId id="359" r:id="rId10"/>
    <p:sldId id="361" r:id="rId11"/>
    <p:sldId id="362" r:id="rId12"/>
    <p:sldId id="360" r:id="rId13"/>
  </p:sldIdLst>
  <p:sldSz cx="9144000" cy="5143500" type="screen16x9"/>
  <p:notesSz cx="9236075" cy="7010400"/>
  <p:custDataLst>
    <p:tags r:id="rId15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B00"/>
    <a:srgbClr val="C6C0B7"/>
    <a:srgbClr val="3B3523"/>
    <a:srgbClr val="F0EED7"/>
    <a:srgbClr val="857756"/>
    <a:srgbClr val="7E7462"/>
    <a:srgbClr val="273015"/>
    <a:srgbClr val="4F512F"/>
    <a:srgbClr val="295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A19DEF-8E8A-6646-9911-56B7CE305C0D}" v="6" dt="2026-09-10T21:22:34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/>
    <p:restoredTop sz="94795"/>
  </p:normalViewPr>
  <p:slideViewPr>
    <p:cSldViewPr snapToGrid="0">
      <p:cViewPr varScale="1">
        <p:scale>
          <a:sx n="160" d="100"/>
          <a:sy n="160" d="100"/>
        </p:scale>
        <p:origin x="124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944" y="18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9/10/26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9/10/26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 dirty="0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9/10/26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9/10/26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9/10/26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9/10/26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9/10/26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9/10/26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9/10/26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9/10/26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9/10/26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9/10/26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9/10/26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 dirty="0"/>
              <a:t>09/14/26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dirty="0"/>
              <a:t>Concepts in Supervised Learning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Statistics and Probabilities Review</a:t>
            </a:r>
          </a:p>
          <a:p>
            <a:r>
              <a:rPr lang="en-US" dirty="0"/>
              <a:t>Bias-Variance Decomposition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2EFEC0-9707-79AB-94FC-F8D37A92708F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23600" y="905399"/>
                <a:ext cx="8318119" cy="859321"/>
              </a:xfrm>
            </p:spPr>
            <p:txBody>
              <a:bodyPr/>
              <a:lstStyle/>
              <a:p>
                <a:r>
                  <a:rPr lang="en-US" dirty="0"/>
                  <a:t>We look at each input as a random variable (or vector of numbers)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 random variable is associated with a probability distribution.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42EFEC0-9707-79AB-94FC-F8D37A927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23600" y="905399"/>
                <a:ext cx="8318119" cy="859321"/>
              </a:xfrm>
              <a:blipFill>
                <a:blip r:embed="rId2"/>
                <a:stretch>
                  <a:fillRect l="-610" t="-8824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E4DB57D-810D-943C-6128-885A35AD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and Probabilities</a:t>
            </a:r>
          </a:p>
        </p:txBody>
      </p:sp>
      <p:pic>
        <p:nvPicPr>
          <p:cNvPr id="4" name="Picture 3" descr="Medium">
            <a:extLst>
              <a:ext uri="{FF2B5EF4-FFF2-40B4-BE49-F238E27FC236}">
                <a16:creationId xmlns:a16="http://schemas.microsoft.com/office/drawing/2014/main" id="{2F580C77-E6E1-FE25-56B2-48912C003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797" y="1764720"/>
            <a:ext cx="3660205" cy="20588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F9CFE357-3882-4DCF-CE89-C010A089D1B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9998" y="1701112"/>
                <a:ext cx="4878594" cy="13130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r>
                  <a:rPr lang="en-US" dirty="0"/>
                  <a:t>An input may be discrete, in which case, the probability the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equal to the exact value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</m:oMath>
                </a14:m>
                <a:r>
                  <a:rPr lang="en-US" dirty="0"/>
                  <a:t>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F9CFE357-3882-4DCF-CE89-C010A089D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998" y="1701112"/>
                <a:ext cx="4878594" cy="1313016"/>
              </a:xfrm>
              <a:prstGeom prst="rect">
                <a:avLst/>
              </a:prstGeom>
              <a:blipFill>
                <a:blip r:embed="rId4"/>
                <a:stretch>
                  <a:fillRect l="-1299" t="-1905" b="-9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160CC627-B464-4726-C6AE-F85C04E2884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9998" y="3077736"/>
                <a:ext cx="4878594" cy="17487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2000" kern="1200">
                    <a:solidFill>
                      <a:srgbClr val="595959"/>
                    </a:solidFill>
                    <a:latin typeface="Arial" panose="020B0604020202020204" pitchFamily="34" charset="0"/>
                    <a:ea typeface="MS PGothic" pitchFamily="34" charset="-128"/>
                    <a:cs typeface="Arial" panose="020B0604020202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Input can also be continuous. In which case, we generally think of the probability the random variable is within a band of values: example: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𝑣𝑎𝑙𝑢𝑒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160CC627-B464-4726-C6AE-F85C04E28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998" y="3077736"/>
                <a:ext cx="4878594" cy="1748706"/>
              </a:xfrm>
              <a:prstGeom prst="rect">
                <a:avLst/>
              </a:prstGeom>
              <a:blipFill>
                <a:blip r:embed="rId5"/>
                <a:stretch>
                  <a:fillRect l="-1299" t="-2158" r="-1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51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B71789-BD74-6A33-4428-BDCEE9E44873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Expected value of a random variable: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2135F0-DF40-09B2-ADF9-1BB3421D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and Probability</a:t>
            </a:r>
          </a:p>
        </p:txBody>
      </p: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65471B59-C63B-1443-6C5A-30A358E18BDF}"/>
              </a:ext>
            </a:extLst>
          </p:cNvPr>
          <p:cNvGrpSpPr/>
          <p:nvPr/>
        </p:nvGrpSpPr>
        <p:grpSpPr>
          <a:xfrm>
            <a:off x="547372" y="1371352"/>
            <a:ext cx="8070574" cy="3199075"/>
            <a:chOff x="403189" y="1041621"/>
            <a:chExt cx="8070574" cy="3199075"/>
          </a:xfrm>
        </p:grpSpPr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E71675B0-4F42-EDB1-352E-225C577E1E87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BC37A090-AA12-F26C-D0C9-E62EFDE5502B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1CD0230D-69B9-15A6-7C9D-D1A361B3417D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DE30C9C3-17BF-E3D8-A989-230610219699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105F95BA-9597-D1A9-39E9-4B95E798E66D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D7DE28B2-EDD6-0DD5-1023-5CF019AA77E5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3795FF68-1D00-D9A4-BED5-75DDE7AEE019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8617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0E4D5-7FE0-6D43-1F03-008B343222D1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Statistical Assumptions: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Inputs are </a:t>
            </a:r>
            <a:r>
              <a:rPr lang="en-US" u="sng" dirty="0" err="1"/>
              <a:t>iid</a:t>
            </a:r>
            <a:r>
              <a:rPr lang="en-US" u="sng" dirty="0"/>
              <a:t> (independent and identically distributed)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Triplet of: beam deformation, beam length and beam strain are </a:t>
            </a:r>
            <a:r>
              <a:rPr lang="en-US" u="sng" dirty="0"/>
              <a:t>not independent</a:t>
            </a:r>
            <a:r>
              <a:rPr lang="en-US" dirty="0"/>
              <a:t>. One should be removed.</a:t>
            </a:r>
          </a:p>
          <a:p>
            <a:pPr>
              <a:buFontTx/>
              <a:buChar char="-"/>
            </a:pPr>
            <a:r>
              <a:rPr lang="en-US" u="sng" dirty="0"/>
              <a:t>Identically Distributed</a:t>
            </a:r>
            <a:r>
              <a:rPr lang="en-US" dirty="0"/>
              <a:t>: Every row of data is assumed to be taken from the same probability distribution.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Data is well representative of the overall system behavior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1D21DE-1624-CCE9-906C-45CA5752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 Assumptions in 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65606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104139-D71D-4664-C1F7-B1DC2B4B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Variance-Bias Decomposition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398BA0D-EFFE-9D76-99D0-727D627A396B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8DB37DD-92AD-51EA-053F-33253D9C8EA5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9849A558-B15A-B32A-CCBE-ABFC41FC566D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E90AF355-E437-C048-407A-648AF04A1B82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BC722237-AB3A-FAE5-DD48-CFD9B66B4F8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7FE8D95E-04B7-822A-B1F0-79B45EB28B59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A1BB266-3C08-DA9E-5D1D-B7666D3E05C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D8007285-CECD-A8F8-2D54-59709D04537A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648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F50F56-2C0B-939D-5AC3-9316493E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Variance-Bias Decomposition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6677BA8-60A2-C1FE-8953-BE53A2C6A179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5016A6A-CC09-F443-A0CF-943F802CE99E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37B1C3D-D532-90DA-6855-B5F56A41A886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19BA019-97B8-10FC-25A0-5A2B6BCE8F9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5CEEF8B-6470-8440-04FF-A3F609B93CD0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4C2F0A3-F185-04C8-0A4F-28DE0C1FA187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1308115F-22CC-5404-2D81-014417275EFD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8A01D03A-84C9-105A-87D8-7457B960D278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385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EFD7FF-D2B5-C86B-77BD-ACC3DC6A596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3893958" cy="3650177"/>
          </a:xfrm>
        </p:spPr>
        <p:txBody>
          <a:bodyPr/>
          <a:lstStyle/>
          <a:p>
            <a:r>
              <a:rPr lang="en-US" dirty="0"/>
              <a:t>Bias is a measure of accuracy of our predictions.</a:t>
            </a:r>
          </a:p>
          <a:p>
            <a:r>
              <a:rPr lang="en-US" dirty="0"/>
              <a:t>Variance is a measure of consistency of predictions (and the nonlinearity/waviness of our prediction function)</a:t>
            </a:r>
          </a:p>
          <a:p>
            <a:r>
              <a:rPr lang="en-US" dirty="0"/>
              <a:t>Errors in machine learning are generally a combination of the effects of bias and variance.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8CF0AF-187A-1B4B-8ADD-9848CF38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Variance-Bias Trade-off</a:t>
            </a:r>
          </a:p>
        </p:txBody>
      </p:sp>
      <p:pic>
        <p:nvPicPr>
          <p:cNvPr id="4" name="Graphic 3" descr="Bias–variance tradeoff - Wikipedia">
            <a:extLst>
              <a:ext uri="{FF2B5EF4-FFF2-40B4-BE49-F238E27FC236}">
                <a16:creationId xmlns:a16="http://schemas.microsoft.com/office/drawing/2014/main" id="{1DF19F5D-80FB-2B2E-4002-FC09D0D55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4435" y="1304402"/>
            <a:ext cx="46863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7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9D9C3A-0E6B-3418-558F-517EA2BE6B7D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629736"/>
            <a:ext cx="8318119" cy="3650177"/>
          </a:xfrm>
        </p:spPr>
        <p:txBody>
          <a:bodyPr/>
          <a:lstStyle/>
          <a:p>
            <a:r>
              <a:rPr lang="en-US" dirty="0"/>
              <a:t>As models get more complex and nonlinear, we move from high bias models, to high variance models.</a:t>
            </a:r>
          </a:p>
          <a:p>
            <a:r>
              <a:rPr lang="en-US" dirty="0"/>
              <a:t>Usually, weak models </a:t>
            </a:r>
            <a:r>
              <a:rPr lang="en-US" dirty="0">
                <a:sym typeface="Wingdings" pitchFamily="2" charset="2"/>
              </a:rPr>
              <a:t> high bias  underfitting the data (we are not following the shape of the data well).</a:t>
            </a:r>
          </a:p>
          <a:p>
            <a:r>
              <a:rPr lang="en-US" dirty="0">
                <a:sym typeface="Wingdings" pitchFamily="2" charset="2"/>
              </a:rPr>
              <a:t>Very powerful models  high variance  overfitting the data (we are tracing the data too much and may be over-representing the effects of noise and uncertainty.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There is a sweet spot!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3E2930-F221-DEF5-38F5-72BF7BCE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Variance-Bias Trade-off</a:t>
            </a:r>
          </a:p>
        </p:txBody>
      </p:sp>
      <p:pic>
        <p:nvPicPr>
          <p:cNvPr id="4" name="Picture 3" descr="Bias-Variance Tradeoff – ML with Ramin">
            <a:extLst>
              <a:ext uri="{FF2B5EF4-FFF2-40B4-BE49-F238E27FC236}">
                <a16:creationId xmlns:a16="http://schemas.microsoft.com/office/drawing/2014/main" id="{C70C52B2-8781-C1CC-F6EC-0C230A4A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719" y="2784090"/>
            <a:ext cx="49530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6359558-3F6A-E922-E389-3FB206BC75C8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/>
            <p:txBody>
              <a:bodyPr/>
              <a:lstStyle/>
              <a:p>
                <a:r>
                  <a:rPr lang="en-US" dirty="0"/>
                  <a:t>In reality,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treated as a random variable as there is a sense of stochasticity (due to noise or uncertainty). In this case, the bias-variance decomposition becomes: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acc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irreducible error is a function of the variance of the real output (how consistently do you get to the same output with the same input)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6359558-3F6A-E922-E389-3FB206BC7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blipFill>
                <a:blip r:embed="rId2"/>
                <a:stretch>
                  <a:fillRect l="-762" t="-1042" r="-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0F85DC1-3155-8622-439E-821410A6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Variable as a RV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2F8EED-3521-67F9-E600-49D2B039D2D5}"/>
              </a:ext>
            </a:extLst>
          </p:cNvPr>
          <p:cNvGrpSpPr/>
          <p:nvPr/>
        </p:nvGrpSpPr>
        <p:grpSpPr>
          <a:xfrm>
            <a:off x="3271962" y="2583385"/>
            <a:ext cx="1387502" cy="688540"/>
            <a:chOff x="3271962" y="2583385"/>
            <a:chExt cx="1387502" cy="688540"/>
          </a:xfrm>
        </p:grpSpPr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B16E0051-6A58-E677-42DC-E3BB9AD1593F}"/>
                </a:ext>
              </a:extLst>
            </p:cNvPr>
            <p:cNvSpPr/>
            <p:nvPr/>
          </p:nvSpPr>
          <p:spPr>
            <a:xfrm rot="16200000">
              <a:off x="3818613" y="2036734"/>
              <a:ext cx="294199" cy="1387502"/>
            </a:xfrm>
            <a:prstGeom prst="leftBrac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C37CE68-15AC-FB2D-686A-E7569DF67263}"/>
                </a:ext>
              </a:extLst>
            </p:cNvPr>
            <p:cNvSpPr txBox="1"/>
            <p:nvPr/>
          </p:nvSpPr>
          <p:spPr bwMode="auto">
            <a:xfrm>
              <a:off x="3442773" y="2877585"/>
              <a:ext cx="1019979" cy="39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r>
                <a:rPr lang="en-US" sz="2800" dirty="0">
                  <a:solidFill>
                    <a:srgbClr val="29551A"/>
                  </a:solidFill>
                </a:rPr>
                <a:t>Variance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0B95E1-C8CF-BA65-FC95-9101CE674E7B}"/>
              </a:ext>
            </a:extLst>
          </p:cNvPr>
          <p:cNvGrpSpPr/>
          <p:nvPr/>
        </p:nvGrpSpPr>
        <p:grpSpPr>
          <a:xfrm>
            <a:off x="4935110" y="2583386"/>
            <a:ext cx="1298137" cy="688539"/>
            <a:chOff x="4935110" y="2583386"/>
            <a:chExt cx="1298137" cy="688539"/>
          </a:xfrm>
        </p:grpSpPr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35F95DAC-56D4-CB54-FAF3-1F39F74E0311}"/>
                </a:ext>
              </a:extLst>
            </p:cNvPr>
            <p:cNvSpPr/>
            <p:nvPr/>
          </p:nvSpPr>
          <p:spPr>
            <a:xfrm rot="16200000">
              <a:off x="5397612" y="2120884"/>
              <a:ext cx="294199" cy="1219203"/>
            </a:xfrm>
            <a:prstGeom prst="leftBrac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043CC8-DCD7-D6AA-BAAE-E54A17384654}"/>
                </a:ext>
              </a:extLst>
            </p:cNvPr>
            <p:cNvSpPr txBox="1"/>
            <p:nvPr/>
          </p:nvSpPr>
          <p:spPr bwMode="auto">
            <a:xfrm>
              <a:off x="5213268" y="2877585"/>
              <a:ext cx="1019979" cy="39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r>
                <a:rPr lang="en-US" sz="2800" dirty="0">
                  <a:solidFill>
                    <a:srgbClr val="29551A"/>
                  </a:solidFill>
                </a:rPr>
                <a:t>Bias</a:t>
              </a:r>
              <a:r>
                <a:rPr lang="en-US" sz="2800" baseline="30000" dirty="0">
                  <a:solidFill>
                    <a:srgbClr val="29551A"/>
                  </a:solidFill>
                </a:rPr>
                <a:t>2</a:t>
              </a:r>
              <a:endParaRPr lang="en-US" sz="2800" dirty="0">
                <a:solidFill>
                  <a:srgbClr val="29551A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476C5D-A39A-2940-5766-95603FB54B99}"/>
              </a:ext>
            </a:extLst>
          </p:cNvPr>
          <p:cNvGrpSpPr/>
          <p:nvPr/>
        </p:nvGrpSpPr>
        <p:grpSpPr>
          <a:xfrm>
            <a:off x="6429959" y="2583385"/>
            <a:ext cx="1019979" cy="688540"/>
            <a:chOff x="6429959" y="2583385"/>
            <a:chExt cx="1019979" cy="688540"/>
          </a:xfrm>
        </p:grpSpPr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8CCFCABA-2A3E-807C-2A0A-373C82DE2FC0}"/>
                </a:ext>
              </a:extLst>
            </p:cNvPr>
            <p:cNvSpPr/>
            <p:nvPr/>
          </p:nvSpPr>
          <p:spPr>
            <a:xfrm rot="16200000">
              <a:off x="6455136" y="2558209"/>
              <a:ext cx="294199" cy="344552"/>
            </a:xfrm>
            <a:prstGeom prst="leftBrac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4E1387-4319-A3C1-7634-2B49B597245B}"/>
                </a:ext>
              </a:extLst>
            </p:cNvPr>
            <p:cNvSpPr txBox="1"/>
            <p:nvPr/>
          </p:nvSpPr>
          <p:spPr bwMode="auto">
            <a:xfrm>
              <a:off x="6429959" y="2877585"/>
              <a:ext cx="1019979" cy="39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r>
                <a:rPr lang="en-US" sz="2800" dirty="0">
                  <a:solidFill>
                    <a:srgbClr val="29551A"/>
                  </a:solidFill>
                </a:rPr>
                <a:t>Irreducible error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648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Materials from this slides (slide 6 – 10) used Machine Learning, A First Course for Engineers and Scientists by Lindholm et. al (March 4</a:t>
            </a:r>
            <a:r>
              <a:rPr lang="en-US" baseline="30000" dirty="0"/>
              <a:t>th</a:t>
            </a:r>
            <a:r>
              <a:rPr lang="en-US" dirty="0"/>
              <a:t>, 2026 version), section 4.4 as a reference. Access to this document is free at the publishers’ GitHub page.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30AE-2636-E259-EEFC-59063E97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86C4AE-F6B7-2E9C-05FD-B54200E3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C1CB94-D17A-A46B-7EE0-AB3C51C43D3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FF3C5DA-1D0D-7B94-707B-03A28FD4400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8AC838C-637B-7880-60CA-9B838F3B82D2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760FE1-93F1-4FC6-611C-4322370F2C69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63499E-C2D0-E484-67C1-2EA7FA971AD4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20841E-0069-7B25-06EA-B2305D7AFD4C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3D137F2-D56E-B650-05DB-E13BCC0C863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E4E9FF6-C851-7B5E-EBA4-1B25D7CD74CD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81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SLIDE_THUMBNAIL_REFRESH" val="1"/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6986</TotalTime>
  <Words>455</Words>
  <Application>Microsoft Macintosh PowerPoint</Application>
  <PresentationFormat>On-screen Show (16:9)</PresentationFormat>
  <Paragraphs>52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Palatino Linotype</vt:lpstr>
      <vt:lpstr>Wingdings</vt:lpstr>
      <vt:lpstr>CP_ppt_standard_v1</vt:lpstr>
      <vt:lpstr>Concepts in Supervised Learning</vt:lpstr>
      <vt:lpstr>Overview</vt:lpstr>
      <vt:lpstr>Statistics and Probabilities</vt:lpstr>
      <vt:lpstr>Statistics and Probability</vt:lpstr>
      <vt:lpstr>General Assumptions in Supervised Learning</vt:lpstr>
      <vt:lpstr>Variance-Bias Decomposition</vt:lpstr>
      <vt:lpstr>Variance-Bias Decomposition</vt:lpstr>
      <vt:lpstr>Variance-Bias Trade-off</vt:lpstr>
      <vt:lpstr>Variance-Bias Trade-off</vt:lpstr>
      <vt:lpstr>Output Variable as a RV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205</cp:revision>
  <dcterms:modified xsi:type="dcterms:W3CDTF">2026-09-10T21:25:00Z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