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theme/theme2.xml" ContentType="application/vnd.openxmlformats-officedocument.theme+xml"/>
  <Override PartName="/ppt/tags/tag14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5.xml" ContentType="application/vnd.openxmlformats-officedocument.presentationml.tags+xml"/>
  <Override PartName="/ppt/notesSlides/notesSlide3.xml" ContentType="application/vnd.openxmlformats-officedocument.presentationml.notesSlide+xml"/>
  <Override PartName="/ppt/tags/tag16.xml" ContentType="application/vnd.openxmlformats-officedocument.presentationml.tags+xml"/>
  <Override PartName="/ppt/notesSlides/notesSlide4.xml" ContentType="application/vnd.openxmlformats-officedocument.presentationml.notesSlide+xml"/>
  <Override PartName="/ppt/tags/tag17.xml" ContentType="application/vnd.openxmlformats-officedocument.presentationml.tags+xml"/>
  <Override PartName="/ppt/notesSlides/notesSlide5.xml" ContentType="application/vnd.openxmlformats-officedocument.presentationml.notesSlide+xml"/>
  <Override PartName="/ppt/tags/tag18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7" r:id="rId1"/>
  </p:sldMasterIdLst>
  <p:notesMasterIdLst>
    <p:notesMasterId r:id="rId28"/>
  </p:notesMasterIdLst>
  <p:sldIdLst>
    <p:sldId id="315" r:id="rId2"/>
    <p:sldId id="343" r:id="rId3"/>
    <p:sldId id="478" r:id="rId4"/>
    <p:sldId id="479" r:id="rId5"/>
    <p:sldId id="480" r:id="rId6"/>
    <p:sldId id="481" r:id="rId7"/>
    <p:sldId id="482" r:id="rId8"/>
    <p:sldId id="483" r:id="rId9"/>
    <p:sldId id="484" r:id="rId10"/>
    <p:sldId id="474" r:id="rId11"/>
    <p:sldId id="467" r:id="rId12"/>
    <p:sldId id="468" r:id="rId13"/>
    <p:sldId id="486" r:id="rId14"/>
    <p:sldId id="470" r:id="rId15"/>
    <p:sldId id="487" r:id="rId16"/>
    <p:sldId id="471" r:id="rId17"/>
    <p:sldId id="473" r:id="rId18"/>
    <p:sldId id="472" r:id="rId19"/>
    <p:sldId id="475" r:id="rId20"/>
    <p:sldId id="476" r:id="rId21"/>
    <p:sldId id="477" r:id="rId22"/>
    <p:sldId id="488" r:id="rId23"/>
    <p:sldId id="485" r:id="rId24"/>
    <p:sldId id="466" r:id="rId25"/>
    <p:sldId id="460" r:id="rId26"/>
    <p:sldId id="373" r:id="rId27"/>
  </p:sldIdLst>
  <p:sldSz cx="9144000" cy="5143500" type="screen16x9"/>
  <p:notesSz cx="9236075" cy="7010400"/>
  <p:custDataLst>
    <p:tags r:id="rId29"/>
  </p:custDataLst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A284"/>
    <a:srgbClr val="8B92DE"/>
    <a:srgbClr val="EAAB00"/>
    <a:srgbClr val="C6C0B7"/>
    <a:srgbClr val="3B3523"/>
    <a:srgbClr val="F0EED7"/>
    <a:srgbClr val="857756"/>
    <a:srgbClr val="7E7462"/>
    <a:srgbClr val="273015"/>
    <a:srgbClr val="4F51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282"/>
    <p:restoredTop sz="86533"/>
  </p:normalViewPr>
  <p:slideViewPr>
    <p:cSldViewPr snapToGrid="0">
      <p:cViewPr varScale="1">
        <p:scale>
          <a:sx n="144" d="100"/>
          <a:sy n="144" d="100"/>
        </p:scale>
        <p:origin x="624" y="19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35"/>
    </mc:Choice>
    <mc:Fallback>
      <c:style val="35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3B3523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875-4CA1-AFBF-A3E9F95F45C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857756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875-4CA1-AFBF-A3E9F95F45C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rgbClr val="C6C0B7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875-4CA1-AFBF-A3E9F95F45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74220736"/>
        <c:axId val="146502112"/>
      </c:barChart>
      <c:catAx>
        <c:axId val="17422073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146502112"/>
        <c:crosses val="autoZero"/>
        <c:auto val="1"/>
        <c:lblAlgn val="ctr"/>
        <c:lblOffset val="100"/>
        <c:noMultiLvlLbl val="0"/>
      </c:catAx>
      <c:valAx>
        <c:axId val="146502112"/>
        <c:scaling>
          <c:orientation val="minMax"/>
        </c:scaling>
        <c:delete val="0"/>
        <c:axPos val="l"/>
        <c:majorGridlines>
          <c:spPr>
            <a:ln w="3173">
              <a:solidFill>
                <a:srgbClr val="808080"/>
              </a:solidFill>
              <a:prstDash val="solid"/>
            </a:ln>
          </c:spPr>
        </c:majorGridlines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174220736"/>
        <c:crosses val="autoZero"/>
        <c:crossBetween val="between"/>
      </c:valAx>
      <c:spPr>
        <a:solidFill>
          <a:srgbClr val="F2F2F2"/>
        </a:solidFill>
        <a:ln w="25387">
          <a:noFill/>
        </a:ln>
      </c:spPr>
    </c:plotArea>
    <c:legend>
      <c:legendPos val="r"/>
      <c:layout>
        <c:manualLayout>
          <c:xMode val="edge"/>
          <c:yMode val="edge"/>
          <c:x val="0.67469879518072284"/>
          <c:y val="0.32344213649851633"/>
          <c:w val="0.28915662650602408"/>
          <c:h val="0.37982195845697331"/>
        </c:manualLayout>
      </c:layout>
      <c:overlay val="0"/>
      <c:spPr>
        <a:noFill/>
        <a:ln w="25387">
          <a:noFill/>
        </a:ln>
      </c:spPr>
      <c:txPr>
        <a:bodyPr/>
        <a:lstStyle/>
        <a:p>
          <a:pPr>
            <a:defRPr sz="1654" b="0" i="0" u="none" strike="noStrike" baseline="0">
              <a:solidFill>
                <a:srgbClr val="333333"/>
              </a:solidFill>
              <a:latin typeface="Palatino Linotype"/>
              <a:ea typeface="Palatino Linotype"/>
              <a:cs typeface="Palatino Linotype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FFFFFF"/>
    </a:solidFill>
    <a:ln>
      <a:noFill/>
    </a:ln>
  </c:spPr>
  <c:txPr>
    <a:bodyPr/>
    <a:lstStyle/>
    <a:p>
      <a:pPr>
        <a:defRPr sz="1799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35"/>
    </mc:Choice>
    <mc:Fallback>
      <c:style val="35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3B3523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A06-4755-B39D-439C5442E7D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857756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A06-4755-B39D-439C5442E7D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rgbClr val="C6C0B7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A06-4755-B39D-439C5442E7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51362160"/>
        <c:axId val="251362552"/>
      </c:barChart>
      <c:catAx>
        <c:axId val="25136216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362552"/>
        <c:crosses val="autoZero"/>
        <c:auto val="1"/>
        <c:lblAlgn val="ctr"/>
        <c:lblOffset val="100"/>
        <c:noMultiLvlLbl val="0"/>
      </c:catAx>
      <c:valAx>
        <c:axId val="251362552"/>
        <c:scaling>
          <c:orientation val="minMax"/>
        </c:scaling>
        <c:delete val="0"/>
        <c:axPos val="l"/>
        <c:majorGridlines>
          <c:spPr>
            <a:ln w="3173">
              <a:solidFill>
                <a:srgbClr val="808080"/>
              </a:solidFill>
              <a:prstDash val="solid"/>
            </a:ln>
          </c:spPr>
        </c:majorGridlines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362160"/>
        <c:crosses val="autoZero"/>
        <c:crossBetween val="between"/>
      </c:valAx>
      <c:spPr>
        <a:solidFill>
          <a:srgbClr val="F2F2F2"/>
        </a:solidFill>
        <a:ln w="25385">
          <a:noFill/>
        </a:ln>
      </c:spPr>
    </c:plotArea>
    <c:legend>
      <c:legendPos val="r"/>
      <c:layout>
        <c:manualLayout>
          <c:xMode val="edge"/>
          <c:yMode val="edge"/>
          <c:x val="0.67469879518072284"/>
          <c:y val="0.32344213649851633"/>
          <c:w val="0.28915662650602408"/>
          <c:h val="0.37982195845697331"/>
        </c:manualLayout>
      </c:layout>
      <c:overlay val="0"/>
      <c:spPr>
        <a:noFill/>
        <a:ln w="25385">
          <a:noFill/>
        </a:ln>
      </c:spPr>
      <c:txPr>
        <a:bodyPr/>
        <a:lstStyle/>
        <a:p>
          <a:pPr>
            <a:defRPr sz="1654" b="0" i="0" u="none" strike="noStrike" baseline="0">
              <a:solidFill>
                <a:srgbClr val="333333"/>
              </a:solidFill>
              <a:latin typeface="Palatino Linotype"/>
              <a:ea typeface="Palatino Linotype"/>
              <a:cs typeface="Palatino Linotype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FFFFFF"/>
    </a:solidFill>
    <a:ln>
      <a:noFill/>
    </a:ln>
  </c:spPr>
  <c:txPr>
    <a:bodyPr/>
    <a:lstStyle/>
    <a:p>
      <a:pPr>
        <a:defRPr sz="1799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35"/>
    </mc:Choice>
    <mc:Fallback>
      <c:style val="35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3B3523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EEC-4472-834A-CD78B91F17C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857756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EEC-4472-834A-CD78B91F17C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rgbClr val="C6C0B7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EEC-4472-834A-CD78B91F17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51363336"/>
        <c:axId val="251363728"/>
      </c:barChart>
      <c:catAx>
        <c:axId val="25136333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363728"/>
        <c:crosses val="autoZero"/>
        <c:auto val="1"/>
        <c:lblAlgn val="ctr"/>
        <c:lblOffset val="100"/>
        <c:noMultiLvlLbl val="0"/>
      </c:catAx>
      <c:valAx>
        <c:axId val="251363728"/>
        <c:scaling>
          <c:orientation val="minMax"/>
        </c:scaling>
        <c:delete val="0"/>
        <c:axPos val="l"/>
        <c:majorGridlines>
          <c:spPr>
            <a:ln w="3173">
              <a:solidFill>
                <a:srgbClr val="808080"/>
              </a:solidFill>
              <a:prstDash val="solid"/>
            </a:ln>
          </c:spPr>
        </c:majorGridlines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363336"/>
        <c:crosses val="autoZero"/>
        <c:crossBetween val="between"/>
      </c:valAx>
      <c:spPr>
        <a:solidFill>
          <a:srgbClr val="F2F2F2"/>
        </a:solidFill>
        <a:ln w="25387">
          <a:noFill/>
        </a:ln>
      </c:spPr>
    </c:plotArea>
    <c:legend>
      <c:legendPos val="r"/>
      <c:layout>
        <c:manualLayout>
          <c:xMode val="edge"/>
          <c:yMode val="edge"/>
          <c:x val="0.84421534936998854"/>
          <c:y val="0.34421364985163205"/>
          <c:w val="0.13745704467353953"/>
          <c:h val="0.37982195845697331"/>
        </c:manualLayout>
      </c:layout>
      <c:overlay val="0"/>
      <c:spPr>
        <a:noFill/>
        <a:ln w="25387">
          <a:noFill/>
        </a:ln>
      </c:spPr>
      <c:txPr>
        <a:bodyPr/>
        <a:lstStyle/>
        <a:p>
          <a:pPr>
            <a:defRPr sz="1654" b="0" i="0" u="none" strike="noStrike" baseline="0">
              <a:solidFill>
                <a:srgbClr val="333333"/>
              </a:solidFill>
              <a:latin typeface="Palatino Linotype"/>
              <a:ea typeface="Palatino Linotype"/>
              <a:cs typeface="Palatino Linotype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FFFFFF"/>
    </a:solidFill>
    <a:ln>
      <a:noFill/>
    </a:ln>
  </c:spPr>
  <c:txPr>
    <a:bodyPr/>
    <a:lstStyle/>
    <a:p>
      <a:pPr>
        <a:defRPr sz="1799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38080">
              <a:solidFill>
                <a:srgbClr val="333300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27A-48D0-BD55-17F64B850A7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38080">
              <a:solidFill>
                <a:srgbClr val="90713A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27A-48D0-BD55-17F64B850A7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38080">
              <a:solidFill>
                <a:srgbClr val="333300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27A-48D0-BD55-17F64B850A7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51364512"/>
        <c:axId val="251364904"/>
      </c:lineChart>
      <c:catAx>
        <c:axId val="2513645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364904"/>
        <c:crosses val="autoZero"/>
        <c:auto val="1"/>
        <c:lblAlgn val="ctr"/>
        <c:lblOffset val="100"/>
        <c:noMultiLvlLbl val="0"/>
      </c:catAx>
      <c:valAx>
        <c:axId val="251364904"/>
        <c:scaling>
          <c:orientation val="minMax"/>
        </c:scaling>
        <c:delete val="0"/>
        <c:axPos val="l"/>
        <c:majorGridlines>
          <c:spPr>
            <a:ln w="3173">
              <a:solidFill>
                <a:srgbClr val="808080"/>
              </a:solidFill>
              <a:prstDash val="solid"/>
            </a:ln>
          </c:spPr>
        </c:majorGridlines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364512"/>
        <c:crosses val="autoZero"/>
        <c:crossBetween val="between"/>
      </c:valAx>
      <c:spPr>
        <a:solidFill>
          <a:srgbClr val="F2F2F2"/>
        </a:solidFill>
        <a:ln w="25387">
          <a:noFill/>
        </a:ln>
      </c:spPr>
    </c:plotArea>
    <c:legend>
      <c:legendPos val="r"/>
      <c:layout>
        <c:manualLayout>
          <c:xMode val="edge"/>
          <c:yMode val="edge"/>
          <c:x val="0.66987951807228918"/>
          <c:y val="0.32344213649851633"/>
          <c:w val="0.29638554216867469"/>
          <c:h val="0.37982195845697331"/>
        </c:manualLayout>
      </c:layout>
      <c:overlay val="0"/>
      <c:spPr>
        <a:noFill/>
        <a:ln w="25387">
          <a:noFill/>
        </a:ln>
      </c:spPr>
      <c:txPr>
        <a:bodyPr/>
        <a:lstStyle/>
        <a:p>
          <a:pPr>
            <a:defRPr sz="1654" b="0" i="0" u="none" strike="noStrike" baseline="0">
              <a:solidFill>
                <a:srgbClr val="333333"/>
              </a:solidFill>
              <a:latin typeface="Palatino Linotype"/>
              <a:ea typeface="Palatino Linotype"/>
              <a:cs typeface="Palatino Linotype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799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38077">
              <a:solidFill>
                <a:srgbClr val="333300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136-4F72-A118-34CB4C66CEA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38077">
              <a:solidFill>
                <a:srgbClr val="90713A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136-4F72-A118-34CB4C66CEA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38077">
              <a:solidFill>
                <a:srgbClr val="333300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136-4F72-A118-34CB4C66CEA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51365688"/>
        <c:axId val="251989008"/>
      </c:lineChart>
      <c:catAx>
        <c:axId val="2513656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989008"/>
        <c:crosses val="autoZero"/>
        <c:auto val="1"/>
        <c:lblAlgn val="ctr"/>
        <c:lblOffset val="100"/>
        <c:noMultiLvlLbl val="0"/>
      </c:catAx>
      <c:valAx>
        <c:axId val="251989008"/>
        <c:scaling>
          <c:orientation val="minMax"/>
        </c:scaling>
        <c:delete val="0"/>
        <c:axPos val="l"/>
        <c:majorGridlines>
          <c:spPr>
            <a:ln w="3173">
              <a:solidFill>
                <a:srgbClr val="808080"/>
              </a:solidFill>
              <a:prstDash val="solid"/>
            </a:ln>
          </c:spPr>
        </c:majorGridlines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365688"/>
        <c:crosses val="autoZero"/>
        <c:crossBetween val="between"/>
      </c:valAx>
      <c:spPr>
        <a:solidFill>
          <a:srgbClr val="F2F2F2"/>
        </a:solidFill>
        <a:ln w="25385">
          <a:noFill/>
        </a:ln>
      </c:spPr>
    </c:plotArea>
    <c:legend>
      <c:legendPos val="r"/>
      <c:layout>
        <c:manualLayout>
          <c:xMode val="edge"/>
          <c:yMode val="edge"/>
          <c:x val="0.66987951807228918"/>
          <c:y val="0.32344213649851633"/>
          <c:w val="0.29638554216867469"/>
          <c:h val="0.37982195845697331"/>
        </c:manualLayout>
      </c:layout>
      <c:overlay val="0"/>
      <c:spPr>
        <a:noFill/>
        <a:ln w="25385">
          <a:noFill/>
        </a:ln>
      </c:spPr>
      <c:txPr>
        <a:bodyPr/>
        <a:lstStyle/>
        <a:p>
          <a:pPr>
            <a:defRPr sz="1654" b="0" i="0" u="none" strike="noStrike" baseline="0">
              <a:solidFill>
                <a:srgbClr val="333333"/>
              </a:solidFill>
              <a:latin typeface="Palatino Linotype"/>
              <a:ea typeface="Palatino Linotype"/>
              <a:cs typeface="Palatino Linotype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799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38080">
              <a:solidFill>
                <a:srgbClr val="333300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580-4918-B3E2-DDF92CD730A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38080">
              <a:solidFill>
                <a:srgbClr val="90713A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580-4918-B3E2-DDF92CD730A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38080">
              <a:solidFill>
                <a:srgbClr val="333300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580-4918-B3E2-DDF92CD730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51989792"/>
        <c:axId val="251990184"/>
      </c:lineChart>
      <c:catAx>
        <c:axId val="25198979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990184"/>
        <c:crosses val="autoZero"/>
        <c:auto val="1"/>
        <c:lblAlgn val="ctr"/>
        <c:lblOffset val="100"/>
        <c:noMultiLvlLbl val="0"/>
      </c:catAx>
      <c:valAx>
        <c:axId val="251990184"/>
        <c:scaling>
          <c:orientation val="minMax"/>
        </c:scaling>
        <c:delete val="0"/>
        <c:axPos val="l"/>
        <c:majorGridlines>
          <c:spPr>
            <a:ln w="3173">
              <a:solidFill>
                <a:srgbClr val="808080"/>
              </a:solidFill>
              <a:prstDash val="solid"/>
            </a:ln>
          </c:spPr>
        </c:majorGridlines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989792"/>
        <c:crosses val="autoZero"/>
        <c:crossBetween val="between"/>
      </c:valAx>
      <c:spPr>
        <a:solidFill>
          <a:srgbClr val="F2F2F2"/>
        </a:solidFill>
        <a:ln w="25387">
          <a:noFill/>
        </a:ln>
      </c:spPr>
    </c:plotArea>
    <c:legend>
      <c:legendPos val="r"/>
      <c:layout>
        <c:manualLayout>
          <c:xMode val="edge"/>
          <c:yMode val="edge"/>
          <c:x val="0.84077892325315007"/>
          <c:y val="0.34421364985163205"/>
          <c:w val="0.14089347079037801"/>
          <c:h val="0.37982195845697331"/>
        </c:manualLayout>
      </c:layout>
      <c:overlay val="0"/>
      <c:spPr>
        <a:noFill/>
        <a:ln w="25387">
          <a:noFill/>
        </a:ln>
      </c:spPr>
      <c:txPr>
        <a:bodyPr/>
        <a:lstStyle/>
        <a:p>
          <a:pPr>
            <a:defRPr sz="1654" b="0" i="0" u="none" strike="noStrike" baseline="0">
              <a:solidFill>
                <a:srgbClr val="333333"/>
              </a:solidFill>
              <a:latin typeface="Palatino Linotype"/>
              <a:ea typeface="Palatino Linotype"/>
              <a:cs typeface="Palatino Linotype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799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02088" cy="3508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32400" y="0"/>
            <a:ext cx="4002088" cy="3508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22FB6A-490F-4111-A206-DEEE4C4B3FDD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6188" y="876300"/>
            <a:ext cx="4203700" cy="2365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23925" y="3373438"/>
            <a:ext cx="7388225" cy="27606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659563"/>
            <a:ext cx="4002088" cy="3508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32400" y="6659563"/>
            <a:ext cx="4002088" cy="3508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28B74E-131A-480B-93D4-B718A5EEA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Welcome and Introductions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28B74E-131A-480B-93D4-B718A5EEA7A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0588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28B74E-131A-480B-93D4-B718A5EEA7A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2047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07208-3FC7-9140-4FCA-E1CA08D7F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9379AB-F97B-C328-EC9B-054C8D9EE0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293CA5-D397-4391-3E2B-1D3B921DC3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Welcome and Introductions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35D5CD-1A58-E186-AC35-05C2278554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28B74E-131A-480B-93D4-B718A5EEA7A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1611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DBEBB-C3BD-0816-5DB6-4AAA026D7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598F00-8147-0D12-EE38-80047BE938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26A194-CB61-998A-9E18-BB429B551C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Welcome and Introductions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7DEE2B-F7B6-9187-BBE6-7E402CCBFC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28B74E-131A-480B-93D4-B718A5EEA7A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0466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B82E8F-C733-3F35-BCA7-44175D1A6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8AAFEB-3776-FCBB-A1FB-2C30396F3B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728451-E0DD-04F2-90E4-DC57F1772A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Welcome and Introductions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1996DC-F39D-9B84-E418-89AC5611D4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28B74E-131A-480B-93D4-B718A5EEA7A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5208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A1FC8-2C06-B61D-1B4C-8399B02CB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E241F4-C428-B641-04F9-0A87CC1D84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5FD415-FCD4-412C-AC40-FBD0FF15C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Welcome and Introductions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78BAC6-F504-65C3-B29F-D6D3A045F9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28B74E-131A-480B-93D4-B718A5EEA7A9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9170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28B74E-131A-480B-93D4-B718A5EEA7A9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7540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P logo (green 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3225" y="1068388"/>
            <a:ext cx="5797550" cy="2579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2260600" y="4719638"/>
            <a:ext cx="4622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www.calpoly.edu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20602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P logo (white on gre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51438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2260600" y="4719638"/>
            <a:ext cx="4622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www.calpoly.edu</a:t>
            </a:r>
          </a:p>
        </p:txBody>
      </p:sp>
      <p:pic>
        <p:nvPicPr>
          <p:cNvPr id="4" name="Pictur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3225" y="1068388"/>
            <a:ext cx="5797550" cy="2579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61977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P logo (white on 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5143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2260600" y="4719638"/>
            <a:ext cx="4622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www.calpoly.edu</a:t>
            </a:r>
          </a:p>
        </p:txBody>
      </p:sp>
      <p:pic>
        <p:nvPicPr>
          <p:cNvPr id="4" name="Pictur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3225" y="1068388"/>
            <a:ext cx="5797550" cy="2579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68541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stang Way (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2260600" y="4719638"/>
            <a:ext cx="4622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www.calpoly.edu</a:t>
            </a:r>
          </a:p>
        </p:txBody>
      </p:sp>
      <p:pic>
        <p:nvPicPr>
          <p:cNvPr id="4" name="Pictur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763" y="792163"/>
            <a:ext cx="7315200" cy="321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31005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stang Way (on gre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51438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2260600" y="4719638"/>
            <a:ext cx="4622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www.calpoly.edu</a:t>
            </a:r>
          </a:p>
        </p:txBody>
      </p:sp>
      <p:pic>
        <p:nvPicPr>
          <p:cNvPr id="4" name="Pictur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792163"/>
            <a:ext cx="7315200" cy="321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0492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stang Way (on 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5143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2260600" y="4719638"/>
            <a:ext cx="4622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www.calpoly.edu</a:t>
            </a:r>
          </a:p>
        </p:txBody>
      </p:sp>
      <p:pic>
        <p:nvPicPr>
          <p:cNvPr id="4" name="Pictur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792163"/>
            <a:ext cx="7315200" cy="321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33867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mall first (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722313" y="2797175"/>
            <a:ext cx="7699375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629176" y="2796888"/>
            <a:ext cx="7792510" cy="1277277"/>
          </a:xfrm>
        </p:spPr>
        <p:txBody>
          <a:bodyPr anchor="t">
            <a:normAutofit/>
          </a:bodyPr>
          <a:lstStyle>
            <a:lvl1pPr algn="l">
              <a:defRPr sz="4000" b="1" i="0" cap="none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629176" y="1586575"/>
            <a:ext cx="7792510" cy="1125140"/>
          </a:xfrm>
        </p:spPr>
        <p:txBody>
          <a:bodyPr anchor="b">
            <a:normAutofit/>
          </a:bodyPr>
          <a:lstStyle>
            <a:lvl1pPr marL="0" indent="0">
              <a:buNone/>
              <a:defRPr sz="2400" b="0" i="1" baseline="0">
                <a:solidFill>
                  <a:schemeClr val="tx1">
                    <a:tint val="75000"/>
                  </a:schemeClr>
                </a:solidFill>
                <a:latin typeface="Palatino Linotype"/>
                <a:cs typeface="Palatino Linotype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4D28C2B7-260A-4959-9A53-DAB58A9ED79E}" type="datetime1">
              <a:rPr lang="en-US" smtClean="0"/>
              <a:t>10/27/26</a:t>
            </a:fld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1D92EBE0-0249-4044-84F4-57F8D69799D7}" type="slidenum">
              <a:rPr lang="en-US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28315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mall first (on gre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51438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722313" y="2797175"/>
            <a:ext cx="7699375" cy="0"/>
          </a:xfrm>
          <a:prstGeom prst="line">
            <a:avLst/>
          </a:prstGeom>
          <a:ln w="28575" cmpd="sng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629176" y="2796888"/>
            <a:ext cx="7792510" cy="1277277"/>
          </a:xfrm>
        </p:spPr>
        <p:txBody>
          <a:bodyPr anchor="t">
            <a:normAutofit/>
          </a:bodyPr>
          <a:lstStyle>
            <a:lvl1pPr algn="l">
              <a:defRPr sz="4000" b="1" i="0" cap="none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629176" y="1586575"/>
            <a:ext cx="7792510" cy="1125140"/>
          </a:xfrm>
        </p:spPr>
        <p:txBody>
          <a:bodyPr anchor="b">
            <a:normAutofit/>
          </a:bodyPr>
          <a:lstStyle>
            <a:lvl1pPr marL="0" indent="0">
              <a:buNone/>
              <a:defRPr sz="2400" b="0" i="1" baseline="0">
                <a:solidFill>
                  <a:srgbClr val="FFFFFF"/>
                </a:solidFill>
                <a:latin typeface="Palatino Linotype"/>
                <a:cs typeface="Palatino Linotype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D8044B52-DC41-452D-81DE-C4050E96D070}" type="datetime1">
              <a:rPr lang="en-US" smtClean="0"/>
              <a:t>10/27/26</a:t>
            </a:fld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F7EB4627-764E-4956-AAA8-9BF00A666F4A}" type="slidenum">
              <a:rPr lang="en-US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2097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large first (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722313" y="2789238"/>
            <a:ext cx="7699375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2"/>
          <p:cNvSpPr>
            <a:spLocks noGrp="1"/>
          </p:cNvSpPr>
          <p:nvPr>
            <p:ph type="body" idx="13"/>
          </p:nvPr>
        </p:nvSpPr>
        <p:spPr>
          <a:xfrm>
            <a:off x="722316" y="2848823"/>
            <a:ext cx="7792510" cy="954209"/>
          </a:xfrm>
        </p:spPr>
        <p:txBody>
          <a:bodyPr>
            <a:normAutofit/>
          </a:bodyPr>
          <a:lstStyle>
            <a:lvl1pPr marL="0" indent="0" algn="r">
              <a:buNone/>
              <a:defRPr sz="2400" b="0" i="1" baseline="0">
                <a:solidFill>
                  <a:schemeClr val="tx1">
                    <a:tint val="75000"/>
                  </a:schemeClr>
                </a:solidFill>
                <a:latin typeface="Palatino Linotype"/>
                <a:cs typeface="Palatino Linotype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itle 1"/>
          <p:cNvSpPr>
            <a:spLocks noGrp="1"/>
          </p:cNvSpPr>
          <p:nvPr>
            <p:ph type="title"/>
          </p:nvPr>
        </p:nvSpPr>
        <p:spPr>
          <a:xfrm>
            <a:off x="629176" y="1989546"/>
            <a:ext cx="7792510" cy="1277277"/>
          </a:xfrm>
        </p:spPr>
        <p:txBody>
          <a:bodyPr anchor="t">
            <a:normAutofit/>
          </a:bodyPr>
          <a:lstStyle>
            <a:lvl1pPr algn="l">
              <a:defRPr sz="4000" b="1" i="0" cap="none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4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12D73FC4-C9B9-4C51-AA51-ADA91826A3DD}" type="datetime1">
              <a:rPr lang="en-US" smtClean="0"/>
              <a:t>10/27/26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5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8674670A-36EC-42D0-9FB9-ADC0562D6DC7}" type="slidenum">
              <a:rPr lang="en-US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94419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large first (on gre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51438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722313" y="2789238"/>
            <a:ext cx="7699375" cy="0"/>
          </a:xfrm>
          <a:prstGeom prst="line">
            <a:avLst/>
          </a:prstGeom>
          <a:ln w="28575" cmpd="sng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2"/>
          <p:cNvSpPr>
            <a:spLocks noGrp="1"/>
          </p:cNvSpPr>
          <p:nvPr>
            <p:ph type="body" idx="13"/>
          </p:nvPr>
        </p:nvSpPr>
        <p:spPr>
          <a:xfrm>
            <a:off x="722316" y="2848823"/>
            <a:ext cx="7792510" cy="954209"/>
          </a:xfrm>
        </p:spPr>
        <p:txBody>
          <a:bodyPr>
            <a:normAutofit/>
          </a:bodyPr>
          <a:lstStyle>
            <a:lvl1pPr marL="0" indent="0" algn="r">
              <a:buNone/>
              <a:defRPr sz="2400" b="0" i="1" baseline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629176" y="1989546"/>
            <a:ext cx="7792510" cy="1277277"/>
          </a:xfrm>
        </p:spPr>
        <p:txBody>
          <a:bodyPr anchor="t">
            <a:normAutofit/>
          </a:bodyPr>
          <a:lstStyle>
            <a:lvl1pPr algn="l">
              <a:defRPr sz="4000" b="1" i="0" cap="none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4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0BD1211A-9CE7-4E8F-9AB3-FC229049A63C}" type="datetime1">
              <a:rPr lang="en-US" smtClean="0"/>
              <a:t>10/27/26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5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EECA8F18-7321-4B36-A83D-9376A560E5CB}" type="slidenum">
              <a:rPr lang="en-US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60286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,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/>
          <p:cNvSpPr>
            <a:spLocks noGrp="1"/>
          </p:cNvSpPr>
          <p:nvPr>
            <p:ph idx="26"/>
          </p:nvPr>
        </p:nvSpPr>
        <p:spPr>
          <a:xfrm>
            <a:off x="423600" y="905398"/>
            <a:ext cx="8318119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2" name="Pictur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578"/>
          <a:stretch/>
        </p:blipFill>
        <p:spPr>
          <a:xfrm>
            <a:off x="8291512" y="4771619"/>
            <a:ext cx="852488" cy="342123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4014441" y="4788791"/>
            <a:ext cx="41812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0" i="1">
                <a:solidFill>
                  <a:schemeClr val="bg1">
                    <a:lumMod val="95000"/>
                  </a:schemeClr>
                </a:solidFill>
              </a:rPr>
              <a:t>ME 4452 Machine Learning in Mechanical Engineering</a:t>
            </a:r>
          </a:p>
        </p:txBody>
      </p:sp>
      <p:cxnSp>
        <p:nvCxnSpPr>
          <p:cNvPr id="10" name="Straight Connector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261032" y="4794992"/>
            <a:ext cx="0" cy="295169"/>
          </a:xfrm>
          <a:prstGeom prst="line">
            <a:avLst/>
          </a:prstGeom>
          <a:ln w="9525">
            <a:solidFill>
              <a:schemeClr val="bg1">
                <a:lumMod val="9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875545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+ text, one colum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/>
          <p:cNvSpPr>
            <a:spLocks noGrp="1"/>
          </p:cNvSpPr>
          <p:nvPr>
            <p:ph idx="26"/>
          </p:nvPr>
        </p:nvSpPr>
        <p:spPr>
          <a:xfrm>
            <a:off x="423600" y="905398"/>
            <a:ext cx="8318119" cy="3650177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2" name="Pictur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578"/>
          <a:stretch/>
        </p:blipFill>
        <p:spPr>
          <a:xfrm>
            <a:off x="8291512" y="4771619"/>
            <a:ext cx="852488" cy="342123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261032" y="4794992"/>
            <a:ext cx="0" cy="295169"/>
          </a:xfrm>
          <a:prstGeom prst="line">
            <a:avLst/>
          </a:prstGeom>
          <a:ln w="9525">
            <a:solidFill>
              <a:schemeClr val="bg1">
                <a:lumMod val="9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 userDrawn="1"/>
        </p:nvSpPr>
        <p:spPr>
          <a:xfrm>
            <a:off x="5000131" y="4788791"/>
            <a:ext cx="3195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0" i="1">
                <a:solidFill>
                  <a:schemeClr val="bg1">
                    <a:lumMod val="95000"/>
                  </a:schemeClr>
                </a:solidFill>
              </a:rPr>
              <a:t>Department Name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5757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,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8" name="Straight Connector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/>
          <p:cNvSpPr>
            <a:spLocks noGrp="1"/>
          </p:cNvSpPr>
          <p:nvPr>
            <p:ph idx="26"/>
          </p:nvPr>
        </p:nvSpPr>
        <p:spPr>
          <a:xfrm>
            <a:off x="423600" y="1372973"/>
            <a:ext cx="3944283" cy="3182602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27"/>
          </p:nvPr>
        </p:nvSpPr>
        <p:spPr>
          <a:xfrm>
            <a:off x="4783707" y="1372973"/>
            <a:ext cx="3944283" cy="3182602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"/>
          </p:nvPr>
        </p:nvSpPr>
        <p:spPr>
          <a:xfrm>
            <a:off x="4783970" y="850858"/>
            <a:ext cx="3944020" cy="384603"/>
          </a:xfrm>
        </p:spPr>
        <p:txBody>
          <a:bodyPr anchor="b">
            <a:normAutofit/>
          </a:bodyPr>
          <a:lstStyle>
            <a:lvl1pPr marL="0" indent="0">
              <a:buNone/>
              <a:defRPr sz="2100" b="1" i="1" baseline="0">
                <a:solidFill>
                  <a:srgbClr val="29551A"/>
                </a:solidFill>
                <a:latin typeface="Palatino Linotype"/>
                <a:cs typeface="Palatino Linotype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"/>
          <p:cNvSpPr>
            <a:spLocks noGrp="1"/>
          </p:cNvSpPr>
          <p:nvPr>
            <p:ph type="body" idx="30"/>
          </p:nvPr>
        </p:nvSpPr>
        <p:spPr>
          <a:xfrm>
            <a:off x="423863" y="850858"/>
            <a:ext cx="3944020" cy="384603"/>
          </a:xfrm>
        </p:spPr>
        <p:txBody>
          <a:bodyPr anchor="b">
            <a:normAutofit/>
          </a:bodyPr>
          <a:lstStyle>
            <a:lvl1pPr marL="0" indent="0">
              <a:buNone/>
              <a:defRPr sz="2100" b="1" i="1" baseline="0">
                <a:solidFill>
                  <a:srgbClr val="29551A"/>
                </a:solidFill>
                <a:latin typeface="Palatino Linotype"/>
                <a:cs typeface="Palatino Linotype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31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D771C787-8B4C-4AFC-AB2B-E8B32E4F9E13}" type="datetime1">
              <a:rPr lang="en-US" smtClean="0"/>
              <a:t>10/27/26</a:t>
            </a:fld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32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3F65B8BC-C975-44DF-9EAB-CC5566988564}" type="slidenum">
              <a:rPr lang="en-US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55774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hoto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idx="1"/>
          </p:nvPr>
        </p:nvSpPr>
        <p:spPr>
          <a:xfrm>
            <a:off x="0" y="591285"/>
            <a:ext cx="9144000" cy="4108974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7C35B14C-DC21-45FD-96B5-A57C3FAFCC49}" type="datetime1">
              <a:rPr lang="en-US" smtClean="0"/>
              <a:t>10/27/26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D30BC5C7-E9D8-4217-A430-5196F1B45A1B}" type="slidenum">
              <a:rPr lang="en-US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05122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photo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9144000" cy="4700259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BE73F47F-18AB-43F9-8F50-A370BCA2D027}" type="datetime1">
              <a:rPr lang="en-US" smtClean="0"/>
              <a:t>10/27/26</a:t>
            </a:fld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3ABDAD4C-F747-4892-9E02-B351A936328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858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hoto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Picture Placeholder 2"/>
          <p:cNvSpPr>
            <a:spLocks noGrp="1"/>
          </p:cNvSpPr>
          <p:nvPr>
            <p:ph type="pic" idx="39"/>
          </p:nvPr>
        </p:nvSpPr>
        <p:spPr>
          <a:xfrm>
            <a:off x="1" y="591284"/>
            <a:ext cx="4553712" cy="4108975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idx="40"/>
          </p:nvPr>
        </p:nvSpPr>
        <p:spPr>
          <a:xfrm>
            <a:off x="4590289" y="591284"/>
            <a:ext cx="4553712" cy="4108975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41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F6F468F2-F510-45C5-B43F-D0119B9D67AB}" type="datetime1">
              <a:rPr lang="en-US" smtClean="0"/>
              <a:t>10/27/26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2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32DF5F8B-1960-4890-8C1E-FCDF926B53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066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photos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Picture Placeholder 2"/>
          <p:cNvSpPr>
            <a:spLocks noGrp="1"/>
          </p:cNvSpPr>
          <p:nvPr>
            <p:ph type="pic" idx="39"/>
          </p:nvPr>
        </p:nvSpPr>
        <p:spPr>
          <a:xfrm>
            <a:off x="1" y="0"/>
            <a:ext cx="4553712" cy="4700259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idx="40"/>
          </p:nvPr>
        </p:nvSpPr>
        <p:spPr>
          <a:xfrm>
            <a:off x="4590289" y="0"/>
            <a:ext cx="4553712" cy="4700259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41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8F2B1312-F3D9-46A4-A38C-8A8E391D2291}" type="datetime1">
              <a:rPr lang="en-US" smtClean="0"/>
              <a:t>10/27/26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803CD76E-11F5-4F71-855B-93A5E04DA0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114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hoto 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idx="40"/>
          </p:nvPr>
        </p:nvSpPr>
        <p:spPr>
          <a:xfrm>
            <a:off x="1" y="591284"/>
            <a:ext cx="4553712" cy="4108975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idx="41"/>
          </p:nvPr>
        </p:nvSpPr>
        <p:spPr>
          <a:xfrm>
            <a:off x="4590289" y="591283"/>
            <a:ext cx="4553712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9" name="Picture Placeholder 2"/>
          <p:cNvSpPr>
            <a:spLocks noGrp="1"/>
          </p:cNvSpPr>
          <p:nvPr>
            <p:ph type="pic" idx="42"/>
          </p:nvPr>
        </p:nvSpPr>
        <p:spPr>
          <a:xfrm>
            <a:off x="4590289" y="2661147"/>
            <a:ext cx="4553712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2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43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6704BD63-F5AC-48AD-8254-910A4091EB66}" type="datetime1">
              <a:rPr lang="en-US" smtClean="0"/>
              <a:t>10/27/26</a:t>
            </a:fld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4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912C530F-F3F6-443B-A1B9-1325A18A852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04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photos 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idx="40"/>
          </p:nvPr>
        </p:nvSpPr>
        <p:spPr>
          <a:xfrm>
            <a:off x="1" y="0"/>
            <a:ext cx="4553712" cy="4700259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idx="41"/>
          </p:nvPr>
        </p:nvSpPr>
        <p:spPr>
          <a:xfrm>
            <a:off x="4590289" y="0"/>
            <a:ext cx="4553712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idx="42"/>
          </p:nvPr>
        </p:nvSpPr>
        <p:spPr>
          <a:xfrm>
            <a:off x="4590289" y="2368539"/>
            <a:ext cx="4553712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43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59122519-350A-4416-BA27-CADC4D4FF918}" type="datetime1">
              <a:rPr lang="en-US" smtClean="0"/>
              <a:t>10/27/26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4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1F2F584E-2F61-4D96-A427-222AAD1B533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501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hoto (6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idx="40"/>
          </p:nvPr>
        </p:nvSpPr>
        <p:spPr>
          <a:xfrm>
            <a:off x="1" y="591284"/>
            <a:ext cx="4553712" cy="2039111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idx="41"/>
          </p:nvPr>
        </p:nvSpPr>
        <p:spPr>
          <a:xfrm>
            <a:off x="4590289" y="591283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9" name="Picture Placeholder 2"/>
          <p:cNvSpPr>
            <a:spLocks noGrp="1"/>
          </p:cNvSpPr>
          <p:nvPr>
            <p:ph type="pic" idx="42"/>
          </p:nvPr>
        </p:nvSpPr>
        <p:spPr>
          <a:xfrm>
            <a:off x="4590289" y="2661147"/>
            <a:ext cx="4553712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2" name="Picture Placeholder 2"/>
          <p:cNvSpPr>
            <a:spLocks noGrp="1"/>
          </p:cNvSpPr>
          <p:nvPr>
            <p:ph type="pic" idx="44"/>
          </p:nvPr>
        </p:nvSpPr>
        <p:spPr>
          <a:xfrm>
            <a:off x="6885433" y="591283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4" name="Picture Placeholder 2"/>
          <p:cNvSpPr>
            <a:spLocks noGrp="1"/>
          </p:cNvSpPr>
          <p:nvPr>
            <p:ph type="pic" idx="45"/>
          </p:nvPr>
        </p:nvSpPr>
        <p:spPr>
          <a:xfrm>
            <a:off x="0" y="2662052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5" name="Picture Placeholder 2"/>
          <p:cNvSpPr>
            <a:spLocks noGrp="1"/>
          </p:cNvSpPr>
          <p:nvPr>
            <p:ph type="pic" idx="46"/>
          </p:nvPr>
        </p:nvSpPr>
        <p:spPr>
          <a:xfrm>
            <a:off x="2295144" y="2662052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47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1C31BB4D-A3FD-4DC6-A152-9228FEFA00F4}" type="datetime1">
              <a:rPr lang="en-US" smtClean="0"/>
              <a:t>10/27/26</a:t>
            </a:fld>
            <a:endParaRPr lang="en-US"/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48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A9B3B996-7AF6-4BC9-9324-7E488133B3A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878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photos (6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idx="40"/>
          </p:nvPr>
        </p:nvSpPr>
        <p:spPr>
          <a:xfrm>
            <a:off x="1" y="0"/>
            <a:ext cx="4553712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idx="41"/>
          </p:nvPr>
        </p:nvSpPr>
        <p:spPr>
          <a:xfrm>
            <a:off x="4590289" y="0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idx="43"/>
          </p:nvPr>
        </p:nvSpPr>
        <p:spPr>
          <a:xfrm>
            <a:off x="6885433" y="0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2" name="Picture Placeholder 2"/>
          <p:cNvSpPr>
            <a:spLocks noGrp="1"/>
          </p:cNvSpPr>
          <p:nvPr>
            <p:ph type="pic" idx="46"/>
          </p:nvPr>
        </p:nvSpPr>
        <p:spPr>
          <a:xfrm>
            <a:off x="4590289" y="2368539"/>
            <a:ext cx="4553712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3" name="Picture Placeholder 2"/>
          <p:cNvSpPr>
            <a:spLocks noGrp="1"/>
          </p:cNvSpPr>
          <p:nvPr>
            <p:ph type="pic" idx="47"/>
          </p:nvPr>
        </p:nvSpPr>
        <p:spPr>
          <a:xfrm>
            <a:off x="0" y="2368539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4" name="Picture Placeholder 2"/>
          <p:cNvSpPr>
            <a:spLocks noGrp="1"/>
          </p:cNvSpPr>
          <p:nvPr>
            <p:ph type="pic" idx="48"/>
          </p:nvPr>
        </p:nvSpPr>
        <p:spPr>
          <a:xfrm>
            <a:off x="2295144" y="2368539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2" name="Date Placeholder 3"/>
          <p:cNvSpPr>
            <a:spLocks noGrp="1"/>
          </p:cNvSpPr>
          <p:nvPr>
            <p:ph type="dt" sz="half" idx="49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B3E351CA-C82C-4663-93DF-2CA6F191E599}" type="datetime1">
              <a:rPr lang="en-US" smtClean="0"/>
              <a:t>10/27/26</a:t>
            </a:fld>
            <a:endParaRPr lang="en-US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50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C3968613-2F53-4FB9-9064-B0746BA197E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202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hoto (8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1" name="Picture Placeholder 2"/>
          <p:cNvSpPr>
            <a:spLocks noGrp="1"/>
          </p:cNvSpPr>
          <p:nvPr>
            <p:ph type="pic" idx="41"/>
          </p:nvPr>
        </p:nvSpPr>
        <p:spPr>
          <a:xfrm>
            <a:off x="4590289" y="591283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2" name="Picture Placeholder 2"/>
          <p:cNvSpPr>
            <a:spLocks noGrp="1"/>
          </p:cNvSpPr>
          <p:nvPr>
            <p:ph type="pic" idx="44"/>
          </p:nvPr>
        </p:nvSpPr>
        <p:spPr>
          <a:xfrm>
            <a:off x="6885433" y="591283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4" name="Picture Placeholder 2"/>
          <p:cNvSpPr>
            <a:spLocks noGrp="1"/>
          </p:cNvSpPr>
          <p:nvPr>
            <p:ph type="pic" idx="45"/>
          </p:nvPr>
        </p:nvSpPr>
        <p:spPr>
          <a:xfrm>
            <a:off x="0" y="2662052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5" name="Picture Placeholder 2"/>
          <p:cNvSpPr>
            <a:spLocks noGrp="1"/>
          </p:cNvSpPr>
          <p:nvPr>
            <p:ph type="pic" idx="46"/>
          </p:nvPr>
        </p:nvSpPr>
        <p:spPr>
          <a:xfrm>
            <a:off x="2295144" y="2662052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6" name="Picture Placeholder 2"/>
          <p:cNvSpPr>
            <a:spLocks noGrp="1"/>
          </p:cNvSpPr>
          <p:nvPr>
            <p:ph type="pic" idx="47"/>
          </p:nvPr>
        </p:nvSpPr>
        <p:spPr>
          <a:xfrm>
            <a:off x="0" y="591283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7" name="Picture Placeholder 2"/>
          <p:cNvSpPr>
            <a:spLocks noGrp="1"/>
          </p:cNvSpPr>
          <p:nvPr>
            <p:ph type="pic" idx="48"/>
          </p:nvPr>
        </p:nvSpPr>
        <p:spPr>
          <a:xfrm>
            <a:off x="2295144" y="591283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8" name="Picture Placeholder 2"/>
          <p:cNvSpPr>
            <a:spLocks noGrp="1"/>
          </p:cNvSpPr>
          <p:nvPr>
            <p:ph type="pic" idx="49"/>
          </p:nvPr>
        </p:nvSpPr>
        <p:spPr>
          <a:xfrm>
            <a:off x="4590288" y="2662052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2" name="Picture Placeholder 2"/>
          <p:cNvSpPr>
            <a:spLocks noGrp="1"/>
          </p:cNvSpPr>
          <p:nvPr>
            <p:ph type="pic" idx="50"/>
          </p:nvPr>
        </p:nvSpPr>
        <p:spPr>
          <a:xfrm>
            <a:off x="6885432" y="2662052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3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Date Placeholder 3"/>
          <p:cNvSpPr>
            <a:spLocks noGrp="1"/>
          </p:cNvSpPr>
          <p:nvPr>
            <p:ph type="dt" sz="half" idx="51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39B5916C-A037-4F53-A414-564B4EEC9E1B}" type="datetime1">
              <a:rPr lang="en-US" smtClean="0"/>
              <a:t>10/27/26</a:t>
            </a:fld>
            <a:endParaRPr lang="en-US"/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52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995253CE-9904-4998-823A-D3AFE445E1E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985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photos (8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1" name="Picture Placeholder 2"/>
          <p:cNvSpPr>
            <a:spLocks noGrp="1"/>
          </p:cNvSpPr>
          <p:nvPr>
            <p:ph type="pic" idx="41"/>
          </p:nvPr>
        </p:nvSpPr>
        <p:spPr>
          <a:xfrm>
            <a:off x="4590289" y="2369444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2" name="Picture Placeholder 2"/>
          <p:cNvSpPr>
            <a:spLocks noGrp="1"/>
          </p:cNvSpPr>
          <p:nvPr>
            <p:ph type="pic" idx="44"/>
          </p:nvPr>
        </p:nvSpPr>
        <p:spPr>
          <a:xfrm>
            <a:off x="6885433" y="2369444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6" name="Picture Placeholder 2"/>
          <p:cNvSpPr>
            <a:spLocks noGrp="1"/>
          </p:cNvSpPr>
          <p:nvPr>
            <p:ph type="pic" idx="47"/>
          </p:nvPr>
        </p:nvSpPr>
        <p:spPr>
          <a:xfrm>
            <a:off x="0" y="2369444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7" name="Picture Placeholder 2"/>
          <p:cNvSpPr>
            <a:spLocks noGrp="1"/>
          </p:cNvSpPr>
          <p:nvPr>
            <p:ph type="pic" idx="48"/>
          </p:nvPr>
        </p:nvSpPr>
        <p:spPr>
          <a:xfrm>
            <a:off x="2295144" y="2369444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9" name="Picture Placeholder 2"/>
          <p:cNvSpPr>
            <a:spLocks noGrp="1"/>
          </p:cNvSpPr>
          <p:nvPr>
            <p:ph type="pic" idx="49"/>
          </p:nvPr>
        </p:nvSpPr>
        <p:spPr>
          <a:xfrm>
            <a:off x="4590289" y="1066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3" name="Picture Placeholder 2"/>
          <p:cNvSpPr>
            <a:spLocks noGrp="1"/>
          </p:cNvSpPr>
          <p:nvPr>
            <p:ph type="pic" idx="50"/>
          </p:nvPr>
        </p:nvSpPr>
        <p:spPr>
          <a:xfrm>
            <a:off x="6885433" y="1066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4" name="Picture Placeholder 2"/>
          <p:cNvSpPr>
            <a:spLocks noGrp="1"/>
          </p:cNvSpPr>
          <p:nvPr>
            <p:ph type="pic" idx="51"/>
          </p:nvPr>
        </p:nvSpPr>
        <p:spPr>
          <a:xfrm>
            <a:off x="0" y="1066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5" name="Picture Placeholder 2"/>
          <p:cNvSpPr>
            <a:spLocks noGrp="1"/>
          </p:cNvSpPr>
          <p:nvPr>
            <p:ph type="pic" idx="52"/>
          </p:nvPr>
        </p:nvSpPr>
        <p:spPr>
          <a:xfrm>
            <a:off x="2295144" y="1066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53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BE7C0071-1FD0-47FF-A4AA-2148D9E25892}" type="datetime1">
              <a:rPr lang="en-US" smtClean="0"/>
              <a:t>10/27/26</a:t>
            </a:fld>
            <a:endParaRPr lang="en-US"/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54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07A2222B-2BEB-48DC-B544-2F3217AEB91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224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left, photo right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1" name="Picture Placeholder 2"/>
          <p:cNvSpPr>
            <a:spLocks noGrp="1"/>
          </p:cNvSpPr>
          <p:nvPr>
            <p:ph type="pic" idx="43"/>
          </p:nvPr>
        </p:nvSpPr>
        <p:spPr>
          <a:xfrm>
            <a:off x="4590288" y="1749"/>
            <a:ext cx="4553712" cy="469851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26"/>
          </p:nvPr>
        </p:nvSpPr>
        <p:spPr>
          <a:xfrm>
            <a:off x="423600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Title 1"/>
          <p:cNvSpPr>
            <a:spLocks noGrp="1"/>
          </p:cNvSpPr>
          <p:nvPr>
            <p:ph type="title"/>
          </p:nvPr>
        </p:nvSpPr>
        <p:spPr>
          <a:xfrm>
            <a:off x="423599" y="1"/>
            <a:ext cx="3944284" cy="748269"/>
          </a:xfrm>
        </p:spPr>
        <p:txBody>
          <a:bodyPr anchor="t">
            <a:normAutofit/>
          </a:bodyPr>
          <a:lstStyle>
            <a:lvl1pPr algn="l">
              <a:defRPr sz="24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44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D0C53833-DFE9-45F3-9A06-63816F630DBF}" type="datetime1">
              <a:rPr lang="en-US" smtClean="0"/>
              <a:t>10/27/26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5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30547C88-426F-4B95-8EF2-ABB470937AB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903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right, photo left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1" name="Picture Placeholder 2"/>
          <p:cNvSpPr>
            <a:spLocks noGrp="1"/>
          </p:cNvSpPr>
          <p:nvPr>
            <p:ph type="pic" idx="43"/>
          </p:nvPr>
        </p:nvSpPr>
        <p:spPr>
          <a:xfrm>
            <a:off x="0" y="1749"/>
            <a:ext cx="4553712" cy="469851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26"/>
          </p:nvPr>
        </p:nvSpPr>
        <p:spPr>
          <a:xfrm>
            <a:off x="4777566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777565" y="1"/>
            <a:ext cx="3944284" cy="748269"/>
          </a:xfrm>
        </p:spPr>
        <p:txBody>
          <a:bodyPr anchor="t">
            <a:normAutofit/>
          </a:bodyPr>
          <a:lstStyle>
            <a:lvl1pPr algn="l">
              <a:defRPr sz="24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44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1C0F3201-D3AC-4B80-BAA2-70789CD27765}" type="datetime1">
              <a:rPr lang="en-US" smtClean="0"/>
              <a:t>10/27/26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5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38063367-8FD0-4EFA-9B8F-D392316BCEF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628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left, photos right 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6" name="Content Placeholder 2"/>
          <p:cNvSpPr>
            <a:spLocks noGrp="1"/>
          </p:cNvSpPr>
          <p:nvPr>
            <p:ph idx="26"/>
          </p:nvPr>
        </p:nvSpPr>
        <p:spPr>
          <a:xfrm>
            <a:off x="423600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Picture Placeholder 2"/>
          <p:cNvSpPr>
            <a:spLocks noGrp="1"/>
          </p:cNvSpPr>
          <p:nvPr>
            <p:ph type="pic" idx="43"/>
          </p:nvPr>
        </p:nvSpPr>
        <p:spPr>
          <a:xfrm>
            <a:off x="4590288" y="2368539"/>
            <a:ext cx="4553712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3" name="Picture Placeholder 2"/>
          <p:cNvSpPr>
            <a:spLocks noGrp="1"/>
          </p:cNvSpPr>
          <p:nvPr>
            <p:ph type="pic" idx="44"/>
          </p:nvPr>
        </p:nvSpPr>
        <p:spPr>
          <a:xfrm>
            <a:off x="4590288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4" name="Picture Placeholder 2"/>
          <p:cNvSpPr>
            <a:spLocks noGrp="1"/>
          </p:cNvSpPr>
          <p:nvPr>
            <p:ph type="pic" idx="45"/>
          </p:nvPr>
        </p:nvSpPr>
        <p:spPr>
          <a:xfrm>
            <a:off x="6886080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/>
          </p:nvPr>
        </p:nvSpPr>
        <p:spPr>
          <a:xfrm>
            <a:off x="423599" y="1"/>
            <a:ext cx="3944284" cy="748269"/>
          </a:xfrm>
        </p:spPr>
        <p:txBody>
          <a:bodyPr anchor="t">
            <a:normAutofit/>
          </a:bodyPr>
          <a:lstStyle>
            <a:lvl1pPr algn="l">
              <a:defRPr sz="24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46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B5BD1A5F-979B-4B06-9411-BCF73A709CFC}" type="datetime1">
              <a:rPr lang="en-US" smtClean="0"/>
              <a:t>10/27/26</a:t>
            </a:fld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7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E1F8ED6C-9AC5-4882-95C1-FC3FECECD54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289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right, photos left 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5" name="Content Placeholder 2"/>
          <p:cNvSpPr>
            <a:spLocks noGrp="1"/>
          </p:cNvSpPr>
          <p:nvPr>
            <p:ph idx="26"/>
          </p:nvPr>
        </p:nvSpPr>
        <p:spPr>
          <a:xfrm>
            <a:off x="4777566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2"/>
          <p:cNvSpPr>
            <a:spLocks noGrp="1"/>
          </p:cNvSpPr>
          <p:nvPr>
            <p:ph type="pic" idx="43"/>
          </p:nvPr>
        </p:nvSpPr>
        <p:spPr>
          <a:xfrm>
            <a:off x="0" y="2368539"/>
            <a:ext cx="4553712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9" name="Picture Placeholder 2"/>
          <p:cNvSpPr>
            <a:spLocks noGrp="1"/>
          </p:cNvSpPr>
          <p:nvPr>
            <p:ph type="pic" idx="44"/>
          </p:nvPr>
        </p:nvSpPr>
        <p:spPr>
          <a:xfrm>
            <a:off x="0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idx="45"/>
          </p:nvPr>
        </p:nvSpPr>
        <p:spPr>
          <a:xfrm>
            <a:off x="2295792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777565" y="1"/>
            <a:ext cx="3944284" cy="748269"/>
          </a:xfrm>
        </p:spPr>
        <p:txBody>
          <a:bodyPr anchor="t">
            <a:normAutofit/>
          </a:bodyPr>
          <a:lstStyle>
            <a:lvl1pPr algn="l">
              <a:defRPr sz="24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46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311C50E9-50BF-46F6-B8B5-6B981E2391CC}" type="datetime1">
              <a:rPr lang="en-US" smtClean="0"/>
              <a:t>10/27/26</a:t>
            </a:fld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7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469214E2-411F-4CCB-9AB1-176E7EF56AD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853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left, photos right (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3" name="Picture Placeholder 2"/>
          <p:cNvSpPr>
            <a:spLocks noGrp="1"/>
          </p:cNvSpPr>
          <p:nvPr>
            <p:ph type="pic" idx="44"/>
          </p:nvPr>
        </p:nvSpPr>
        <p:spPr>
          <a:xfrm>
            <a:off x="4590288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4" name="Picture Placeholder 2"/>
          <p:cNvSpPr>
            <a:spLocks noGrp="1"/>
          </p:cNvSpPr>
          <p:nvPr>
            <p:ph type="pic" idx="45"/>
          </p:nvPr>
        </p:nvSpPr>
        <p:spPr>
          <a:xfrm>
            <a:off x="6886080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idx="46"/>
          </p:nvPr>
        </p:nvSpPr>
        <p:spPr>
          <a:xfrm>
            <a:off x="4590288" y="2368539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2" name="Picture Placeholder 2"/>
          <p:cNvSpPr>
            <a:spLocks noGrp="1"/>
          </p:cNvSpPr>
          <p:nvPr>
            <p:ph type="pic" idx="47"/>
          </p:nvPr>
        </p:nvSpPr>
        <p:spPr>
          <a:xfrm>
            <a:off x="6886080" y="2368539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idx="26"/>
          </p:nvPr>
        </p:nvSpPr>
        <p:spPr>
          <a:xfrm>
            <a:off x="423600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itle 1"/>
          <p:cNvSpPr>
            <a:spLocks noGrp="1"/>
          </p:cNvSpPr>
          <p:nvPr>
            <p:ph type="title"/>
          </p:nvPr>
        </p:nvSpPr>
        <p:spPr>
          <a:xfrm>
            <a:off x="423599" y="1"/>
            <a:ext cx="3944284" cy="748269"/>
          </a:xfrm>
        </p:spPr>
        <p:txBody>
          <a:bodyPr anchor="t">
            <a:normAutofit/>
          </a:bodyPr>
          <a:lstStyle>
            <a:lvl1pPr algn="l">
              <a:defRPr sz="24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48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1AF0F807-10E6-412A-9E8A-7578CC54180E}" type="datetime1">
              <a:rPr lang="en-US" smtClean="0"/>
              <a:t>10/27/26</a:t>
            </a:fld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9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5B71A1D6-CBC1-4D43-99C1-B8E922BEC27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697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right, photos left (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5" name="Content Placeholder 2"/>
          <p:cNvSpPr>
            <a:spLocks noGrp="1"/>
          </p:cNvSpPr>
          <p:nvPr>
            <p:ph idx="26"/>
          </p:nvPr>
        </p:nvSpPr>
        <p:spPr>
          <a:xfrm>
            <a:off x="4777566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2"/>
          <p:cNvSpPr>
            <a:spLocks noGrp="1"/>
          </p:cNvSpPr>
          <p:nvPr>
            <p:ph type="pic" idx="44"/>
          </p:nvPr>
        </p:nvSpPr>
        <p:spPr>
          <a:xfrm>
            <a:off x="0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4" name="Picture Placeholder 2"/>
          <p:cNvSpPr>
            <a:spLocks noGrp="1"/>
          </p:cNvSpPr>
          <p:nvPr>
            <p:ph type="pic" idx="45"/>
          </p:nvPr>
        </p:nvSpPr>
        <p:spPr>
          <a:xfrm>
            <a:off x="2295792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6" name="Picture Placeholder 2"/>
          <p:cNvSpPr>
            <a:spLocks noGrp="1"/>
          </p:cNvSpPr>
          <p:nvPr>
            <p:ph type="pic" idx="46"/>
          </p:nvPr>
        </p:nvSpPr>
        <p:spPr>
          <a:xfrm>
            <a:off x="0" y="2368539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7" name="Picture Placeholder 2"/>
          <p:cNvSpPr>
            <a:spLocks noGrp="1"/>
          </p:cNvSpPr>
          <p:nvPr>
            <p:ph type="pic" idx="47"/>
          </p:nvPr>
        </p:nvSpPr>
        <p:spPr>
          <a:xfrm>
            <a:off x="2295792" y="2368539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4777565" y="1"/>
            <a:ext cx="3944284" cy="748269"/>
          </a:xfrm>
        </p:spPr>
        <p:txBody>
          <a:bodyPr anchor="t">
            <a:normAutofit/>
          </a:bodyPr>
          <a:lstStyle>
            <a:lvl1pPr algn="l">
              <a:defRPr sz="24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48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69159CAF-A62E-4CC4-B611-E3F701ED0C7E}" type="datetime1">
              <a:rPr lang="en-US" smtClean="0"/>
              <a:t>10/27/26</a:t>
            </a:fld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9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F39A1D63-2D20-4501-9B59-5B207FF26C7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035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eft, bar graph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aphicFrame>
        <p:nvGraphicFramePr>
          <p:cNvPr id="2" name="Chart 4"/>
          <p:cNvGraphicFramePr>
            <a:graphicFrameLocks/>
          </p:cNvGraphicFramePr>
          <p:nvPr/>
        </p:nvGraphicFramePr>
        <p:xfrm>
          <a:off x="4797425" y="904875"/>
          <a:ext cx="3944938" cy="365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6" name="Straight Connecto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/>
          <p:cNvSpPr>
            <a:spLocks noGrp="1"/>
          </p:cNvSpPr>
          <p:nvPr>
            <p:ph idx="26"/>
          </p:nvPr>
        </p:nvSpPr>
        <p:spPr>
          <a:xfrm>
            <a:off x="423600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7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80407DD2-95E4-42A3-B6BB-CD714D017AD7}" type="datetime1">
              <a:rPr lang="en-US" smtClean="0"/>
              <a:t>10/27/26</a:t>
            </a:fld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28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CD770F84-B03B-4446-8121-43BDF066046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547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right, bar graph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3"/>
          <p:cNvGraphicFramePr>
            <a:graphicFrameLocks/>
          </p:cNvGraphicFramePr>
          <p:nvPr/>
        </p:nvGraphicFramePr>
        <p:xfrm>
          <a:off x="423863" y="904875"/>
          <a:ext cx="3943350" cy="365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6" name="Straight Connecto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/>
          <p:cNvSpPr>
            <a:spLocks noGrp="1"/>
          </p:cNvSpPr>
          <p:nvPr>
            <p:ph idx="26"/>
          </p:nvPr>
        </p:nvSpPr>
        <p:spPr>
          <a:xfrm>
            <a:off x="4783707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7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D872F6A1-975A-49A4-9945-50AF390241BA}" type="datetime1">
              <a:rPr lang="en-US" smtClean="0"/>
              <a:t>10/27/26</a:t>
            </a:fld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28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F35E862A-697B-4840-A5B5-5FEEF4E48ED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994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bar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3"/>
          <p:cNvGraphicFramePr>
            <a:graphicFrameLocks/>
          </p:cNvGraphicFramePr>
          <p:nvPr/>
        </p:nvGraphicFramePr>
        <p:xfrm>
          <a:off x="423863" y="904875"/>
          <a:ext cx="8304212" cy="365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6EAE188A-4D63-400D-ABBD-D2D012BDCD15}" type="datetime1">
              <a:rPr lang="en-US" smtClean="0"/>
              <a:t>10/27/26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2A97726B-1234-427D-89E0-501CF7381A9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332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eft, line graph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Chart 5"/>
          <p:cNvGraphicFramePr>
            <a:graphicFrameLocks/>
          </p:cNvGraphicFramePr>
          <p:nvPr/>
        </p:nvGraphicFramePr>
        <p:xfrm>
          <a:off x="4797425" y="904875"/>
          <a:ext cx="3944938" cy="365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4" name="Content Placeholder 2"/>
          <p:cNvSpPr>
            <a:spLocks noGrp="1"/>
          </p:cNvSpPr>
          <p:nvPr>
            <p:ph idx="26"/>
          </p:nvPr>
        </p:nvSpPr>
        <p:spPr>
          <a:xfrm>
            <a:off x="423600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7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B4405EEA-9A0A-4B19-94E3-702F602CEF4E}" type="datetime1">
              <a:rPr lang="en-US" smtClean="0"/>
              <a:t>10/27/26</a:t>
            </a:fld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28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FE1BC488-4F9B-486E-BEAF-B2B891EC7A2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424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right, line graph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3"/>
          <p:cNvGraphicFramePr>
            <a:graphicFrameLocks/>
          </p:cNvGraphicFramePr>
          <p:nvPr/>
        </p:nvGraphicFramePr>
        <p:xfrm>
          <a:off x="423863" y="904875"/>
          <a:ext cx="3943350" cy="365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6" name="Straight Connecto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/>
          <p:cNvSpPr>
            <a:spLocks noGrp="1"/>
          </p:cNvSpPr>
          <p:nvPr>
            <p:ph idx="26"/>
          </p:nvPr>
        </p:nvSpPr>
        <p:spPr>
          <a:xfrm>
            <a:off x="4783707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7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AF6D083A-4B13-46FE-893B-68D7CDF39AD3}" type="datetime1">
              <a:rPr lang="en-US" smtClean="0"/>
              <a:t>10/27/26</a:t>
            </a:fld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28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8B0A966F-C68B-4C02-98F2-62145451C28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66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line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3"/>
          <p:cNvGraphicFramePr>
            <a:graphicFrameLocks/>
          </p:cNvGraphicFramePr>
          <p:nvPr/>
        </p:nvGraphicFramePr>
        <p:xfrm>
          <a:off x="423863" y="904875"/>
          <a:ext cx="8304212" cy="365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11C89CDC-80D8-4542-9161-88E0E6FE50AF}" type="datetime1">
              <a:rPr lang="en-US" smtClean="0"/>
              <a:t>10/27/26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D5CA62FE-4E2D-42B2-9D14-7EC37747199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871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left, photo right (1) (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0"/>
          </p:nvPr>
        </p:nvSpPr>
        <p:spPr>
          <a:xfrm>
            <a:off x="457203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4636012" y="0"/>
            <a:ext cx="4507991" cy="514350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598325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right, photo left (1) (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0"/>
          </p:nvPr>
        </p:nvSpPr>
        <p:spPr>
          <a:xfrm>
            <a:off x="4626129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rgbClr val="595959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3" y="0"/>
            <a:ext cx="4507991" cy="514350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693504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left, photos right (2) (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4636012" y="0"/>
            <a:ext cx="4507991" cy="169164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4" name="Picture Placeholder 20"/>
          <p:cNvSpPr>
            <a:spLocks noGrp="1"/>
          </p:cNvSpPr>
          <p:nvPr>
            <p:ph type="pic" sz="quarter" idx="23"/>
          </p:nvPr>
        </p:nvSpPr>
        <p:spPr>
          <a:xfrm>
            <a:off x="4636012" y="1728664"/>
            <a:ext cx="4507991" cy="3414836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3" name="Text Placeholder 8"/>
          <p:cNvSpPr>
            <a:spLocks noGrp="1"/>
          </p:cNvSpPr>
          <p:nvPr>
            <p:ph type="body" idx="10"/>
          </p:nvPr>
        </p:nvSpPr>
        <p:spPr>
          <a:xfrm>
            <a:off x="457203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rgbClr val="595959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78497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right, photos left (2) (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3" y="0"/>
            <a:ext cx="4507991" cy="169164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4" name="Picture Placeholder 20"/>
          <p:cNvSpPr>
            <a:spLocks noGrp="1"/>
          </p:cNvSpPr>
          <p:nvPr>
            <p:ph type="pic" sz="quarter" idx="23"/>
          </p:nvPr>
        </p:nvSpPr>
        <p:spPr>
          <a:xfrm>
            <a:off x="3" y="1728664"/>
            <a:ext cx="4507991" cy="3414836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5" name="Text Placeholder 8"/>
          <p:cNvSpPr>
            <a:spLocks noGrp="1"/>
          </p:cNvSpPr>
          <p:nvPr>
            <p:ph type="body" idx="24"/>
          </p:nvPr>
        </p:nvSpPr>
        <p:spPr>
          <a:xfrm>
            <a:off x="4626129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rgbClr val="595959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04785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left, photo right (1) (on 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598988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598988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4636012" y="0"/>
            <a:ext cx="4507991" cy="514350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idx="10"/>
          </p:nvPr>
        </p:nvSpPr>
        <p:spPr>
          <a:xfrm>
            <a:off x="457203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rgbClr val="FFFFFF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62561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right, photo left (1) (on 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45013" y="0"/>
            <a:ext cx="4598987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45013" y="0"/>
            <a:ext cx="4598987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3" y="0"/>
            <a:ext cx="4507991" cy="514350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idx="10"/>
          </p:nvPr>
        </p:nvSpPr>
        <p:spPr>
          <a:xfrm>
            <a:off x="4642565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rgbClr val="FFFFFF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18632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left, photos right (2) (on 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598988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598988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4636012" y="0"/>
            <a:ext cx="4507991" cy="169164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4" name="Picture Placeholder 20"/>
          <p:cNvSpPr>
            <a:spLocks noGrp="1"/>
          </p:cNvSpPr>
          <p:nvPr>
            <p:ph type="pic" sz="quarter" idx="23"/>
          </p:nvPr>
        </p:nvSpPr>
        <p:spPr>
          <a:xfrm>
            <a:off x="4636012" y="1732788"/>
            <a:ext cx="4507991" cy="3410712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6" name="Text Placeholder 8"/>
          <p:cNvSpPr>
            <a:spLocks noGrp="1"/>
          </p:cNvSpPr>
          <p:nvPr>
            <p:ph type="body" idx="10"/>
          </p:nvPr>
        </p:nvSpPr>
        <p:spPr>
          <a:xfrm>
            <a:off x="457203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rgbClr val="FFFFFF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45813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right, photos left (2) (on 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45013" y="0"/>
            <a:ext cx="4598987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45013" y="0"/>
            <a:ext cx="4598987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-3180" y="0"/>
            <a:ext cx="4507991" cy="169164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4" name="Picture Placeholder 20"/>
          <p:cNvSpPr>
            <a:spLocks noGrp="1"/>
          </p:cNvSpPr>
          <p:nvPr>
            <p:ph type="pic" sz="quarter" idx="23"/>
          </p:nvPr>
        </p:nvSpPr>
        <p:spPr>
          <a:xfrm>
            <a:off x="-3180" y="1732788"/>
            <a:ext cx="4507991" cy="3410712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7" name="Text Placeholder 8"/>
          <p:cNvSpPr>
            <a:spLocks noGrp="1"/>
          </p:cNvSpPr>
          <p:nvPr>
            <p:ph type="body" idx="24"/>
          </p:nvPr>
        </p:nvSpPr>
        <p:spPr>
          <a:xfrm>
            <a:off x="4642565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rgbClr val="FFFFFF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19810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(black 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0"/>
          </p:nvPr>
        </p:nvSpPr>
        <p:spPr>
          <a:xfrm>
            <a:off x="1858646" y="1016001"/>
            <a:ext cx="5440681" cy="2916238"/>
          </a:xfrm>
        </p:spPr>
        <p:txBody>
          <a:bodyPr anchor="ctr">
            <a:normAutofit/>
          </a:bodyPr>
          <a:lstStyle>
            <a:lvl1pPr marL="0" indent="0" algn="ctr">
              <a:buNone/>
              <a:defRPr sz="2500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8CF076B5-DE80-4212-89E0-8468B8E49686}" type="datetime1">
              <a:rPr lang="en-US" smtClean="0"/>
              <a:t>10/27/26</a:t>
            </a:fld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EDF768FB-1179-4F15-B986-28BC8D5DD81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537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(white on green)">
    <p:bg>
      <p:bgPr>
        <a:solidFill>
          <a:srgbClr val="143B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0"/>
          </p:nvPr>
        </p:nvSpPr>
        <p:spPr>
          <a:xfrm>
            <a:off x="1858646" y="1016001"/>
            <a:ext cx="5440681" cy="2916238"/>
          </a:xfrm>
        </p:spPr>
        <p:txBody>
          <a:bodyPr anchor="ctr">
            <a:normAutofit/>
          </a:bodyPr>
          <a:lstStyle>
            <a:lvl1pPr marL="0" indent="0" algn="ctr">
              <a:buNone/>
              <a:defRPr sz="250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1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D924E081-C21B-4512-A36B-8A680E10DB92}" type="datetime1">
              <a:rPr lang="en-US" smtClean="0"/>
              <a:t>10/27/26</a:t>
            </a:fld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DA88F2E9-B851-4DFA-93C4-86BB45129EE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989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(white on black)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0"/>
          </p:nvPr>
        </p:nvSpPr>
        <p:spPr>
          <a:xfrm>
            <a:off x="1858646" y="1016001"/>
            <a:ext cx="5440681" cy="2916238"/>
          </a:xfrm>
        </p:spPr>
        <p:txBody>
          <a:bodyPr anchor="ctr">
            <a:normAutofit/>
          </a:bodyPr>
          <a:lstStyle>
            <a:lvl1pPr marL="0" indent="0" algn="ctr">
              <a:buNone/>
              <a:defRPr sz="250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1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BD7CA327-0034-42B2-B548-D933C5E8C997}" type="datetime1">
              <a:rPr lang="en-US" smtClean="0"/>
              <a:t>10/27/26</a:t>
            </a:fld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147D816C-1382-4552-849F-5EAB9818A05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311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tags" Target="../tags/tag2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246188"/>
            <a:ext cx="8229600" cy="3348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custDataLst>
      <p:tags r:id="rId4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4745" r:id="rId1"/>
    <p:sldLayoutId id="2147484746" r:id="rId2"/>
    <p:sldLayoutId id="2147484747" r:id="rId3"/>
    <p:sldLayoutId id="2147484748" r:id="rId4"/>
    <p:sldLayoutId id="2147484749" r:id="rId5"/>
    <p:sldLayoutId id="2147484750" r:id="rId6"/>
    <p:sldLayoutId id="2147484751" r:id="rId7"/>
    <p:sldLayoutId id="2147484752" r:id="rId8"/>
    <p:sldLayoutId id="2147484753" r:id="rId9"/>
    <p:sldLayoutId id="2147484754" r:id="rId10"/>
    <p:sldLayoutId id="2147484755" r:id="rId11"/>
    <p:sldLayoutId id="2147484786" r:id="rId12"/>
    <p:sldLayoutId id="2147484756" r:id="rId13"/>
    <p:sldLayoutId id="2147484757" r:id="rId14"/>
    <p:sldLayoutId id="2147484758" r:id="rId15"/>
    <p:sldLayoutId id="2147484759" r:id="rId16"/>
    <p:sldLayoutId id="2147484760" r:id="rId17"/>
    <p:sldLayoutId id="2147484761" r:id="rId18"/>
    <p:sldLayoutId id="2147484762" r:id="rId19"/>
    <p:sldLayoutId id="2147484763" r:id="rId20"/>
    <p:sldLayoutId id="2147484764" r:id="rId21"/>
    <p:sldLayoutId id="2147484765" r:id="rId22"/>
    <p:sldLayoutId id="2147484766" r:id="rId23"/>
    <p:sldLayoutId id="2147484767" r:id="rId24"/>
    <p:sldLayoutId id="2147484768" r:id="rId25"/>
    <p:sldLayoutId id="2147484769" r:id="rId26"/>
    <p:sldLayoutId id="2147484770" r:id="rId27"/>
    <p:sldLayoutId id="2147484771" r:id="rId28"/>
    <p:sldLayoutId id="2147484772" r:id="rId29"/>
    <p:sldLayoutId id="2147484773" r:id="rId30"/>
    <p:sldLayoutId id="2147484774" r:id="rId31"/>
    <p:sldLayoutId id="2147484775" r:id="rId32"/>
    <p:sldLayoutId id="2147484776" r:id="rId33"/>
    <p:sldLayoutId id="2147484777" r:id="rId34"/>
    <p:sldLayoutId id="2147484778" r:id="rId35"/>
    <p:sldLayoutId id="2147484741" r:id="rId36"/>
    <p:sldLayoutId id="2147484742" r:id="rId37"/>
    <p:sldLayoutId id="2147484743" r:id="rId38"/>
    <p:sldLayoutId id="2147484744" r:id="rId39"/>
    <p:sldLayoutId id="2147484779" r:id="rId40"/>
    <p:sldLayoutId id="2147484780" r:id="rId41"/>
    <p:sldLayoutId id="2147484781" r:id="rId42"/>
    <p:sldLayoutId id="2147484782" r:id="rId43"/>
    <p:sldLayoutId id="2147484783" r:id="rId44"/>
    <p:sldLayoutId id="2147484784" r:id="rId45"/>
    <p:sldLayoutId id="2147484785" r:id="rId46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2400" b="1" kern="1200">
          <a:solidFill>
            <a:srgbClr val="29551A"/>
          </a:solidFill>
          <a:latin typeface="+mj-lt"/>
          <a:ea typeface="MS PGothic" pitchFamily="34" charset="-128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9551A"/>
          </a:solidFill>
          <a:latin typeface="Palatino Linotype" charset="0"/>
          <a:ea typeface="MS PGothic" pitchFamily="34" charset="-128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9551A"/>
          </a:solidFill>
          <a:latin typeface="Palatino Linotype" charset="0"/>
          <a:ea typeface="MS PGothic" pitchFamily="34" charset="-128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9551A"/>
          </a:solidFill>
          <a:latin typeface="Palatino Linotype" charset="0"/>
          <a:ea typeface="MS PGothic" pitchFamily="34" charset="-128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9551A"/>
          </a:solidFill>
          <a:latin typeface="Palatino Linotype" charset="0"/>
          <a:ea typeface="MS PGothic" pitchFamily="34" charset="-128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000" kern="1200">
          <a:solidFill>
            <a:srgbClr val="595959"/>
          </a:solidFill>
          <a:latin typeface="+mn-lt"/>
          <a:ea typeface="MS PGothic" pitchFamily="34" charset="-128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rgbClr val="595959"/>
          </a:solidFill>
          <a:latin typeface="+mn-lt"/>
          <a:ea typeface="MS PGothic" pitchFamily="3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000" kern="1200">
          <a:solidFill>
            <a:srgbClr val="595959"/>
          </a:solidFill>
          <a:latin typeface="+mn-lt"/>
          <a:ea typeface="MS PGothic" pitchFamily="3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rgbClr val="595959"/>
          </a:solidFill>
          <a:latin typeface="+mn-lt"/>
          <a:ea typeface="MS PGothic" pitchFamily="3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rgbClr val="595959"/>
          </a:solidFill>
          <a:latin typeface="+mn-lt"/>
          <a:ea typeface="MS PGothic" pitchFamily="3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0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orch.org/docs/2.14/generated/torch.optim.Adam.html" TargetMode="External"/><Relationship Id="rId2" Type="http://schemas.openxmlformats.org/officeDocument/2006/relationships/hyperlink" Target="https://www.geeksforgeeks.org/deep-learning/adam-optimizer/" TargetMode="External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hat is AI and Machine Learning?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>
            <a:normAutofit/>
          </a:bodyPr>
          <a:lstStyle/>
          <a:p>
            <a:r>
              <a:rPr lang="en-US" sz="1600" dirty="0"/>
              <a:t>Instructor: Mohammad Hasan</a:t>
            </a:r>
          </a:p>
          <a:p>
            <a:r>
              <a:rPr lang="en-US" sz="1600" dirty="0"/>
              <a:t>Office: 13-240</a:t>
            </a:r>
          </a:p>
          <a:p>
            <a:r>
              <a:rPr lang="en-US" sz="1600"/>
              <a:t>10/28/26</a:t>
            </a:r>
            <a:endParaRPr lang="en-US" sz="16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29176" y="1600724"/>
            <a:ext cx="7792510" cy="1277277"/>
          </a:xfrm>
        </p:spPr>
        <p:txBody>
          <a:bodyPr>
            <a:normAutofit/>
          </a:bodyPr>
          <a:lstStyle/>
          <a:p>
            <a:r>
              <a:rPr lang="en-US" sz="2800" err="1"/>
              <a:t>Misc</a:t>
            </a:r>
            <a:r>
              <a:rPr lang="en-US" sz="2800"/>
              <a:t> Topics in Vision </a:t>
            </a:r>
            <a:r>
              <a:rPr lang="en-US" sz="2800" dirty="0"/>
              <a:t>and </a:t>
            </a:r>
            <a:r>
              <a:rPr lang="en-US" sz="2800"/>
              <a:t>CNNs</a:t>
            </a:r>
            <a:endParaRPr lang="en-US" sz="28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962573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26"/>
          </p:nvPr>
        </p:nvSpPr>
        <p:spPr/>
        <p:txBody>
          <a:bodyPr/>
          <a:lstStyle/>
          <a:p>
            <a:r>
              <a:rPr lang="en-US"/>
              <a:t>The Adam Optimizer</a:t>
            </a:r>
          </a:p>
          <a:p>
            <a:endParaRPr lang="en-US"/>
          </a:p>
          <a:p>
            <a:r>
              <a:rPr lang="en-US" err="1"/>
              <a:t>ResNet</a:t>
            </a:r>
            <a:endParaRPr lang="en-US" dirty="0"/>
          </a:p>
          <a:p>
            <a:endParaRPr lang="en-US" dirty="0"/>
          </a:p>
          <a:p>
            <a:r>
              <a:rPr lang="en-US"/>
              <a:t>Adversarial Attacks</a:t>
            </a:r>
            <a:endParaRPr lang="en-US" dirty="0"/>
          </a:p>
          <a:p>
            <a:endParaRPr lang="en-US" dirty="0"/>
          </a:p>
          <a:p>
            <a:r>
              <a:rPr lang="en-US"/>
              <a:t>Tangent: time-series signals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D21F68-F379-2CEB-B79D-D7DFCF008B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 bwMode="auto">
          <a:xfrm>
            <a:off x="6117021" y="4966138"/>
            <a:ext cx="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endParaRPr lang="en-US" sz="2800">
              <a:solidFill>
                <a:srgbClr val="29551A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38198D-9296-08EF-03DC-11B15B97FF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 bwMode="auto">
          <a:xfrm>
            <a:off x="5691352" y="4918841"/>
            <a:ext cx="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endParaRPr lang="en-US" sz="2800">
              <a:solidFill>
                <a:srgbClr val="29551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08871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F9D12-0459-1B72-B171-33CEBBDDB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38972FA-F421-3C10-7320-BE43DDA9C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745" y="2121932"/>
            <a:ext cx="7792510" cy="1277277"/>
          </a:xfrm>
        </p:spPr>
        <p:txBody>
          <a:bodyPr>
            <a:normAutofit/>
          </a:bodyPr>
          <a:lstStyle/>
          <a:p>
            <a:pPr algn="ctr"/>
            <a:r>
              <a:rPr lang="en-US" sz="2800"/>
              <a:t>ADAM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431614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761EB-4A9B-2B15-798F-5318036BB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9C982E3-DED9-1A1C-6134-756153DA7059}"/>
              </a:ext>
            </a:extLst>
          </p:cNvPr>
          <p:cNvSpPr>
            <a:spLocks noGrp="1"/>
          </p:cNvSpPr>
          <p:nvPr>
            <p:ph idx="26"/>
          </p:nvPr>
        </p:nvSpPr>
        <p:spPr>
          <a:xfrm>
            <a:off x="473691" y="683457"/>
            <a:ext cx="8196617" cy="3650177"/>
          </a:xfrm>
        </p:spPr>
        <p:txBody>
          <a:bodyPr/>
          <a:lstStyle/>
          <a:p>
            <a:r>
              <a:rPr lang="en-US"/>
              <a:t>Training a neural network (no matter the type) requires minimization of a cost/loss function</a:t>
            </a:r>
          </a:p>
          <a:p>
            <a:endParaRPr lang="en-US"/>
          </a:p>
          <a:p>
            <a:r>
              <a:rPr lang="en-US"/>
              <a:t>Based on weights and biases, the loss value changes.</a:t>
            </a:r>
          </a:p>
          <a:p>
            <a:endParaRPr lang="en-US"/>
          </a:p>
          <a:p>
            <a:r>
              <a:rPr lang="en-US"/>
              <a:t>We want to reach the absolute minimum loss.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21309BA-96B8-0380-B868-3CE376086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Optimization of NNs</a:t>
            </a:r>
          </a:p>
        </p:txBody>
      </p:sp>
      <p:pic>
        <p:nvPicPr>
          <p:cNvPr id="4" name="Picture 3" descr="10. Gradient descent visualization (Amini et al. 2018). At each... |  Download Scientific Diagram">
            <a:extLst>
              <a:ext uri="{FF2B5EF4-FFF2-40B4-BE49-F238E27FC236}">
                <a16:creationId xmlns:a16="http://schemas.microsoft.com/office/drawing/2014/main" id="{B41E1471-1F11-D2AB-83EB-4A774690A5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5670" y="2571750"/>
            <a:ext cx="3118330" cy="1990090"/>
          </a:xfrm>
          <a:prstGeom prst="rect">
            <a:avLst/>
          </a:prstGeom>
        </p:spPr>
      </p:pic>
      <p:pic>
        <p:nvPicPr>
          <p:cNvPr id="6" name="Picture 5" descr="Everything You Need to Know about Gradient Descent Applied to Neural  Networks | by Jaime Durán | yottabytes | Medium">
            <a:extLst>
              <a:ext uri="{FF2B5EF4-FFF2-40B4-BE49-F238E27FC236}">
                <a16:creationId xmlns:a16="http://schemas.microsoft.com/office/drawing/2014/main" id="{D7FB1929-A255-AABD-FE92-FBFF460B2C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6419" y="2932713"/>
            <a:ext cx="2423823" cy="1629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075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740CD10-01E0-2AAC-F83F-EB16EB767D37}"/>
                  </a:ext>
                </a:extLst>
              </p:cNvPr>
              <p:cNvSpPr>
                <a:spLocks noGrp="1"/>
              </p:cNvSpPr>
              <p:nvPr>
                <p:ph idx="26"/>
              </p:nvPr>
            </p:nvSpPr>
            <p:spPr/>
            <p:txBody>
              <a:bodyPr/>
              <a:lstStyle/>
              <a:p>
                <a:r>
                  <a:rPr lang="en-US"/>
                  <a:t>We have seen Gradient Descent in theory: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𝑛𝑒𝑤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𝑜𝑙𝑑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𝛼</m:t>
                    </m:r>
                    <m:acc>
                      <m:accPr>
                        <m:chr m:val="⃗"/>
                        <m:ctrlPr>
                          <a:rPr lang="en-US" b="0" i="0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US"/>
              </a:p>
              <a:p>
                <a:endParaRPr lang="en-US"/>
              </a:p>
              <a:p>
                <a:r>
                  <a:rPr lang="en-US"/>
                  <a:t>Approach works but has some issues:</a:t>
                </a:r>
              </a:p>
              <a:p>
                <a:pPr lvl="2">
                  <a:buFontTx/>
                  <a:buChar char="-"/>
                </a:pPr>
                <a:r>
                  <a:rPr lang="en-US"/>
                  <a:t>Slow convergence</a:t>
                </a:r>
              </a:p>
              <a:p>
                <a:pPr lvl="2">
                  <a:buFontTx/>
                  <a:buChar char="-"/>
                </a:pPr>
                <a:r>
                  <a:rPr lang="en-US"/>
                  <a:t>Might get stuck in local minima </a:t>
                </a:r>
              </a:p>
              <a:p>
                <a:pPr marL="914400" lvl="2" indent="0">
                  <a:buNone/>
                </a:pPr>
                <a:endParaRPr lang="en-US"/>
              </a:p>
              <a:p>
                <a:r>
                  <a:rPr lang="en-US"/>
                  <a:t>Modified versions can be used</a:t>
                </a:r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740CD10-01E0-2AAC-F83F-EB16EB767D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26"/>
              </p:nvPr>
            </p:nvSpPr>
            <p:spPr>
              <a:blipFill>
                <a:blip r:embed="rId2"/>
                <a:stretch>
                  <a:fillRect l="-6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A85A2B10-EDE7-A020-C5B4-FD30A920C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Optimization in NN</a:t>
            </a:r>
          </a:p>
        </p:txBody>
      </p:sp>
      <p:pic>
        <p:nvPicPr>
          <p:cNvPr id="4" name="Graphic 3" descr="Training Convolutional Neural Networks: What Is Machine Learning?—Part 2 |  Analog Devices">
            <a:extLst>
              <a:ext uri="{FF2B5EF4-FFF2-40B4-BE49-F238E27FC236}">
                <a16:creationId xmlns:a16="http://schemas.microsoft.com/office/drawing/2014/main" id="{07F68A00-C1C2-9612-261D-B42B1B51F5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9513" y="1528595"/>
            <a:ext cx="3657600" cy="3026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9090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C7DFEF2-2FFE-9F4A-159F-537F5118CC53}"/>
              </a:ext>
            </a:extLst>
          </p:cNvPr>
          <p:cNvSpPr>
            <a:spLocks noGrp="1"/>
          </p:cNvSpPr>
          <p:nvPr>
            <p:ph idx="26"/>
          </p:nvPr>
        </p:nvSpPr>
        <p:spPr/>
        <p:txBody>
          <a:bodyPr/>
          <a:lstStyle/>
          <a:p>
            <a:r>
              <a:rPr lang="en-US"/>
              <a:t>Uses the concept of momentum and adaptive learning rate to help increase convergence, increase training stability and move us to a more global minimum!</a:t>
            </a:r>
          </a:p>
          <a:p>
            <a:pPr marL="0" indent="0">
              <a:buNone/>
            </a:pPr>
            <a:endParaRPr lang="en-US"/>
          </a:p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F2153C3-FBC6-514F-82D0-6247E6D32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Adaptive Moment Estimation (Adam)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2F9AB46-BA3D-FBA4-CE33-74437CFC3DD4}"/>
              </a:ext>
            </a:extLst>
          </p:cNvPr>
          <p:cNvGrpSpPr/>
          <p:nvPr/>
        </p:nvGrpSpPr>
        <p:grpSpPr>
          <a:xfrm>
            <a:off x="403189" y="2108421"/>
            <a:ext cx="8070574" cy="2132275"/>
            <a:chOff x="403189" y="2108421"/>
            <a:chExt cx="8070574" cy="2132275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251FA19B-2275-D7D4-D82D-6864E052BD61}"/>
                </a:ext>
              </a:extLst>
            </p:cNvPr>
            <p:cNvCxnSpPr/>
            <p:nvPr/>
          </p:nvCxnSpPr>
          <p:spPr>
            <a:xfrm>
              <a:off x="403189" y="21084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ED0B2D4A-221D-0115-DE59-5095B881AA75}"/>
                </a:ext>
              </a:extLst>
            </p:cNvPr>
            <p:cNvCxnSpPr/>
            <p:nvPr/>
          </p:nvCxnSpPr>
          <p:spPr>
            <a:xfrm>
              <a:off x="403189" y="2634532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263D7CEA-9AF0-57BB-BD3F-119674AC6FCA}"/>
                </a:ext>
              </a:extLst>
            </p:cNvPr>
            <p:cNvCxnSpPr/>
            <p:nvPr/>
          </p:nvCxnSpPr>
          <p:spPr>
            <a:xfrm>
              <a:off x="403189" y="31738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3B44978-4971-EEB6-BA87-73807A152AB2}"/>
                </a:ext>
              </a:extLst>
            </p:cNvPr>
            <p:cNvCxnSpPr/>
            <p:nvPr/>
          </p:nvCxnSpPr>
          <p:spPr>
            <a:xfrm>
              <a:off x="403189" y="3700007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D29311F-3FEB-AEEA-F162-230C1C429C7D}"/>
                </a:ext>
              </a:extLst>
            </p:cNvPr>
            <p:cNvCxnSpPr/>
            <p:nvPr/>
          </p:nvCxnSpPr>
          <p:spPr>
            <a:xfrm>
              <a:off x="403189" y="42406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148405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D86E1BEE-4360-92CC-DC17-07698B1AC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Adaptive Moment Estimation (Adam)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62D333F-4859-D8B9-6ED3-4AE7FA8F3857}"/>
              </a:ext>
            </a:extLst>
          </p:cNvPr>
          <p:cNvGrpSpPr/>
          <p:nvPr/>
        </p:nvGrpSpPr>
        <p:grpSpPr>
          <a:xfrm>
            <a:off x="403189" y="1041621"/>
            <a:ext cx="8070574" cy="3199075"/>
            <a:chOff x="403189" y="1041621"/>
            <a:chExt cx="8070574" cy="3199075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3A5630DE-8680-55D7-66C2-99142FBE7271}"/>
                </a:ext>
              </a:extLst>
            </p:cNvPr>
            <p:cNvCxnSpPr/>
            <p:nvPr/>
          </p:nvCxnSpPr>
          <p:spPr>
            <a:xfrm>
              <a:off x="403189" y="10416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F50B3EB-336F-624D-6BEB-16F07AEA1F28}"/>
                </a:ext>
              </a:extLst>
            </p:cNvPr>
            <p:cNvCxnSpPr/>
            <p:nvPr/>
          </p:nvCxnSpPr>
          <p:spPr>
            <a:xfrm>
              <a:off x="403189" y="21084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AA44DB21-B5F8-B9C1-DD75-4933C46F6384}"/>
                </a:ext>
              </a:extLst>
            </p:cNvPr>
            <p:cNvCxnSpPr/>
            <p:nvPr/>
          </p:nvCxnSpPr>
          <p:spPr>
            <a:xfrm>
              <a:off x="403189" y="2634532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1C8595F0-DE6D-7F95-E34B-D39CF4D33F48}"/>
                </a:ext>
              </a:extLst>
            </p:cNvPr>
            <p:cNvCxnSpPr/>
            <p:nvPr/>
          </p:nvCxnSpPr>
          <p:spPr>
            <a:xfrm>
              <a:off x="403189" y="31738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55B4FB2-E295-CD8F-1453-F1507FB43EE3}"/>
                </a:ext>
              </a:extLst>
            </p:cNvPr>
            <p:cNvCxnSpPr/>
            <p:nvPr/>
          </p:nvCxnSpPr>
          <p:spPr>
            <a:xfrm>
              <a:off x="403189" y="3700007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7F665B2-BEBA-CFE5-B8CB-C1EBFC43556F}"/>
                </a:ext>
              </a:extLst>
            </p:cNvPr>
            <p:cNvCxnSpPr/>
            <p:nvPr/>
          </p:nvCxnSpPr>
          <p:spPr>
            <a:xfrm>
              <a:off x="403189" y="42406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EB287539-6484-33BB-965C-11DCD05EE867}"/>
                </a:ext>
              </a:extLst>
            </p:cNvPr>
            <p:cNvCxnSpPr/>
            <p:nvPr/>
          </p:nvCxnSpPr>
          <p:spPr>
            <a:xfrm>
              <a:off x="403189" y="1608814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086312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85103-A4D5-9CB3-3238-1778D5013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3569C001-511D-1B46-1790-57B3E7057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Adaptive Moment Estimation (Adam)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E282B65-E728-50F2-E546-CAAF3CFFA391}"/>
              </a:ext>
            </a:extLst>
          </p:cNvPr>
          <p:cNvGrpSpPr/>
          <p:nvPr/>
        </p:nvGrpSpPr>
        <p:grpSpPr>
          <a:xfrm>
            <a:off x="403189" y="1041621"/>
            <a:ext cx="8070574" cy="3199075"/>
            <a:chOff x="403189" y="1041621"/>
            <a:chExt cx="8070574" cy="3199075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02E464FD-DC45-3207-9BCF-1C4458DEED81}"/>
                </a:ext>
              </a:extLst>
            </p:cNvPr>
            <p:cNvCxnSpPr/>
            <p:nvPr/>
          </p:nvCxnSpPr>
          <p:spPr>
            <a:xfrm>
              <a:off x="403189" y="10416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3A6C31B-D821-D6F4-90A5-075C567698A4}"/>
                </a:ext>
              </a:extLst>
            </p:cNvPr>
            <p:cNvCxnSpPr/>
            <p:nvPr/>
          </p:nvCxnSpPr>
          <p:spPr>
            <a:xfrm>
              <a:off x="403189" y="21084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DDDA7E6-7623-F90E-B573-EF4550100421}"/>
                </a:ext>
              </a:extLst>
            </p:cNvPr>
            <p:cNvCxnSpPr/>
            <p:nvPr/>
          </p:nvCxnSpPr>
          <p:spPr>
            <a:xfrm>
              <a:off x="403189" y="2634532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64ADF8CA-70AF-CC92-DAD1-73354E12FDB3}"/>
                </a:ext>
              </a:extLst>
            </p:cNvPr>
            <p:cNvCxnSpPr/>
            <p:nvPr/>
          </p:nvCxnSpPr>
          <p:spPr>
            <a:xfrm>
              <a:off x="403189" y="31738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CE69CD7-1510-8F36-5DF6-A743FE35DCD8}"/>
                </a:ext>
              </a:extLst>
            </p:cNvPr>
            <p:cNvCxnSpPr/>
            <p:nvPr/>
          </p:nvCxnSpPr>
          <p:spPr>
            <a:xfrm>
              <a:off x="403189" y="3700007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A3A6D71-53D6-E2D7-5CC8-792ABEDD59BF}"/>
                </a:ext>
              </a:extLst>
            </p:cNvPr>
            <p:cNvCxnSpPr/>
            <p:nvPr/>
          </p:nvCxnSpPr>
          <p:spPr>
            <a:xfrm>
              <a:off x="403189" y="42406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221FA3E-788A-F9E4-3A7A-4EFEB9B99650}"/>
                </a:ext>
              </a:extLst>
            </p:cNvPr>
            <p:cNvCxnSpPr/>
            <p:nvPr/>
          </p:nvCxnSpPr>
          <p:spPr>
            <a:xfrm>
              <a:off x="403189" y="1608814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254084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6F5F524-AC4C-B7EF-57CC-583DFD0DF367}"/>
              </a:ext>
            </a:extLst>
          </p:cNvPr>
          <p:cNvSpPr>
            <a:spLocks noGrp="1"/>
          </p:cNvSpPr>
          <p:nvPr>
            <p:ph idx="26"/>
          </p:nvPr>
        </p:nvSpPr>
        <p:spPr>
          <a:xfrm>
            <a:off x="423601" y="905398"/>
            <a:ext cx="3956376" cy="3650177"/>
          </a:xfrm>
        </p:spPr>
        <p:txBody>
          <a:bodyPr/>
          <a:lstStyle/>
          <a:p>
            <a:r>
              <a:rPr lang="en-US"/>
              <a:t>The Adam optimizer is incredibly common. </a:t>
            </a:r>
          </a:p>
          <a:p>
            <a:endParaRPr lang="en-US"/>
          </a:p>
          <a:p>
            <a:r>
              <a:rPr lang="en-US"/>
              <a:t>It is built into most NN toolboxes.</a:t>
            </a:r>
          </a:p>
          <a:p>
            <a:endParaRPr lang="en-US"/>
          </a:p>
          <a:p>
            <a:r>
              <a:rPr lang="en-US"/>
              <a:t>Simple and produces great results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9311DA1-E03F-F381-63AC-63073611F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Adam Optimizer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F6511A-7242-7D91-4EC7-1B53C86340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3246" y="772527"/>
            <a:ext cx="4030754" cy="3915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093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5ADEF-F34B-2CAA-7571-23310DD99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F856E0B-0DC7-26C1-0D1D-013F41192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745" y="2121932"/>
            <a:ext cx="7792510" cy="1277277"/>
          </a:xfrm>
        </p:spPr>
        <p:txBody>
          <a:bodyPr>
            <a:normAutofit/>
          </a:bodyPr>
          <a:lstStyle/>
          <a:p>
            <a:pPr algn="ctr"/>
            <a:r>
              <a:rPr lang="en-US" sz="2800"/>
              <a:t>Deep Neural Networks and </a:t>
            </a:r>
            <a:r>
              <a:rPr lang="en-US" sz="2800" err="1"/>
              <a:t>ResNet</a:t>
            </a:r>
            <a:endParaRPr lang="en-US" sz="280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872510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9010EB7-141A-B86D-FFC9-16F3E2AE3A01}"/>
              </a:ext>
            </a:extLst>
          </p:cNvPr>
          <p:cNvSpPr>
            <a:spLocks noGrp="1"/>
          </p:cNvSpPr>
          <p:nvPr>
            <p:ph idx="26"/>
          </p:nvPr>
        </p:nvSpPr>
        <p:spPr>
          <a:xfrm>
            <a:off x="473691" y="683457"/>
            <a:ext cx="8196617" cy="3650177"/>
          </a:xfrm>
        </p:spPr>
        <p:txBody>
          <a:bodyPr/>
          <a:lstStyle/>
          <a:p>
            <a:r>
              <a:rPr lang="en-US"/>
              <a:t>Deep neural networks are good at processing information.</a:t>
            </a:r>
          </a:p>
          <a:p>
            <a:endParaRPr lang="en-US"/>
          </a:p>
          <a:p>
            <a:r>
              <a:rPr lang="en-US"/>
              <a:t>We expect that, the deeper the neural network, the better the result.</a:t>
            </a:r>
          </a:p>
          <a:p>
            <a:endParaRPr lang="en-US"/>
          </a:p>
          <a:p>
            <a:r>
              <a:rPr lang="en-US"/>
              <a:t>Shockingly, this may not be always the case: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F070E7F-2C5F-2DC3-B75E-6B225683D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Residual Networks (</a:t>
            </a:r>
            <a:r>
              <a:rPr lang="en-US" err="1"/>
              <a:t>ResNet</a:t>
            </a:r>
            <a:r>
              <a:rPr lang="en-US"/>
              <a:t>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3BF926-4484-1CEA-DF67-2AF70B1881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6517" y="2571750"/>
            <a:ext cx="6254318" cy="2123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8095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58D7C-6E9B-CAC9-662B-5DED7C5EE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725F1BF-2E50-E15C-4388-FA3EBF8ADF9E}"/>
              </a:ext>
            </a:extLst>
          </p:cNvPr>
          <p:cNvSpPr>
            <a:spLocks noGrp="1"/>
          </p:cNvSpPr>
          <p:nvPr>
            <p:ph idx="26"/>
          </p:nvPr>
        </p:nvSpPr>
        <p:spPr>
          <a:xfrm>
            <a:off x="473691" y="683457"/>
            <a:ext cx="8196617" cy="3650177"/>
          </a:xfrm>
        </p:spPr>
        <p:txBody>
          <a:bodyPr/>
          <a:lstStyle/>
          <a:p>
            <a:r>
              <a:rPr lang="en-US"/>
              <a:t>In vision applications, sometimes, deeper neural networks are worse?!</a:t>
            </a:r>
          </a:p>
          <a:p>
            <a:endParaRPr lang="en-US"/>
          </a:p>
          <a:p>
            <a:r>
              <a:rPr lang="en-US"/>
              <a:t>This caused a bottleneck in the performance of CNNs.</a:t>
            </a:r>
          </a:p>
          <a:p>
            <a:endParaRPr lang="en-US"/>
          </a:p>
          <a:p>
            <a:r>
              <a:rPr lang="en-US"/>
              <a:t>But why?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AF715F7-291F-15DF-5C7E-870B075E3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Residual Networks (</a:t>
            </a:r>
            <a:r>
              <a:rPr lang="en-US" err="1"/>
              <a:t>ResNet</a:t>
            </a:r>
            <a:r>
              <a:rPr lang="en-US"/>
              <a:t>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B49515-10BD-962F-B4CA-CFCC03A8C1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6517" y="2571750"/>
            <a:ext cx="6254318" cy="2123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1373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36766-12B7-3C86-4DDB-589D479AF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AD441C8-A2D6-2433-BCBE-18928C05E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Deep Neural Networks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B19F71F-532A-9641-4667-EA520B2D5692}"/>
              </a:ext>
            </a:extLst>
          </p:cNvPr>
          <p:cNvGrpSpPr/>
          <p:nvPr/>
        </p:nvGrpSpPr>
        <p:grpSpPr>
          <a:xfrm>
            <a:off x="403189" y="1041621"/>
            <a:ext cx="8070574" cy="3199075"/>
            <a:chOff x="403189" y="1041621"/>
            <a:chExt cx="8070574" cy="3199075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C3B18957-07CE-0F24-9BFC-4823B59DFEC5}"/>
                </a:ext>
              </a:extLst>
            </p:cNvPr>
            <p:cNvCxnSpPr/>
            <p:nvPr/>
          </p:nvCxnSpPr>
          <p:spPr>
            <a:xfrm>
              <a:off x="403189" y="10416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322DA4C2-9FAC-05D4-0EE6-C0E0D1B4A96D}"/>
                </a:ext>
              </a:extLst>
            </p:cNvPr>
            <p:cNvCxnSpPr/>
            <p:nvPr/>
          </p:nvCxnSpPr>
          <p:spPr>
            <a:xfrm>
              <a:off x="403189" y="21084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DF27D77D-FA99-70A2-DDE2-0006EA5FF82C}"/>
                </a:ext>
              </a:extLst>
            </p:cNvPr>
            <p:cNvCxnSpPr/>
            <p:nvPr/>
          </p:nvCxnSpPr>
          <p:spPr>
            <a:xfrm>
              <a:off x="403189" y="2634532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51E94F5E-E26E-E06D-4CB0-39BA88E57B0D}"/>
                </a:ext>
              </a:extLst>
            </p:cNvPr>
            <p:cNvCxnSpPr/>
            <p:nvPr/>
          </p:nvCxnSpPr>
          <p:spPr>
            <a:xfrm>
              <a:off x="403189" y="31738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AC20EEA-37E5-7B18-ED52-B13D4FE1C352}"/>
                </a:ext>
              </a:extLst>
            </p:cNvPr>
            <p:cNvCxnSpPr/>
            <p:nvPr/>
          </p:nvCxnSpPr>
          <p:spPr>
            <a:xfrm>
              <a:off x="403189" y="3700007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59025D3-1448-8286-ED67-D45341E016D3}"/>
                </a:ext>
              </a:extLst>
            </p:cNvPr>
            <p:cNvCxnSpPr/>
            <p:nvPr/>
          </p:nvCxnSpPr>
          <p:spPr>
            <a:xfrm>
              <a:off x="403189" y="42406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17BD1F1-1B0F-ECEF-4D96-A8FC69E5919B}"/>
                </a:ext>
              </a:extLst>
            </p:cNvPr>
            <p:cNvCxnSpPr/>
            <p:nvPr/>
          </p:nvCxnSpPr>
          <p:spPr>
            <a:xfrm>
              <a:off x="403189" y="1608814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636576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1BE431B-2679-4133-FCD4-91D46AD78E8D}"/>
              </a:ext>
            </a:extLst>
          </p:cNvPr>
          <p:cNvSpPr>
            <a:spLocks noGrp="1"/>
          </p:cNvSpPr>
          <p:nvPr>
            <p:ph idx="26"/>
          </p:nvPr>
        </p:nvSpPr>
        <p:spPr>
          <a:xfrm>
            <a:off x="423600" y="905398"/>
            <a:ext cx="7033643" cy="3650177"/>
          </a:xfrm>
        </p:spPr>
        <p:txBody>
          <a:bodyPr/>
          <a:lstStyle/>
          <a:p>
            <a:r>
              <a:rPr lang="en-US"/>
              <a:t>A breakthrough in NNs was made by using Residual Networks (</a:t>
            </a:r>
            <a:r>
              <a:rPr lang="en-US" err="1"/>
              <a:t>ResNet</a:t>
            </a:r>
            <a:r>
              <a:rPr lang="en-US"/>
              <a:t>).</a:t>
            </a:r>
          </a:p>
          <a:p>
            <a:endParaRPr lang="en-US"/>
          </a:p>
          <a:p>
            <a:r>
              <a:rPr lang="en-US"/>
              <a:t>Allows some information to flow through the network (see the right image).</a:t>
            </a:r>
          </a:p>
          <a:p>
            <a:endParaRPr lang="en-US"/>
          </a:p>
          <a:p>
            <a:r>
              <a:rPr lang="en-US" err="1"/>
              <a:t>ResNet</a:t>
            </a:r>
            <a:r>
              <a:rPr lang="en-US"/>
              <a:t> allow for far deeper neural networks!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DD0871-73B9-76A0-0F8A-632C9E114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Breakthrough? Passthrough!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92F904-3ABF-7E79-DFDA-3A5A7D186B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1837" y="0"/>
            <a:ext cx="1338301" cy="46818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FBD4738-E4FD-C21F-A89E-F4C9774043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8597" y="3274717"/>
            <a:ext cx="5678225" cy="1868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0392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D1C65-A5C8-95A9-C6BE-0BB2E5716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55AF4D4-657C-41A6-F1AE-7B72CBD6C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ResNet</a:t>
            </a:r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55AA43A-C122-B61B-5A4D-0A954085BCB7}"/>
              </a:ext>
            </a:extLst>
          </p:cNvPr>
          <p:cNvGrpSpPr/>
          <p:nvPr/>
        </p:nvGrpSpPr>
        <p:grpSpPr>
          <a:xfrm>
            <a:off x="403189" y="1041621"/>
            <a:ext cx="8070574" cy="3199075"/>
            <a:chOff x="403189" y="1041621"/>
            <a:chExt cx="8070574" cy="3199075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3F570DF8-072F-CA9C-F128-24BAE5B78094}"/>
                </a:ext>
              </a:extLst>
            </p:cNvPr>
            <p:cNvCxnSpPr/>
            <p:nvPr/>
          </p:nvCxnSpPr>
          <p:spPr>
            <a:xfrm>
              <a:off x="403189" y="10416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CB09DD7B-AA24-1CF4-6B6B-BE42C2325494}"/>
                </a:ext>
              </a:extLst>
            </p:cNvPr>
            <p:cNvCxnSpPr/>
            <p:nvPr/>
          </p:nvCxnSpPr>
          <p:spPr>
            <a:xfrm>
              <a:off x="403189" y="21084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A0BB0AF2-0FBE-DFC1-CB1E-79D7A903BFE1}"/>
                </a:ext>
              </a:extLst>
            </p:cNvPr>
            <p:cNvCxnSpPr/>
            <p:nvPr/>
          </p:nvCxnSpPr>
          <p:spPr>
            <a:xfrm>
              <a:off x="403189" y="2634532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E7F9D37-2E0C-B010-2609-50E19330B0AE}"/>
                </a:ext>
              </a:extLst>
            </p:cNvPr>
            <p:cNvCxnSpPr/>
            <p:nvPr/>
          </p:nvCxnSpPr>
          <p:spPr>
            <a:xfrm>
              <a:off x="403189" y="31738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7E79AFF-5910-98B5-2004-FA51392E48FE}"/>
                </a:ext>
              </a:extLst>
            </p:cNvPr>
            <p:cNvCxnSpPr/>
            <p:nvPr/>
          </p:nvCxnSpPr>
          <p:spPr>
            <a:xfrm>
              <a:off x="403189" y="3700007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889E36EB-FF7E-5824-BBAE-104C313A69AC}"/>
                </a:ext>
              </a:extLst>
            </p:cNvPr>
            <p:cNvCxnSpPr/>
            <p:nvPr/>
          </p:nvCxnSpPr>
          <p:spPr>
            <a:xfrm>
              <a:off x="403189" y="42406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FA0251-1412-8070-FC60-E1CEB991E727}"/>
                </a:ext>
              </a:extLst>
            </p:cNvPr>
            <p:cNvCxnSpPr/>
            <p:nvPr/>
          </p:nvCxnSpPr>
          <p:spPr>
            <a:xfrm>
              <a:off x="403189" y="1608814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159599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DDBBC28-E5D5-7560-F61D-A47FE90C2ED4}"/>
              </a:ext>
            </a:extLst>
          </p:cNvPr>
          <p:cNvSpPr>
            <a:spLocks noGrp="1"/>
          </p:cNvSpPr>
          <p:nvPr>
            <p:ph idx="26"/>
          </p:nvPr>
        </p:nvSpPr>
        <p:spPr/>
        <p:txBody>
          <a:bodyPr/>
          <a:lstStyle/>
          <a:p>
            <a:r>
              <a:rPr lang="en-US"/>
              <a:t>In a GPT: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378A933-E2EA-C65C-3986-041BFA0C3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Residual Networks are very common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61EF2951-5357-45B5-E299-CFB3A1F477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808" y="1535836"/>
            <a:ext cx="3531661" cy="2522615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50957A7C-788F-F263-30F7-D0DDAAE981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3598" y="1137384"/>
            <a:ext cx="3183631" cy="2057219"/>
          </a:xfrm>
          <a:prstGeom prst="rect">
            <a:avLst/>
          </a:prstGeom>
        </p:spPr>
      </p:pic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0E6BE81-D1D0-32CA-F446-4AF99D351E64}"/>
              </a:ext>
            </a:extLst>
          </p:cNvPr>
          <p:cNvCxnSpPr>
            <a:cxnSpLocks/>
          </p:cNvCxnSpPr>
          <p:nvPr/>
        </p:nvCxnSpPr>
        <p:spPr>
          <a:xfrm flipV="1">
            <a:off x="3675355" y="2423604"/>
            <a:ext cx="1058243" cy="37353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4290C931-2486-8AE5-91E6-318E08D9A97B}"/>
              </a:ext>
            </a:extLst>
          </p:cNvPr>
          <p:cNvSpPr txBox="1"/>
          <p:nvPr/>
        </p:nvSpPr>
        <p:spPr bwMode="auto">
          <a:xfrm flipH="1">
            <a:off x="5024760" y="1908540"/>
            <a:ext cx="1056443" cy="257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rmAutofit fontScale="47500" lnSpcReduction="20000"/>
          </a:bodyPr>
          <a:lstStyle/>
          <a:p>
            <a:r>
              <a:rPr lang="en-US" sz="2800">
                <a:solidFill>
                  <a:srgbClr val="29551A"/>
                </a:solidFill>
              </a:rPr>
              <a:t>Residual Stream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A0F8504-ABF6-B961-0975-7280D3E813D9}"/>
              </a:ext>
            </a:extLst>
          </p:cNvPr>
          <p:cNvSpPr txBox="1"/>
          <p:nvPr/>
        </p:nvSpPr>
        <p:spPr bwMode="auto">
          <a:xfrm flipH="1">
            <a:off x="7041470" y="2859930"/>
            <a:ext cx="1056443" cy="257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rmAutofit fontScale="47500" lnSpcReduction="20000"/>
          </a:bodyPr>
          <a:lstStyle/>
          <a:p>
            <a:r>
              <a:rPr lang="en-US" sz="2800">
                <a:solidFill>
                  <a:srgbClr val="29551A"/>
                </a:solidFill>
              </a:rPr>
              <a:t>Residual architecture</a:t>
            </a:r>
          </a:p>
        </p:txBody>
      </p:sp>
    </p:spTree>
    <p:extLst>
      <p:ext uri="{BB962C8B-B14F-4D97-AF65-F5344CB8AC3E}">
        <p14:creationId xmlns:p14="http://schemas.microsoft.com/office/powerpoint/2010/main" val="10414594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E562C0-3F73-12AA-5057-EA9D918AC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74D895C-E769-52E9-71D8-2391639AC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745" y="2121932"/>
            <a:ext cx="7792510" cy="1277277"/>
          </a:xfrm>
        </p:spPr>
        <p:txBody>
          <a:bodyPr>
            <a:normAutofit/>
          </a:bodyPr>
          <a:lstStyle/>
          <a:p>
            <a:pPr algn="ctr"/>
            <a:r>
              <a:rPr lang="en-US" sz="2800"/>
              <a:t>Adversarial Attacks on Neural Networks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097614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8B0B8F0-9170-76BA-FC0A-473D1BDF2C7B}"/>
              </a:ext>
            </a:extLst>
          </p:cNvPr>
          <p:cNvSpPr>
            <a:spLocks noGrp="1"/>
          </p:cNvSpPr>
          <p:nvPr>
            <p:ph idx="26"/>
          </p:nvPr>
        </p:nvSpPr>
        <p:spPr/>
        <p:txBody>
          <a:bodyPr/>
          <a:lstStyle/>
          <a:p>
            <a:r>
              <a:rPr lang="en-US"/>
              <a:t>We expect our neural networks to generalize.</a:t>
            </a:r>
          </a:p>
          <a:p>
            <a:endParaRPr lang="en-US"/>
          </a:p>
          <a:p>
            <a:r>
              <a:rPr lang="en-US"/>
              <a:t>If performance on training and validation sets yield good results, we expect similar data to be analyzed just as well.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0BFB91D-D70A-8828-F7C3-1281EE56A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Vision Systems</a:t>
            </a:r>
          </a:p>
        </p:txBody>
      </p:sp>
      <p:pic>
        <p:nvPicPr>
          <p:cNvPr id="4" name="Picture 3" descr="Convolutional neural networks">
            <a:extLst>
              <a:ext uri="{FF2B5EF4-FFF2-40B4-BE49-F238E27FC236}">
                <a16:creationId xmlns:a16="http://schemas.microsoft.com/office/drawing/2014/main" id="{169F9242-7001-F8D0-1883-06EC41358A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72" y="2571750"/>
            <a:ext cx="5510208" cy="1591310"/>
          </a:xfrm>
          <a:prstGeom prst="rect">
            <a:avLst/>
          </a:prstGeom>
        </p:spPr>
      </p:pic>
      <p:pic>
        <p:nvPicPr>
          <p:cNvPr id="5" name="Picture 4" descr="Golden Retriever Dog Breed Guide | BorrowMyDoggy">
            <a:extLst>
              <a:ext uri="{FF2B5EF4-FFF2-40B4-BE49-F238E27FC236}">
                <a16:creationId xmlns:a16="http://schemas.microsoft.com/office/drawing/2014/main" id="{CA6438BB-8973-00BB-614A-8932F6E60D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2352" y="2093849"/>
            <a:ext cx="1277704" cy="955802"/>
          </a:xfrm>
          <a:prstGeom prst="rect">
            <a:avLst/>
          </a:prstGeom>
        </p:spPr>
      </p:pic>
      <p:pic>
        <p:nvPicPr>
          <p:cNvPr id="6" name="Picture 5" descr="Golden Retriever Dog Breed &amp; Adoption Info | Petfinder">
            <a:extLst>
              <a:ext uri="{FF2B5EF4-FFF2-40B4-BE49-F238E27FC236}">
                <a16:creationId xmlns:a16="http://schemas.microsoft.com/office/drawing/2014/main" id="{0E3A64CF-D684-1C69-AC0B-4E748BA8CA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5356" y="3084448"/>
            <a:ext cx="1142215" cy="955803"/>
          </a:xfrm>
          <a:prstGeom prst="rect">
            <a:avLst/>
          </a:prstGeom>
        </p:spPr>
      </p:pic>
      <p:pic>
        <p:nvPicPr>
          <p:cNvPr id="7" name="Picture 6" descr="Golden Retriever: care, health problems, training">
            <a:extLst>
              <a:ext uri="{FF2B5EF4-FFF2-40B4-BE49-F238E27FC236}">
                <a16:creationId xmlns:a16="http://schemas.microsoft.com/office/drawing/2014/main" id="{A04A4599-41A7-06CC-62CB-B163A3FE45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7091" y="4040251"/>
            <a:ext cx="1528225" cy="85750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F7DD2B6-3457-6BA6-2C88-CE5A1D73E744}"/>
              </a:ext>
            </a:extLst>
          </p:cNvPr>
          <p:cNvSpPr txBox="1"/>
          <p:nvPr/>
        </p:nvSpPr>
        <p:spPr bwMode="auto">
          <a:xfrm flipH="1">
            <a:off x="7809424" y="2344098"/>
            <a:ext cx="1056443" cy="257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rmAutofit fontScale="47500" lnSpcReduction="20000"/>
          </a:bodyPr>
          <a:lstStyle/>
          <a:p>
            <a:r>
              <a:rPr lang="en-US" sz="2800">
                <a:solidFill>
                  <a:srgbClr val="29551A"/>
                </a:solidFill>
              </a:rPr>
              <a:t>Golden Retriever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A26877-384B-E637-7157-4399BCE61501}"/>
              </a:ext>
            </a:extLst>
          </p:cNvPr>
          <p:cNvSpPr txBox="1"/>
          <p:nvPr/>
        </p:nvSpPr>
        <p:spPr bwMode="auto">
          <a:xfrm flipH="1">
            <a:off x="7857571" y="3428627"/>
            <a:ext cx="1056443" cy="257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rmAutofit fontScale="47500" lnSpcReduction="20000"/>
          </a:bodyPr>
          <a:lstStyle/>
          <a:p>
            <a:r>
              <a:rPr lang="en-US" sz="2800">
                <a:solidFill>
                  <a:srgbClr val="29551A"/>
                </a:solidFill>
              </a:rPr>
              <a:t>Golden Retriever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0AE128-A44E-8569-B480-88CE97083946}"/>
              </a:ext>
            </a:extLst>
          </p:cNvPr>
          <p:cNvSpPr txBox="1"/>
          <p:nvPr/>
        </p:nvSpPr>
        <p:spPr bwMode="auto">
          <a:xfrm flipH="1">
            <a:off x="7887887" y="4255703"/>
            <a:ext cx="1056443" cy="257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rmAutofit fontScale="47500" lnSpcReduction="20000"/>
          </a:bodyPr>
          <a:lstStyle/>
          <a:p>
            <a:r>
              <a:rPr lang="en-US" sz="2800">
                <a:solidFill>
                  <a:srgbClr val="29551A"/>
                </a:solidFill>
              </a:rPr>
              <a:t>Golden Retriever</a:t>
            </a:r>
          </a:p>
        </p:txBody>
      </p:sp>
    </p:spTree>
    <p:extLst>
      <p:ext uri="{BB962C8B-B14F-4D97-AF65-F5344CB8AC3E}">
        <p14:creationId xmlns:p14="http://schemas.microsoft.com/office/powerpoint/2010/main" val="26791329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73941DA-6E99-58BE-53B9-D00964EBC340}"/>
              </a:ext>
            </a:extLst>
          </p:cNvPr>
          <p:cNvSpPr>
            <a:spLocks noGrp="1"/>
          </p:cNvSpPr>
          <p:nvPr>
            <p:ph idx="26"/>
          </p:nvPr>
        </p:nvSpPr>
        <p:spPr/>
        <p:txBody>
          <a:bodyPr/>
          <a:lstStyle/>
          <a:p>
            <a:r>
              <a:rPr lang="en-US"/>
              <a:t>Convolutional Neural Networks to be robust.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We want to be able to pick up useful features from images for generalization.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469A8F2-99AE-0F11-BC7D-DC2BBAE79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We Hope</a:t>
            </a:r>
          </a:p>
        </p:txBody>
      </p:sp>
      <p:pic>
        <p:nvPicPr>
          <p:cNvPr id="4" name="Picture 3" descr="Convolutional neural networks">
            <a:extLst>
              <a:ext uri="{FF2B5EF4-FFF2-40B4-BE49-F238E27FC236}">
                <a16:creationId xmlns:a16="http://schemas.microsoft.com/office/drawing/2014/main" id="{247E9C3F-BFDD-04BA-DD1E-DEA32A98E1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9549" y="1529334"/>
            <a:ext cx="5510208" cy="159131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9DF758E-8DF5-C6E3-0034-CC6126DDD80B}"/>
              </a:ext>
            </a:extLst>
          </p:cNvPr>
          <p:cNvSpPr txBox="1"/>
          <p:nvPr/>
        </p:nvSpPr>
        <p:spPr bwMode="auto">
          <a:xfrm flipH="1">
            <a:off x="2015397" y="2991917"/>
            <a:ext cx="1056443" cy="257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rmAutofit fontScale="47500" lnSpcReduction="20000"/>
          </a:bodyPr>
          <a:lstStyle/>
          <a:p>
            <a:r>
              <a:rPr lang="en-US" sz="2800">
                <a:solidFill>
                  <a:srgbClr val="29551A"/>
                </a:solidFill>
              </a:rPr>
              <a:t>Detect edges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9F1ECD-6439-D328-44D8-A84301CEE126}"/>
              </a:ext>
            </a:extLst>
          </p:cNvPr>
          <p:cNvSpPr txBox="1"/>
          <p:nvPr/>
        </p:nvSpPr>
        <p:spPr bwMode="auto">
          <a:xfrm flipH="1">
            <a:off x="2999901" y="2991916"/>
            <a:ext cx="1056443" cy="257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rmAutofit fontScale="47500" lnSpcReduction="20000"/>
          </a:bodyPr>
          <a:lstStyle/>
          <a:p>
            <a:r>
              <a:rPr lang="en-US" sz="2800">
                <a:solidFill>
                  <a:srgbClr val="29551A"/>
                </a:solidFill>
              </a:rPr>
              <a:t>Detect shapes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478564-911E-EEBD-D986-BEE97D439625}"/>
              </a:ext>
            </a:extLst>
          </p:cNvPr>
          <p:cNvSpPr txBox="1"/>
          <p:nvPr/>
        </p:nvSpPr>
        <p:spPr bwMode="auto">
          <a:xfrm flipH="1">
            <a:off x="6465874" y="2798827"/>
            <a:ext cx="1056443" cy="257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rmAutofit fontScale="47500" lnSpcReduction="20000"/>
          </a:bodyPr>
          <a:lstStyle/>
          <a:p>
            <a:r>
              <a:rPr lang="en-US" sz="2800">
                <a:solidFill>
                  <a:srgbClr val="29551A"/>
                </a:solidFill>
              </a:rPr>
              <a:t>Detect animal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AAE03E-8048-A9A0-88B4-99DA23E04EBC}"/>
              </a:ext>
            </a:extLst>
          </p:cNvPr>
          <p:cNvSpPr txBox="1"/>
          <p:nvPr/>
        </p:nvSpPr>
        <p:spPr bwMode="auto">
          <a:xfrm flipH="1">
            <a:off x="4628541" y="2863189"/>
            <a:ext cx="1056443" cy="257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rmAutofit fontScale="47500" lnSpcReduction="20000"/>
          </a:bodyPr>
          <a:lstStyle/>
          <a:p>
            <a:pPr algn="ctr"/>
            <a:r>
              <a:rPr lang="en-US" sz="2800">
                <a:solidFill>
                  <a:srgbClr val="29551A"/>
                </a:solidFill>
              </a:rPr>
              <a:t>…</a:t>
            </a:r>
          </a:p>
        </p:txBody>
      </p:sp>
      <p:pic>
        <p:nvPicPr>
          <p:cNvPr id="10" name="Picture 9" descr="Golden Retriever Dog Breed Guide | BorrowMyDoggy">
            <a:extLst>
              <a:ext uri="{FF2B5EF4-FFF2-40B4-BE49-F238E27FC236}">
                <a16:creationId xmlns:a16="http://schemas.microsoft.com/office/drawing/2014/main" id="{02699483-0A59-7D6F-2D05-38FBE96E64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85" y="1843025"/>
            <a:ext cx="1277704" cy="955802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BF2FBE1-36E8-295C-7D8F-83BA71B88921}"/>
              </a:ext>
            </a:extLst>
          </p:cNvPr>
          <p:cNvCxnSpPr>
            <a:cxnSpLocks/>
            <a:stCxn id="10" idx="3"/>
            <a:endCxn id="4" idx="1"/>
          </p:cNvCxnSpPr>
          <p:nvPr/>
        </p:nvCxnSpPr>
        <p:spPr>
          <a:xfrm>
            <a:off x="1386989" y="2320926"/>
            <a:ext cx="312560" cy="406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9A1F281-0E75-A94E-F443-C2CAF7E3EB07}"/>
              </a:ext>
            </a:extLst>
          </p:cNvPr>
          <p:cNvCxnSpPr>
            <a:cxnSpLocks/>
            <a:stCxn id="4" idx="3"/>
            <a:endCxn id="18" idx="3"/>
          </p:cNvCxnSpPr>
          <p:nvPr/>
        </p:nvCxnSpPr>
        <p:spPr>
          <a:xfrm flipV="1">
            <a:off x="7209757" y="2320926"/>
            <a:ext cx="312560" cy="406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B1719C8-107F-DFE5-497A-4C152819DC65}"/>
              </a:ext>
            </a:extLst>
          </p:cNvPr>
          <p:cNvSpPr txBox="1"/>
          <p:nvPr/>
        </p:nvSpPr>
        <p:spPr bwMode="auto">
          <a:xfrm flipH="1">
            <a:off x="7522317" y="2192199"/>
            <a:ext cx="1056443" cy="257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rmAutofit fontScale="47500" lnSpcReduction="20000"/>
          </a:bodyPr>
          <a:lstStyle/>
          <a:p>
            <a:r>
              <a:rPr lang="en-US" sz="2800">
                <a:solidFill>
                  <a:srgbClr val="29551A"/>
                </a:solidFill>
              </a:rPr>
              <a:t>Golden Retriever</a:t>
            </a:r>
          </a:p>
        </p:txBody>
      </p:sp>
      <p:pic>
        <p:nvPicPr>
          <p:cNvPr id="21" name="Picture 20" descr="In Infinity War, Thanos states reality is often disappointing. This is a  reference to that fact my landlord is raising my rent 30 percent and I  still don't have a dishwasher. :">
            <a:extLst>
              <a:ext uri="{FF2B5EF4-FFF2-40B4-BE49-F238E27FC236}">
                <a16:creationId xmlns:a16="http://schemas.microsoft.com/office/drawing/2014/main" id="{B3A0646C-93C4-E65F-4BF2-951FC6656B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5415" y="52570"/>
            <a:ext cx="2841244" cy="1775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2408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1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EAE4FEC-19F4-79E6-B87A-E5E144468807}"/>
              </a:ext>
            </a:extLst>
          </p:cNvPr>
          <p:cNvSpPr>
            <a:spLocks noGrp="1"/>
          </p:cNvSpPr>
          <p:nvPr>
            <p:ph idx="26"/>
          </p:nvPr>
        </p:nvSpPr>
        <p:spPr>
          <a:xfrm>
            <a:off x="423600" y="841390"/>
            <a:ext cx="8318119" cy="3650177"/>
          </a:xfrm>
        </p:spPr>
        <p:txBody>
          <a:bodyPr/>
          <a:lstStyle/>
          <a:p>
            <a:r>
              <a:rPr lang="en-US"/>
              <a:t>Sometimes, the black box nature of NNs can be used to exploit them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ED93578-6224-C4FF-B45B-536FC213E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Adversarial Attacks</a:t>
            </a:r>
          </a:p>
        </p:txBody>
      </p:sp>
      <p:pic>
        <p:nvPicPr>
          <p:cNvPr id="4" name="Picture 3" descr="Convolutional neural networks">
            <a:extLst>
              <a:ext uri="{FF2B5EF4-FFF2-40B4-BE49-F238E27FC236}">
                <a16:creationId xmlns:a16="http://schemas.microsoft.com/office/drawing/2014/main" id="{E76527C4-3FA3-2C96-6871-B6E7790B47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6896" y="1858518"/>
            <a:ext cx="5510208" cy="159131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14CEB18-CA3D-C2EB-A60E-6D96C2408C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384" y="1491234"/>
            <a:ext cx="914400" cy="90623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F918A92-59D2-C72D-89D9-90D6F4C5BA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384" y="3200205"/>
            <a:ext cx="914400" cy="906236"/>
          </a:xfrm>
          <a:prstGeom prst="rect">
            <a:avLst/>
          </a:prstGeom>
        </p:spPr>
      </p:pic>
      <p:cxnSp>
        <p:nvCxnSpPr>
          <p:cNvPr id="12" name="Elbow Connector 11">
            <a:extLst>
              <a:ext uri="{FF2B5EF4-FFF2-40B4-BE49-F238E27FC236}">
                <a16:creationId xmlns:a16="http://schemas.microsoft.com/office/drawing/2014/main" id="{FEFDB438-8C87-5DFD-C3EE-B93BB3F3C4B8}"/>
              </a:ext>
            </a:extLst>
          </p:cNvPr>
          <p:cNvCxnSpPr>
            <a:stCxn id="6" idx="3"/>
            <a:endCxn id="4" idx="1"/>
          </p:cNvCxnSpPr>
          <p:nvPr/>
        </p:nvCxnSpPr>
        <p:spPr>
          <a:xfrm>
            <a:off x="1192784" y="1944352"/>
            <a:ext cx="624112" cy="709821"/>
          </a:xfrm>
          <a:prstGeom prst="bentConnector3">
            <a:avLst/>
          </a:prstGeom>
          <a:ln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7E2B0783-D24D-2794-2526-DCA7111821E0}"/>
              </a:ext>
            </a:extLst>
          </p:cNvPr>
          <p:cNvCxnSpPr>
            <a:cxnSpLocks/>
            <a:stCxn id="8" idx="3"/>
            <a:endCxn id="4" idx="1"/>
          </p:cNvCxnSpPr>
          <p:nvPr/>
        </p:nvCxnSpPr>
        <p:spPr>
          <a:xfrm flipV="1">
            <a:off x="1192784" y="2654173"/>
            <a:ext cx="624112" cy="999150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FDDCBEA8-C5C9-E3F7-9519-0B771FA553C7}"/>
              </a:ext>
            </a:extLst>
          </p:cNvPr>
          <p:cNvSpPr txBox="1"/>
          <p:nvPr/>
        </p:nvSpPr>
        <p:spPr bwMode="auto">
          <a:xfrm flipH="1">
            <a:off x="7864362" y="1944352"/>
            <a:ext cx="1056443" cy="4069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rmAutofit fontScale="40000" lnSpcReduction="20000"/>
          </a:bodyPr>
          <a:lstStyle/>
          <a:p>
            <a:r>
              <a:rPr lang="en-US" sz="2800">
                <a:solidFill>
                  <a:srgbClr val="29551A"/>
                </a:solidFill>
              </a:rPr>
              <a:t>Output 1:</a:t>
            </a:r>
          </a:p>
          <a:p>
            <a:r>
              <a:rPr lang="en-US" sz="2800">
                <a:solidFill>
                  <a:srgbClr val="29551A"/>
                </a:solidFill>
              </a:rPr>
              <a:t>Golden Retriever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E5B1756-CF2D-0751-CB75-5647F79DC5A2}"/>
              </a:ext>
            </a:extLst>
          </p:cNvPr>
          <p:cNvSpPr txBox="1"/>
          <p:nvPr/>
        </p:nvSpPr>
        <p:spPr bwMode="auto">
          <a:xfrm flipH="1">
            <a:off x="7864361" y="3246332"/>
            <a:ext cx="1056443" cy="4069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rmAutofit fontScale="40000" lnSpcReduction="20000"/>
          </a:bodyPr>
          <a:lstStyle/>
          <a:p>
            <a:r>
              <a:rPr lang="en-US" sz="2800">
                <a:solidFill>
                  <a:srgbClr val="29551A"/>
                </a:solidFill>
              </a:rPr>
              <a:t>Output 3:</a:t>
            </a:r>
          </a:p>
          <a:p>
            <a:r>
              <a:rPr lang="en-US" sz="2800">
                <a:solidFill>
                  <a:srgbClr val="29551A"/>
                </a:solidFill>
              </a:rPr>
              <a:t>Digital Clock</a:t>
            </a:r>
          </a:p>
        </p:txBody>
      </p:sp>
      <p:cxnSp>
        <p:nvCxnSpPr>
          <p:cNvPr id="22" name="Elbow Connector 21">
            <a:extLst>
              <a:ext uri="{FF2B5EF4-FFF2-40B4-BE49-F238E27FC236}">
                <a16:creationId xmlns:a16="http://schemas.microsoft.com/office/drawing/2014/main" id="{840D8230-C91A-4970-0A12-4051447FC64E}"/>
              </a:ext>
            </a:extLst>
          </p:cNvPr>
          <p:cNvCxnSpPr>
            <a:cxnSpLocks/>
            <a:stCxn id="4" idx="3"/>
            <a:endCxn id="19" idx="3"/>
          </p:cNvCxnSpPr>
          <p:nvPr/>
        </p:nvCxnSpPr>
        <p:spPr>
          <a:xfrm flipV="1">
            <a:off x="7327104" y="2147848"/>
            <a:ext cx="537258" cy="506325"/>
          </a:xfrm>
          <a:prstGeom prst="bentConnector3">
            <a:avLst/>
          </a:prstGeom>
          <a:ln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Elbow Connector 27">
            <a:extLst>
              <a:ext uri="{FF2B5EF4-FFF2-40B4-BE49-F238E27FC236}">
                <a16:creationId xmlns:a16="http://schemas.microsoft.com/office/drawing/2014/main" id="{439D98C4-166A-4595-0EF0-1CF1A26D3C6E}"/>
              </a:ext>
            </a:extLst>
          </p:cNvPr>
          <p:cNvCxnSpPr>
            <a:cxnSpLocks/>
            <a:stCxn id="4" idx="3"/>
            <a:endCxn id="21" idx="3"/>
          </p:cNvCxnSpPr>
          <p:nvPr/>
        </p:nvCxnSpPr>
        <p:spPr>
          <a:xfrm>
            <a:off x="7327104" y="2654173"/>
            <a:ext cx="537257" cy="795655"/>
          </a:xfrm>
          <a:prstGeom prst="bentConnector3">
            <a:avLst/>
          </a:prstGeom>
          <a:ln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94278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07A3D5A-096D-A20D-CC8C-D4A98CD7423D}"/>
              </a:ext>
            </a:extLst>
          </p:cNvPr>
          <p:cNvSpPr>
            <a:spLocks noGrp="1"/>
          </p:cNvSpPr>
          <p:nvPr>
            <p:ph idx="26"/>
          </p:nvPr>
        </p:nvSpPr>
        <p:spPr/>
        <p:txBody>
          <a:bodyPr/>
          <a:lstStyle/>
          <a:p>
            <a:r>
              <a:rPr lang="en-US"/>
              <a:t>Injecting a specific signal can trick the NN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In real life examples, reliability needs to be guaranteed!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09A2970-7E9A-3B1B-D368-254A93107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Adversarial Attacks</a:t>
            </a:r>
          </a:p>
        </p:txBody>
      </p:sp>
      <p:pic>
        <p:nvPicPr>
          <p:cNvPr id="4" name="Picture 3" descr="Golden Retriever image vs. adversarial version (Carlini &amp; Wagner L2 attack). AI misclassifies it as &quot;digital clock&quot;. Enhanced perturbation image shows the subtle changes.">
            <a:extLst>
              <a:ext uri="{FF2B5EF4-FFF2-40B4-BE49-F238E27FC236}">
                <a16:creationId xmlns:a16="http://schemas.microsoft.com/office/drawing/2014/main" id="{5C4FBC38-424F-7AE1-452D-DD26916D30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444" y="1297340"/>
            <a:ext cx="6858000" cy="2384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9424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27B0207-82E9-8C8A-E88C-68D23ABDCBC8}"/>
              </a:ext>
            </a:extLst>
          </p:cNvPr>
          <p:cNvSpPr>
            <a:spLocks noGrp="1"/>
          </p:cNvSpPr>
          <p:nvPr>
            <p:ph idx="26"/>
          </p:nvPr>
        </p:nvSpPr>
        <p:spPr/>
        <p:txBody>
          <a:bodyPr/>
          <a:lstStyle/>
          <a:p>
            <a:r>
              <a:rPr lang="en-US" dirty="0"/>
              <a:t>Design threat model</a:t>
            </a:r>
          </a:p>
          <a:p>
            <a:endParaRPr lang="en-US" dirty="0"/>
          </a:p>
          <a:p>
            <a:r>
              <a:rPr lang="en-US" dirty="0"/>
              <a:t>Certified robustness</a:t>
            </a:r>
          </a:p>
          <a:p>
            <a:endParaRPr lang="en-US" dirty="0"/>
          </a:p>
          <a:p>
            <a:r>
              <a:rPr lang="en-US" dirty="0"/>
              <a:t>Use robust training algorithms</a:t>
            </a:r>
          </a:p>
          <a:p>
            <a:endParaRPr lang="en-US" dirty="0"/>
          </a:p>
          <a:p>
            <a:r>
              <a:rPr lang="en-US" dirty="0"/>
              <a:t>Detect-and-abstain</a:t>
            </a:r>
          </a:p>
          <a:p>
            <a:endParaRPr lang="en-US" dirty="0"/>
          </a:p>
          <a:p>
            <a:r>
              <a:rPr lang="en-US" dirty="0"/>
              <a:t>Preprocessing and de-noising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AAE35FB-6EF0-E113-6F5E-E18B09437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Solutions</a:t>
            </a:r>
          </a:p>
        </p:txBody>
      </p:sp>
    </p:spTree>
    <p:extLst>
      <p:ext uri="{BB962C8B-B14F-4D97-AF65-F5344CB8AC3E}">
        <p14:creationId xmlns:p14="http://schemas.microsoft.com/office/powerpoint/2010/main" val="862970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25D74-0AC6-8324-F538-C03EB10CD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C7E3676-C491-A0F9-97FD-46D5902E3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745" y="2121932"/>
            <a:ext cx="7792510" cy="1277277"/>
          </a:xfrm>
        </p:spPr>
        <p:txBody>
          <a:bodyPr>
            <a:normAutofit/>
          </a:bodyPr>
          <a:lstStyle/>
          <a:p>
            <a:pPr algn="ctr"/>
            <a:r>
              <a:rPr lang="en-US" sz="2800"/>
              <a:t>Time Series Analysis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138862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7922227-D1B3-43EB-23C0-C0BA463A5279}"/>
              </a:ext>
            </a:extLst>
          </p:cNvPr>
          <p:cNvSpPr>
            <a:spLocks noGrp="1"/>
          </p:cNvSpPr>
          <p:nvPr>
            <p:ph idx="26"/>
          </p:nvPr>
        </p:nvSpPr>
        <p:spPr>
          <a:xfrm>
            <a:off x="423600" y="905398"/>
            <a:ext cx="5034225" cy="3650177"/>
          </a:xfrm>
        </p:spPr>
        <p:txBody>
          <a:bodyPr/>
          <a:lstStyle/>
          <a:p>
            <a:r>
              <a:rPr lang="en-US"/>
              <a:t>Some signals can only be understood when studied for a period of time (ex: EKG signals, human activity signals).</a:t>
            </a:r>
          </a:p>
          <a:p>
            <a:endParaRPr lang="en-US"/>
          </a:p>
          <a:p>
            <a:r>
              <a:rPr lang="en-US"/>
              <a:t>CNNs can be used to deal with these signals.</a:t>
            </a:r>
          </a:p>
          <a:p>
            <a:endParaRPr lang="en-US"/>
          </a:p>
          <a:p>
            <a:r>
              <a:rPr lang="en-US"/>
              <a:t>How: Using a sliding window and 1D convolution kernels.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9B81C35-A070-3262-8A07-1673CC30F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Time Series Analysis</a:t>
            </a:r>
          </a:p>
        </p:txBody>
      </p:sp>
      <p:pic>
        <p:nvPicPr>
          <p:cNvPr id="4" name="Picture 3" descr="Understanding the 1D Convolutional Layer in Deep Learning ...">
            <a:extLst>
              <a:ext uri="{FF2B5EF4-FFF2-40B4-BE49-F238E27FC236}">
                <a16:creationId xmlns:a16="http://schemas.microsoft.com/office/drawing/2014/main" id="{22E1467C-1D5C-8B36-9AB1-A70F9A4AEC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7825" y="1291305"/>
            <a:ext cx="3409760" cy="2946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1958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6E1C1-2562-5FD3-75B9-249E0C153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1364533-E1FF-0D97-A533-4D7D88EA45BE}"/>
              </a:ext>
            </a:extLst>
          </p:cNvPr>
          <p:cNvSpPr>
            <a:spLocks noGrp="1"/>
          </p:cNvSpPr>
          <p:nvPr>
            <p:ph idx="26"/>
          </p:nvPr>
        </p:nvSpPr>
        <p:spPr/>
        <p:txBody>
          <a:bodyPr/>
          <a:lstStyle/>
          <a:p>
            <a:r>
              <a:rPr lang="en-US" dirty="0"/>
              <a:t>He, K., Zhang, X., Ren, S., &amp; Sun, J. (2016). Deep residual learning for image recognition. In Proceedings of the IEEE conference on computer vision and pattern recognition (pp. 770-778).</a:t>
            </a:r>
          </a:p>
          <a:p>
            <a:endParaRPr lang="en-US" dirty="0"/>
          </a:p>
          <a:p>
            <a:r>
              <a:rPr lang="en-US" dirty="0"/>
              <a:t>Adam optimizer: </a:t>
            </a:r>
            <a:r>
              <a:rPr lang="en-US" dirty="0">
                <a:hlinkClick r:id="rId2"/>
              </a:rPr>
              <a:t>https://www.geeksforgeeks.org/deep-learning/adam-optimizer/</a:t>
            </a:r>
            <a:endParaRPr lang="en-US" dirty="0"/>
          </a:p>
          <a:p>
            <a:endParaRPr lang="en-US" dirty="0"/>
          </a:p>
          <a:p>
            <a:r>
              <a:rPr lang="en-US" dirty="0">
                <a:hlinkClick r:id="rId3"/>
              </a:rPr>
              <a:t>https://docs.pytorch.org/docs/2.14/generated/torch.optim.Adam.html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E0AD47E-0E2B-CA86-9394-B8961ADBF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1624907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76C07-D41A-AEFA-B42E-48C3DBC67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053156F-1A2F-8505-D207-92180BBBD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Extra notes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B7336C1-5220-AC4A-445F-99497361E25F}"/>
              </a:ext>
            </a:extLst>
          </p:cNvPr>
          <p:cNvGrpSpPr/>
          <p:nvPr/>
        </p:nvGrpSpPr>
        <p:grpSpPr>
          <a:xfrm>
            <a:off x="403189" y="1041621"/>
            <a:ext cx="8070574" cy="3199075"/>
            <a:chOff x="403189" y="1041621"/>
            <a:chExt cx="8070574" cy="3199075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870EE114-1063-253B-FB2C-BFA39DC3EF20}"/>
                </a:ext>
              </a:extLst>
            </p:cNvPr>
            <p:cNvCxnSpPr/>
            <p:nvPr/>
          </p:nvCxnSpPr>
          <p:spPr>
            <a:xfrm>
              <a:off x="403189" y="10416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3EFBB1F5-906F-0250-0D16-77C4DC5D9A16}"/>
                </a:ext>
              </a:extLst>
            </p:cNvPr>
            <p:cNvCxnSpPr/>
            <p:nvPr/>
          </p:nvCxnSpPr>
          <p:spPr>
            <a:xfrm>
              <a:off x="403189" y="21084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F31AFC-1484-5785-3E87-671DAC523D16}"/>
                </a:ext>
              </a:extLst>
            </p:cNvPr>
            <p:cNvCxnSpPr/>
            <p:nvPr/>
          </p:nvCxnSpPr>
          <p:spPr>
            <a:xfrm>
              <a:off x="403189" y="2634532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086074F-80CB-D98B-5737-52C190287FFE}"/>
                </a:ext>
              </a:extLst>
            </p:cNvPr>
            <p:cNvCxnSpPr/>
            <p:nvPr/>
          </p:nvCxnSpPr>
          <p:spPr>
            <a:xfrm>
              <a:off x="403189" y="31738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965DB92-0732-96C5-B36D-D7853A6F6C83}"/>
                </a:ext>
              </a:extLst>
            </p:cNvPr>
            <p:cNvCxnSpPr/>
            <p:nvPr/>
          </p:nvCxnSpPr>
          <p:spPr>
            <a:xfrm>
              <a:off x="403189" y="3700007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003FED1-AAB1-F690-CB81-9E9A6B7731BE}"/>
                </a:ext>
              </a:extLst>
            </p:cNvPr>
            <p:cNvCxnSpPr/>
            <p:nvPr/>
          </p:nvCxnSpPr>
          <p:spPr>
            <a:xfrm>
              <a:off x="403189" y="42406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BD5393A-A68F-5765-F267-E302B784B23C}"/>
                </a:ext>
              </a:extLst>
            </p:cNvPr>
            <p:cNvCxnSpPr/>
            <p:nvPr/>
          </p:nvCxnSpPr>
          <p:spPr>
            <a:xfrm>
              <a:off x="403189" y="1608814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354376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CP_PPT_STANDARD_V1" val="bFGnCw1I"/>
  <p:tag name="ARTICULATE_PROJECT_OPEN" val="0"/>
  <p:tag name="ARTICULATE_SLIDE_COUNT" val="6"/>
  <p:tag name="ARTICULATE_SLIDE_THUMBNAIL_REFRE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CP_ppt_standard_v1">
  <a:themeElements>
    <a:clrScheme name="Cal Poly Theme 1">
      <a:dk1>
        <a:srgbClr val="000000"/>
      </a:dk1>
      <a:lt1>
        <a:sysClr val="window" lastClr="FFFFFF"/>
      </a:lt1>
      <a:dk2>
        <a:srgbClr val="143B1E"/>
      </a:dk2>
      <a:lt2>
        <a:srgbClr val="EEECE1"/>
      </a:lt2>
      <a:accent1>
        <a:srgbClr val="857756"/>
      </a:accent1>
      <a:accent2>
        <a:srgbClr val="7E7462"/>
      </a:accent2>
      <a:accent3>
        <a:srgbClr val="3B3523"/>
      </a:accent3>
      <a:accent4>
        <a:srgbClr val="4F512F"/>
      </a:accent4>
      <a:accent5>
        <a:srgbClr val="273015"/>
      </a:accent5>
      <a:accent6>
        <a:srgbClr val="C6C0B7"/>
      </a:accent6>
      <a:hlink>
        <a:srgbClr val="857756"/>
      </a:hlink>
      <a:folHlink>
        <a:srgbClr val="7E7462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  <a:ext uri="{FAA26D3D-D897-4be2-8F04-BA451C77F1D7}">
            <ma14:placeholderFlag xmlns:ma14="http://schemas.microsoft.com/office/mac/drawingml/2011/main" xmlns="" val="1"/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normAutofit/>
      </a:bodyPr>
      <a:lstStyle>
        <a:defPPr>
          <a:defRPr sz="2800" dirty="0" smtClean="0">
            <a:solidFill>
              <a:srgbClr val="29551A"/>
            </a:soli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4022</TotalTime>
  <Words>594</Words>
  <Application>Microsoft Macintosh PowerPoint</Application>
  <PresentationFormat>On-screen Show (16:9)</PresentationFormat>
  <Paragraphs>137</Paragraphs>
  <Slides>26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Cambria Math</vt:lpstr>
      <vt:lpstr>Palatino Linotype</vt:lpstr>
      <vt:lpstr>CP_ppt_standard_v1</vt:lpstr>
      <vt:lpstr>Misc Topics in Vision and CNNs</vt:lpstr>
      <vt:lpstr>Overview</vt:lpstr>
      <vt:lpstr>ADAM</vt:lpstr>
      <vt:lpstr>Optimization of NNs</vt:lpstr>
      <vt:lpstr>Optimization in NN</vt:lpstr>
      <vt:lpstr>Adaptive Moment Estimation (Adam)</vt:lpstr>
      <vt:lpstr>Adaptive Moment Estimation (Adam)</vt:lpstr>
      <vt:lpstr>Adaptive Moment Estimation (Adam)</vt:lpstr>
      <vt:lpstr>Adam Optimizer</vt:lpstr>
      <vt:lpstr>Deep Neural Networks and ResNet</vt:lpstr>
      <vt:lpstr>Residual Networks (ResNet)</vt:lpstr>
      <vt:lpstr>Residual Networks (ResNet)</vt:lpstr>
      <vt:lpstr>Deep Neural Networks</vt:lpstr>
      <vt:lpstr>Breakthrough? Passthrough!</vt:lpstr>
      <vt:lpstr>ResNet</vt:lpstr>
      <vt:lpstr>Residual Networks are very common</vt:lpstr>
      <vt:lpstr>Adversarial Attacks on Neural Networks</vt:lpstr>
      <vt:lpstr>Vision Systems</vt:lpstr>
      <vt:lpstr>What We Hope</vt:lpstr>
      <vt:lpstr>Adversarial Attacks</vt:lpstr>
      <vt:lpstr>Adversarial Attacks</vt:lpstr>
      <vt:lpstr>Solutions</vt:lpstr>
      <vt:lpstr>Time Series Analysis</vt:lpstr>
      <vt:lpstr>Time Series Analysis</vt:lpstr>
      <vt:lpstr>References</vt:lpstr>
      <vt:lpstr>Extra notes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AI and Machine Learning?</dc:title>
  <cp:lastModifiedBy>Mohammad Hasan</cp:lastModifiedBy>
  <cp:revision>69</cp:revision>
  <dcterms:modified xsi:type="dcterms:W3CDTF">2026-10-28T04:45:26Z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118AC62C-6063-445C-83E0-64D5A29EA3D4</vt:lpwstr>
  </property>
  <property fmtid="{D5CDD505-2E9C-101B-9397-08002B2CF9AE}" pid="3" name="ArticulatePath">
    <vt:lpwstr>Unconscious Bias in the Engineering Faculty Search Process_v3</vt:lpwstr>
  </property>
</Properties>
</file>