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heme/theme2.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27"/>
  </p:notesMasterIdLst>
  <p:sldIdLst>
    <p:sldId id="315" r:id="rId2"/>
    <p:sldId id="343" r:id="rId3"/>
    <p:sldId id="365" r:id="rId4"/>
    <p:sldId id="366" r:id="rId5"/>
    <p:sldId id="367" r:id="rId6"/>
    <p:sldId id="369" r:id="rId7"/>
    <p:sldId id="370" r:id="rId8"/>
    <p:sldId id="360" r:id="rId9"/>
    <p:sldId id="371" r:id="rId10"/>
    <p:sldId id="372" r:id="rId11"/>
    <p:sldId id="374" r:id="rId12"/>
    <p:sldId id="375" r:id="rId13"/>
    <p:sldId id="376" r:id="rId14"/>
    <p:sldId id="377" r:id="rId15"/>
    <p:sldId id="378" r:id="rId16"/>
    <p:sldId id="379" r:id="rId17"/>
    <p:sldId id="380" r:id="rId18"/>
    <p:sldId id="385" r:id="rId19"/>
    <p:sldId id="381" r:id="rId20"/>
    <p:sldId id="382" r:id="rId21"/>
    <p:sldId id="383" r:id="rId22"/>
    <p:sldId id="384" r:id="rId23"/>
    <p:sldId id="386" r:id="rId24"/>
    <p:sldId id="362" r:id="rId25"/>
    <p:sldId id="373" r:id="rId26"/>
  </p:sldIdLst>
  <p:sldSz cx="9144000" cy="5143500" type="screen16x9"/>
  <p:notesSz cx="9236075" cy="7010400"/>
  <p:custDataLst>
    <p:tags r:id="rId28"/>
  </p:custDataLst>
  <p:defaultTextStyle>
    <a:defPPr>
      <a:defRPr lang="en-US"/>
    </a:defPPr>
    <a:lvl1pPr algn="l" defTabSz="457200"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284"/>
    <a:srgbClr val="8B92DE"/>
    <a:srgbClr val="EAAB00"/>
    <a:srgbClr val="C6C0B7"/>
    <a:srgbClr val="3B3523"/>
    <a:srgbClr val="F0EED7"/>
    <a:srgbClr val="857756"/>
    <a:srgbClr val="7E7462"/>
    <a:srgbClr val="273015"/>
    <a:srgbClr val="4F51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41"/>
    <p:restoredTop sz="94640"/>
  </p:normalViewPr>
  <p:slideViewPr>
    <p:cSldViewPr snapToGrid="0">
      <p:cViewPr varScale="1">
        <p:scale>
          <a:sx n="242" d="100"/>
          <a:sy n="242" d="100"/>
        </p:scale>
        <p:origin x="98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875-4CA1-AFBF-A3E9F95F45CE}"/>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875-4CA1-AFBF-A3E9F95F45CE}"/>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875-4CA1-AFBF-A3E9F95F45CE}"/>
            </c:ext>
          </c:extLst>
        </c:ser>
        <c:dLbls>
          <c:showLegendKey val="0"/>
          <c:showVal val="0"/>
          <c:showCatName val="0"/>
          <c:showSerName val="0"/>
          <c:showPercent val="0"/>
          <c:showBubbleSize val="0"/>
        </c:dLbls>
        <c:gapWidth val="150"/>
        <c:axId val="174220736"/>
        <c:axId val="146502112"/>
      </c:barChart>
      <c:catAx>
        <c:axId val="1742207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46502112"/>
        <c:crosses val="autoZero"/>
        <c:auto val="1"/>
        <c:lblAlgn val="ctr"/>
        <c:lblOffset val="100"/>
        <c:noMultiLvlLbl val="0"/>
      </c:catAx>
      <c:valAx>
        <c:axId val="14650211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74220736"/>
        <c:crosses val="autoZero"/>
        <c:crossBetween val="between"/>
      </c:valAx>
      <c:spPr>
        <a:solidFill>
          <a:srgbClr val="F2F2F2"/>
        </a:solidFill>
        <a:ln w="25387">
          <a:noFill/>
        </a:ln>
      </c:spPr>
    </c:plotArea>
    <c:legend>
      <c:legendPos val="r"/>
      <c:layout>
        <c:manualLayout>
          <c:xMode val="edge"/>
          <c:yMode val="edge"/>
          <c:x val="0.67469879518072284"/>
          <c:y val="0.32344213649851633"/>
          <c:w val="0.28915662650602408"/>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A06-4755-B39D-439C5442E7D7}"/>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A06-4755-B39D-439C5442E7D7}"/>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A06-4755-B39D-439C5442E7D7}"/>
            </c:ext>
          </c:extLst>
        </c:ser>
        <c:dLbls>
          <c:showLegendKey val="0"/>
          <c:showVal val="0"/>
          <c:showCatName val="0"/>
          <c:showSerName val="0"/>
          <c:showPercent val="0"/>
          <c:showBubbleSize val="0"/>
        </c:dLbls>
        <c:gapWidth val="150"/>
        <c:axId val="251362160"/>
        <c:axId val="251362552"/>
      </c:barChart>
      <c:catAx>
        <c:axId val="251362160"/>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552"/>
        <c:crosses val="autoZero"/>
        <c:auto val="1"/>
        <c:lblAlgn val="ctr"/>
        <c:lblOffset val="100"/>
        <c:noMultiLvlLbl val="0"/>
      </c:catAx>
      <c:valAx>
        <c:axId val="25136255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160"/>
        <c:crosses val="autoZero"/>
        <c:crossBetween val="between"/>
      </c:valAx>
      <c:spPr>
        <a:solidFill>
          <a:srgbClr val="F2F2F2"/>
        </a:solidFill>
        <a:ln w="25385">
          <a:noFill/>
        </a:ln>
      </c:spPr>
    </c:plotArea>
    <c:legend>
      <c:legendPos val="r"/>
      <c:layout>
        <c:manualLayout>
          <c:xMode val="edge"/>
          <c:yMode val="edge"/>
          <c:x val="0.67469879518072284"/>
          <c:y val="0.32344213649851633"/>
          <c:w val="0.28915662650602408"/>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EEC-4472-834A-CD78B91F17C4}"/>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EEC-4472-834A-CD78B91F17C4}"/>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EEC-4472-834A-CD78B91F17C4}"/>
            </c:ext>
          </c:extLst>
        </c:ser>
        <c:dLbls>
          <c:showLegendKey val="0"/>
          <c:showVal val="0"/>
          <c:showCatName val="0"/>
          <c:showSerName val="0"/>
          <c:showPercent val="0"/>
          <c:showBubbleSize val="0"/>
        </c:dLbls>
        <c:gapWidth val="150"/>
        <c:axId val="251363336"/>
        <c:axId val="251363728"/>
      </c:barChart>
      <c:catAx>
        <c:axId val="2513633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728"/>
        <c:crosses val="autoZero"/>
        <c:auto val="1"/>
        <c:lblAlgn val="ctr"/>
        <c:lblOffset val="100"/>
        <c:noMultiLvlLbl val="0"/>
      </c:catAx>
      <c:valAx>
        <c:axId val="25136372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336"/>
        <c:crosses val="autoZero"/>
        <c:crossBetween val="between"/>
      </c:valAx>
      <c:spPr>
        <a:solidFill>
          <a:srgbClr val="F2F2F2"/>
        </a:solidFill>
        <a:ln w="25387">
          <a:noFill/>
        </a:ln>
      </c:spPr>
    </c:plotArea>
    <c:legend>
      <c:legendPos val="r"/>
      <c:layout>
        <c:manualLayout>
          <c:xMode val="edge"/>
          <c:yMode val="edge"/>
          <c:x val="0.84421534936998854"/>
          <c:y val="0.34421364985163205"/>
          <c:w val="0.13745704467353953"/>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C27A-48D0-BD55-17F64B850A76}"/>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C27A-48D0-BD55-17F64B850A76}"/>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C27A-48D0-BD55-17F64B850A76}"/>
            </c:ext>
          </c:extLst>
        </c:ser>
        <c:dLbls>
          <c:showLegendKey val="0"/>
          <c:showVal val="0"/>
          <c:showCatName val="0"/>
          <c:showSerName val="0"/>
          <c:showPercent val="0"/>
          <c:showBubbleSize val="0"/>
        </c:dLbls>
        <c:smooth val="0"/>
        <c:axId val="251364512"/>
        <c:axId val="251364904"/>
      </c:lineChart>
      <c:catAx>
        <c:axId val="25136451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904"/>
        <c:crosses val="autoZero"/>
        <c:auto val="1"/>
        <c:lblAlgn val="ctr"/>
        <c:lblOffset val="100"/>
        <c:noMultiLvlLbl val="0"/>
      </c:catAx>
      <c:valAx>
        <c:axId val="25136490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512"/>
        <c:crosses val="autoZero"/>
        <c:crossBetween val="between"/>
      </c:valAx>
      <c:spPr>
        <a:solidFill>
          <a:srgbClr val="F2F2F2"/>
        </a:solidFill>
        <a:ln w="25387">
          <a:noFill/>
        </a:ln>
      </c:spPr>
    </c:plotArea>
    <c:legend>
      <c:legendPos val="r"/>
      <c:layout>
        <c:manualLayout>
          <c:xMode val="edge"/>
          <c:yMode val="edge"/>
          <c:x val="0.66987951807228918"/>
          <c:y val="0.32344213649851633"/>
          <c:w val="0.29638554216867469"/>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136-4F72-A118-34CB4C66CEAF}"/>
            </c:ext>
          </c:extLst>
        </c:ser>
        <c:ser>
          <c:idx val="1"/>
          <c:order val="1"/>
          <c:tx>
            <c:strRef>
              <c:f>Sheet1!$C$1</c:f>
              <c:strCache>
                <c:ptCount val="1"/>
                <c:pt idx="0">
                  <c:v>Series 2</c:v>
                </c:pt>
              </c:strCache>
            </c:strRef>
          </c:tx>
          <c:spPr>
            <a:ln w="38077">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136-4F72-A118-34CB4C66CEAF}"/>
            </c:ext>
          </c:extLst>
        </c:ser>
        <c:ser>
          <c:idx val="2"/>
          <c:order val="2"/>
          <c:tx>
            <c:strRef>
              <c:f>Sheet1!$D$1</c:f>
              <c:strCache>
                <c:ptCount val="1"/>
                <c:pt idx="0">
                  <c:v>Series 3</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136-4F72-A118-34CB4C66CEAF}"/>
            </c:ext>
          </c:extLst>
        </c:ser>
        <c:dLbls>
          <c:showLegendKey val="0"/>
          <c:showVal val="0"/>
          <c:showCatName val="0"/>
          <c:showSerName val="0"/>
          <c:showPercent val="0"/>
          <c:showBubbleSize val="0"/>
        </c:dLbls>
        <c:smooth val="0"/>
        <c:axId val="251365688"/>
        <c:axId val="251989008"/>
      </c:lineChart>
      <c:catAx>
        <c:axId val="251365688"/>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008"/>
        <c:crosses val="autoZero"/>
        <c:auto val="1"/>
        <c:lblAlgn val="ctr"/>
        <c:lblOffset val="100"/>
        <c:noMultiLvlLbl val="0"/>
      </c:catAx>
      <c:valAx>
        <c:axId val="25198900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5688"/>
        <c:crosses val="autoZero"/>
        <c:crossBetween val="between"/>
      </c:valAx>
      <c:spPr>
        <a:solidFill>
          <a:srgbClr val="F2F2F2"/>
        </a:solidFill>
        <a:ln w="25385">
          <a:noFill/>
        </a:ln>
      </c:spPr>
    </c:plotArea>
    <c:legend>
      <c:legendPos val="r"/>
      <c:layout>
        <c:manualLayout>
          <c:xMode val="edge"/>
          <c:yMode val="edge"/>
          <c:x val="0.66987951807228918"/>
          <c:y val="0.32344213649851633"/>
          <c:w val="0.29638554216867469"/>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580-4918-B3E2-DDF92CD730AD}"/>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580-4918-B3E2-DDF92CD730AD}"/>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580-4918-B3E2-DDF92CD730AD}"/>
            </c:ext>
          </c:extLst>
        </c:ser>
        <c:dLbls>
          <c:showLegendKey val="0"/>
          <c:showVal val="0"/>
          <c:showCatName val="0"/>
          <c:showSerName val="0"/>
          <c:showPercent val="0"/>
          <c:showBubbleSize val="0"/>
        </c:dLbls>
        <c:smooth val="0"/>
        <c:axId val="251989792"/>
        <c:axId val="251990184"/>
      </c:lineChart>
      <c:catAx>
        <c:axId val="25198979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90184"/>
        <c:crosses val="autoZero"/>
        <c:auto val="1"/>
        <c:lblAlgn val="ctr"/>
        <c:lblOffset val="100"/>
        <c:noMultiLvlLbl val="0"/>
      </c:catAx>
      <c:valAx>
        <c:axId val="25199018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792"/>
        <c:crosses val="autoZero"/>
        <c:crossBetween val="between"/>
      </c:valAx>
      <c:spPr>
        <a:solidFill>
          <a:srgbClr val="F2F2F2"/>
        </a:solidFill>
        <a:ln w="25387">
          <a:noFill/>
        </a:ln>
      </c:spPr>
    </c:plotArea>
    <c:legend>
      <c:legendPos val="r"/>
      <c:layout>
        <c:manualLayout>
          <c:xMode val="edge"/>
          <c:yMode val="edge"/>
          <c:x val="0.84077892325315007"/>
          <c:y val="0.34421364985163205"/>
          <c:w val="0.14089347079037801"/>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4.234"/>
    </inkml:context>
    <inkml:brush xml:id="br0">
      <inkml:brushProperty name="width" value="0.08571" units="cm"/>
      <inkml:brushProperty name="height" value="0.08571" units="cm"/>
    </inkml:brush>
  </inkml:definitions>
  <inkml:trace contextRef="#ctx0" brushRef="#br0">33 23 7431,'-6'-5'410,"-4"4"-245,9-4 1,-5 5 247,2 0 69,3-5-94,-4 4 257,5-4 1219,0 5-1776,5 5 1,-4 1 82,3 5 0,-3 0-181,-1 0 0,4 4-96,-1-1 1,2 2 88,-1-1 1,-3-1-536,3 4 1,-3-5 266,-1 2 1,1 1-2234,3-1 2518,-3-1 0,19-12 0,-2-4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5.452"/>
    </inkml:context>
    <inkml:brush xml:id="br0">
      <inkml:brushProperty name="width" value="0.08571" units="cm"/>
      <inkml:brushProperty name="height" value="0.08571" units="cm"/>
    </inkml:brush>
  </inkml:definitions>
  <inkml:trace contextRef="#ctx0" brushRef="#br0">11 67 7696,'-5'-6'35,"4"-4"1,-4 7 356,5-4-347,0 5 0,1-5 58,3 4 1,-2 2-59,6-3 1,-1-1 79,4 1 1,4 1-6,0 3 0,-1-4-39,-3 0 0,0 1-122,0 3 1,0 0-8,0 0 1,0 0 39,0 0 0,-3 0-63,-1 0 1,-3 3 70,3 1 1,-4 5-204,0-2 0,-2 3 45,-1 1 0,-4 3 144,-4 1 0,-2 1 19,-1-1 0,0-3 144,0 3 0,0-3-72,0-1 1,0 0-78,0 0 1,0 0 32,0 0 0,0 0-4,0 0 1,4-4 33,-1 1 1,5-6-19,-5 2 1,5 1 234,-5-1-147,6-1 458,-3-3 153,5 0 0,5 0-507,2 0 1,3 0-30,1 0 1,4 0-487,0 0 1,3-1 217,-3-3 1,4 3-1333,0-3 1,-3 3 1391,-2 1 0,3-5 0,1-1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6.341"/>
    </inkml:context>
    <inkml:brush xml:id="br0">
      <inkml:brushProperty name="width" value="0.08571" units="cm"/>
      <inkml:brushProperty name="height" value="0.08571" units="cm"/>
    </inkml:brush>
  </inkml:definitions>
  <inkml:trace contextRef="#ctx0" brushRef="#br0">33 0 7683,'-6'0'-821,"-4"0"2911,4 0-1013,0 0-101,1 0-557,5 0 0,0 5-152,0 3 0,0 5-129,0 2 1,4 4 68,0 0 0,3 5-494,-3 2 1,3 3-360,-3-3 0,4 0-1713,0-4 2359,-4 0 0,11 0 0,-3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7.225"/>
    </inkml:context>
    <inkml:brush xml:id="br0">
      <inkml:brushProperty name="width" value="0.08571" units="cm"/>
      <inkml:brushProperty name="height" value="0.08571" units="cm"/>
    </inkml:brush>
  </inkml:definitions>
  <inkml:trace contextRef="#ctx0" brushRef="#br0">22 11 7700,'-6'0'701,"-3"-1"-600,6-2 66,-1 1-158,4-3 0,5 5 83,2 0 1,3 0-52,1 0 0,0 0 36,0 0 1,4 0 53,0 0 1,-1 0-285,-3 0 0,0 0 85,0 0 0,0 0-160,0 0 1,-3 0-145,-1 0 316,-4 5 1,2 1-16,-5 5 0,-2-3 15,-1-1 0,-4 1 186,-4 3 0,0 0-58,0 0 1,0 0 77,0 0 1,0-2-67,0-1 0,0 2 213,0-3 1,0 3-39,0 1 1,4-1 42,0-3 0,4 3-118,-1-3 0,3-1-1,1 2 0,1-5-465,3 5 0,2-6 181,5 2 0,1-3-316,3-1 1,2 0 100,5 0 316,0-5 0,59-6 0,15-6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8.142"/>
    </inkml:context>
    <inkml:brush xml:id="br0">
      <inkml:brushProperty name="width" value="0.08571" units="cm"/>
      <inkml:brushProperty name="height" value="0.08571" units="cm"/>
    </inkml:brush>
  </inkml:definitions>
  <inkml:trace contextRef="#ctx0" brushRef="#br0">78 0 6649,'-6'0'2107,"1"0"-1667,5 0-362,5 0 1,1 0 77,5 0 1,4 0-223,0 0 0,1 0-86,-2 0 0,-2 0-76,3 0 1,-3 0 41,-1 0 1,0 2-47,0 1-46,-4-2 99,-2 9 86,-5-4 0,-5 4 19,-3-3 1,-3 2 105,-3-5 1,1 3-13,-1-3 1,1 1 128,2-2 1,0-1 66,0 1 1,0 2-138,0-1 1,4-1 8,0-3 1,4 2 10,-1 1 30,3-1-39,1 3 91,0-5-186,5 0 1,-2 0-1,4 0 0,-1 1-119,1 2 0,3-1 96,-3 1 1,0-1-218,0-2 1,0 3 68,4 1 0,0 1-4,0-2 1,0 0 46,0 4 0,0 1 17,0 3 0,-4-4 62,-4 0 1,2 1 163,-1 3 245,0 0 0,-4 0-168,0 0 0,-5-1 189,-3-3 1,-3 1-136,-3-4 1,0 4-64,-4-5 1,-1 5-12,-3-5 0,0 1 30,0-4 1,0 0-669,0 0 0,0-1 471,0-3 0,34-27 0,9-10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8.942"/>
    </inkml:context>
    <inkml:brush xml:id="br0">
      <inkml:brushProperty name="width" value="0.08571" units="cm"/>
      <inkml:brushProperty name="height" value="0.08571" units="cm"/>
    </inkml:brush>
  </inkml:definitions>
  <inkml:trace contextRef="#ctx0" brushRef="#br0">12 45 7642,'0'-11'452,"0"0"0,0 4 667,0-1-393,0 6 419,-5-3-648,4 5 0,-4 1 16,5 3 1,0 3-219,0 8 1,0 2-82,0 5 1,5 1-864,2 3 0,-1-3 462,2 3 0,-5-3 276,5-1 0,-5 3 197,5-3-286,-6 2 0,3-11 0,-5 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9.993"/>
    </inkml:context>
    <inkml:brush xml:id="br0">
      <inkml:brushProperty name="width" value="0.08571" units="cm"/>
      <inkml:brushProperty name="height" value="0.08571" units="cm"/>
    </inkml:brush>
  </inkml:definitions>
  <inkml:trace contextRef="#ctx0" brushRef="#br0">62 23 7182,'5'-7'-1086,"-3"3"1757,6 4 0,-5-4-173,5 0 1,-5 1-391,5 3 1,-5 0 32,5 0 1,-5 0-79,5 0 1,-4 0 225,3 0-179,0 0 1,4 0-9,0 0 1,-3 1-116,-1 2 1,-3 0-322,3 4 0,-5 1 178,2 3 1,-3 0 40,-1 0 0,0 1 78,0 3 1,-6-2 148,-5 5 0,-1-4-96,-6 1 0,3-2 130,-4 2 0,5-3 131,-5 3 0,6-7 184,-2 0 0,3-2 545,1 1-661,0 3 0,4-9 466,-1 3-560,6-3 0,2-1-374,7 0 0,8 0 164,3 0 1,3 0 118,1 0 1,5 0-891,2 0 1,5 0 729,2 0 0,28 0 0,11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2088"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2400" y="0"/>
            <a:ext cx="4002088" cy="350838"/>
          </a:xfrm>
          <a:prstGeom prst="rect">
            <a:avLst/>
          </a:prstGeom>
        </p:spPr>
        <p:txBody>
          <a:bodyPr vert="horz" lIns="91440" tIns="45720" rIns="91440" bIns="45720" rtlCol="0"/>
          <a:lstStyle>
            <a:lvl1pPr algn="r">
              <a:defRPr sz="1200"/>
            </a:lvl1pPr>
          </a:lstStyle>
          <a:p>
            <a:fld id="{8C22FB6A-490F-4111-A206-DEEE4C4B3FDD}" type="datetimeFigureOut">
              <a:rPr lang="en-US" smtClean="0"/>
              <a:t>10/1/26</a:t>
            </a:fld>
            <a:endParaRPr lang="en-US"/>
          </a:p>
        </p:txBody>
      </p:sp>
      <p:sp>
        <p:nvSpPr>
          <p:cNvPr id="4" name="Slide Image Placeholder 3"/>
          <p:cNvSpPr>
            <a:spLocks noGrp="1" noRot="1" noChangeAspect="1"/>
          </p:cNvSpPr>
          <p:nvPr>
            <p:ph type="sldImg" idx="2"/>
          </p:nvPr>
        </p:nvSpPr>
        <p:spPr>
          <a:xfrm>
            <a:off x="2516188" y="876300"/>
            <a:ext cx="4203700"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3925" y="3373438"/>
            <a:ext cx="7388225" cy="2760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9563"/>
            <a:ext cx="4002088" cy="3508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2400" y="6659563"/>
            <a:ext cx="4002088" cy="350837"/>
          </a:xfrm>
          <a:prstGeom prst="rect">
            <a:avLst/>
          </a:prstGeom>
        </p:spPr>
        <p:txBody>
          <a:bodyPr vert="horz" lIns="91440" tIns="45720" rIns="91440" bIns="45720" rtlCol="0" anchor="b"/>
          <a:lstStyle>
            <a:lvl1pPr algn="r">
              <a:defRPr sz="1200"/>
            </a:lvl1pPr>
          </a:lstStyle>
          <a:p>
            <a:fld id="{4728B74E-131A-480B-93D4-B718A5EEA7A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Welcome and Introductions</a:t>
            </a:r>
          </a:p>
          <a:p>
            <a:endParaRPr lang="en-US"/>
          </a:p>
        </p:txBody>
      </p:sp>
      <p:sp>
        <p:nvSpPr>
          <p:cNvPr id="4" name="Slide Number Placeholder 3"/>
          <p:cNvSpPr>
            <a:spLocks noGrp="1"/>
          </p:cNvSpPr>
          <p:nvPr>
            <p:ph type="sldNum" sz="quarter" idx="10"/>
          </p:nvPr>
        </p:nvSpPr>
        <p:spPr/>
        <p:txBody>
          <a:bodyPr/>
          <a:lstStyle/>
          <a:p>
            <a:fld id="{4728B74E-131A-480B-93D4-B718A5EEA7A9}" type="slidenum">
              <a:rPr lang="en-US" smtClean="0"/>
              <a:t>1</a:t>
            </a:fld>
            <a:endParaRPr lang="en-US"/>
          </a:p>
        </p:txBody>
      </p:sp>
    </p:spTree>
    <p:extLst>
      <p:ext uri="{BB962C8B-B14F-4D97-AF65-F5344CB8AC3E}">
        <p14:creationId xmlns:p14="http://schemas.microsoft.com/office/powerpoint/2010/main" val="307105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28B74E-131A-480B-93D4-B718A5EEA7A9}" type="slidenum">
              <a:rPr lang="en-US" smtClean="0"/>
              <a:t>2</a:t>
            </a:fld>
            <a:endParaRPr lang="en-US"/>
          </a:p>
        </p:txBody>
      </p:sp>
    </p:spTree>
    <p:extLst>
      <p:ext uri="{BB962C8B-B14F-4D97-AF65-F5344CB8AC3E}">
        <p14:creationId xmlns:p14="http://schemas.microsoft.com/office/powerpoint/2010/main" val="2300204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28B74E-131A-480B-93D4-B718A5EEA7A9}" type="slidenum">
              <a:rPr lang="en-US" smtClean="0"/>
              <a:t>5</a:t>
            </a:fld>
            <a:endParaRPr lang="en-US"/>
          </a:p>
        </p:txBody>
      </p:sp>
    </p:spTree>
    <p:extLst>
      <p:ext uri="{BB962C8B-B14F-4D97-AF65-F5344CB8AC3E}">
        <p14:creationId xmlns:p14="http://schemas.microsoft.com/office/powerpoint/2010/main" val="3155595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t>The terms in red in the equation represent the gradient of the loss value with respect to the weights in layer 3</a:t>
            </a:r>
          </a:p>
          <a:p>
            <a:r>
              <a:rPr lang="en-US" sz="1600"/>
              <a:t>Stochastic gradient descent: Gradient is evaluated for one input datapoint.</a:t>
            </a:r>
          </a:p>
          <a:p>
            <a:r>
              <a:rPr lang="en-US" sz="1600"/>
              <a:t>Mini-batch Stochastic gradient descent: Gradient is evaluated for a mini-batch of input data. The gradient is averaged before being used in the update equation.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Batch Stochastic gradient descent: Gradient is evaluated for a all training input data. The gradient is averaged before being used in the update equation.</a:t>
            </a:r>
          </a:p>
          <a:p>
            <a:endParaRPr lang="en-US"/>
          </a:p>
        </p:txBody>
      </p:sp>
      <p:sp>
        <p:nvSpPr>
          <p:cNvPr id="4" name="Slide Number Placeholder 3"/>
          <p:cNvSpPr>
            <a:spLocks noGrp="1"/>
          </p:cNvSpPr>
          <p:nvPr>
            <p:ph type="sldNum" sz="quarter" idx="5"/>
          </p:nvPr>
        </p:nvSpPr>
        <p:spPr/>
        <p:txBody>
          <a:bodyPr/>
          <a:lstStyle/>
          <a:p>
            <a:fld id="{4728B74E-131A-480B-93D4-B718A5EEA7A9}" type="slidenum">
              <a:rPr lang="en-US" smtClean="0"/>
              <a:t>13</a:t>
            </a:fld>
            <a:endParaRPr lang="en-US"/>
          </a:p>
        </p:txBody>
      </p:sp>
    </p:spTree>
    <p:extLst>
      <p:ext uri="{BB962C8B-B14F-4D97-AF65-F5344CB8AC3E}">
        <p14:creationId xmlns:p14="http://schemas.microsoft.com/office/powerpoint/2010/main" val="2878808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28B74E-131A-480B-93D4-B718A5EEA7A9}" type="slidenum">
              <a:rPr lang="en-US" smtClean="0"/>
              <a:t>15</a:t>
            </a:fld>
            <a:endParaRPr lang="en-US"/>
          </a:p>
        </p:txBody>
      </p:sp>
    </p:spTree>
    <p:extLst>
      <p:ext uri="{BB962C8B-B14F-4D97-AF65-F5344CB8AC3E}">
        <p14:creationId xmlns:p14="http://schemas.microsoft.com/office/powerpoint/2010/main" val="38384786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P logo (green on white)">
    <p:spTree>
      <p:nvGrpSpPr>
        <p:cNvPr id="1" name=""/>
        <p:cNvGrpSpPr/>
        <p:nvPr/>
      </p:nvGrpSpPr>
      <p:grpSpPr>
        <a:xfrm>
          <a:off x="0" y="0"/>
          <a:ext cx="0" cy="0"/>
          <a:chOff x="0" y="0"/>
          <a:chExt cx="0" cy="0"/>
        </a:xfrm>
      </p:grpSpPr>
      <p:pic>
        <p:nvPicPr>
          <p:cNvPr id="2" name="Picture 3">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TextBox 3"/>
          <p:cNvSpPr txBox="1">
            <a:spLocks noChangeArrowheads="1"/>
          </p:cNvSpPr>
          <p:nvPr userDrawn="1"/>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spTree>
    <p:custDataLst>
      <p:tags r:id="rId1"/>
    </p:custDataLst>
    <p:extLst>
      <p:ext uri="{BB962C8B-B14F-4D97-AF65-F5344CB8AC3E}">
        <p14:creationId xmlns:p14="http://schemas.microsoft.com/office/powerpoint/2010/main" val="132060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P logo (white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619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P logo (white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2685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ustang Way (on white)">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3763"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1005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stang Way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49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ustang Way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3867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mall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4D28C2B7-260A-4959-9A53-DAB58A9ED79E}" type="datetime1">
              <a:rPr lang="en-US" smtClean="0"/>
              <a:t>10/1/26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D92EBE0-0249-4044-84F4-57F8D69799D7}" type="slidenum">
              <a:rPr lang="en-US"/>
              <a:pPr/>
              <a:t>‹#›</a:t>
            </a:fld>
            <a:endParaRPr lang="en-US"/>
          </a:p>
        </p:txBody>
      </p:sp>
    </p:spTree>
    <p:custDataLst>
      <p:tags r:id="rId1"/>
    </p:custDataLst>
    <p:extLst>
      <p:ext uri="{BB962C8B-B14F-4D97-AF65-F5344CB8AC3E}">
        <p14:creationId xmlns:p14="http://schemas.microsoft.com/office/powerpoint/2010/main" val="3128315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mall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rgbClr val="FFFFFF"/>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rgbClr val="FFFFFF"/>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044B52-DC41-452D-81DE-C4050E96D070}" type="datetime1">
              <a:rPr lang="en-US" smtClean="0"/>
              <a:t>10/1/26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7EB4627-764E-4956-AAA8-9BF00A666F4A}" type="slidenum">
              <a:rPr lang="en-US"/>
              <a:pPr/>
              <a:t>‹#›</a:t>
            </a:fld>
            <a:endParaRPr lang="en-US"/>
          </a:p>
        </p:txBody>
      </p:sp>
    </p:spTree>
    <p:custDataLst>
      <p:tags r:id="rId1"/>
    </p:custDataLst>
    <p:extLst>
      <p:ext uri="{BB962C8B-B14F-4D97-AF65-F5344CB8AC3E}">
        <p14:creationId xmlns:p14="http://schemas.microsoft.com/office/powerpoint/2010/main" val="28209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large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1" name="Title 1"/>
          <p:cNvSpPr>
            <a:spLocks noGrp="1"/>
          </p:cNvSpPr>
          <p:nvPr>
            <p:ph type="title"/>
          </p:nvPr>
        </p:nvSpPr>
        <p:spPr>
          <a:xfrm>
            <a:off x="629176" y="1989546"/>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2D73FC4-C9B9-4C51-AA51-ADA91826A3DD}" type="datetime1">
              <a:rPr lang="en-US" smtClean="0"/>
              <a:t>10/1/26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674670A-36EC-42D0-9FB9-ADC0562D6DC7}" type="slidenum">
              <a:rPr lang="en-US"/>
              <a:pPr/>
              <a:t>‹#›</a:t>
            </a:fld>
            <a:endParaRPr lang="en-US"/>
          </a:p>
        </p:txBody>
      </p:sp>
    </p:spTree>
    <p:custDataLst>
      <p:tags r:id="rId1"/>
    </p:custDataLst>
    <p:extLst>
      <p:ext uri="{BB962C8B-B14F-4D97-AF65-F5344CB8AC3E}">
        <p14:creationId xmlns:p14="http://schemas.microsoft.com/office/powerpoint/2010/main" val="369441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large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rgbClr val="FFFFFF"/>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0" name="Title 1"/>
          <p:cNvSpPr>
            <a:spLocks noGrp="1"/>
          </p:cNvSpPr>
          <p:nvPr>
            <p:ph type="title"/>
          </p:nvPr>
        </p:nvSpPr>
        <p:spPr>
          <a:xfrm>
            <a:off x="629176" y="1989546"/>
            <a:ext cx="7792510" cy="1277277"/>
          </a:xfrm>
        </p:spPr>
        <p:txBody>
          <a:bodyPr anchor="t">
            <a:normAutofit/>
          </a:bodyPr>
          <a:lstStyle>
            <a:lvl1pPr algn="l">
              <a:defRPr sz="40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0BD1211A-9CE7-4E8F-9AB3-FC229049A63C}" type="datetime1">
              <a:rPr lang="en-US" smtClean="0"/>
              <a:t>10/1/26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ECA8F18-7321-4B36-A83D-9376A560E5CB}" type="slidenum">
              <a:rPr lang="en-US"/>
              <a:pPr/>
              <a:t>‹#›</a:t>
            </a:fld>
            <a:endParaRPr lang="en-US"/>
          </a:p>
        </p:txBody>
      </p:sp>
    </p:spTree>
    <p:custDataLst>
      <p:tags r:id="rId1"/>
    </p:custDataLst>
    <p:extLst>
      <p:ext uri="{BB962C8B-B14F-4D97-AF65-F5344CB8AC3E}">
        <p14:creationId xmlns:p14="http://schemas.microsoft.com/office/powerpoint/2010/main" val="326028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one colum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rgbClr val="595959"/>
                </a:solidFill>
                <a:latin typeface="Arial" panose="020B0604020202020204" pitchFamily="34" charset="0"/>
                <a:cs typeface="Arial" panose="020B0604020202020204" pitchFamily="34" charset="0"/>
              </a:defRPr>
            </a:lvl1pPr>
            <a:lvl2pPr>
              <a:defRPr sz="2000">
                <a:solidFill>
                  <a:srgbClr val="595959"/>
                </a:solidFill>
                <a:latin typeface="Arial" panose="020B0604020202020204" pitchFamily="34" charset="0"/>
                <a:cs typeface="Arial" panose="020B0604020202020204" pitchFamily="34" charset="0"/>
              </a:defRPr>
            </a:lvl2pPr>
            <a:lvl3pPr>
              <a:defRPr sz="2000">
                <a:solidFill>
                  <a:srgbClr val="595959"/>
                </a:solidFill>
                <a:latin typeface="Arial" panose="020B0604020202020204" pitchFamily="34" charset="0"/>
                <a:cs typeface="Arial" panose="020B0604020202020204" pitchFamily="34" charset="0"/>
              </a:defRPr>
            </a:lvl3pPr>
            <a:lvl4pPr>
              <a:defRPr sz="2000">
                <a:solidFill>
                  <a:srgbClr val="595959"/>
                </a:solidFill>
                <a:latin typeface="Arial" panose="020B0604020202020204" pitchFamily="34" charset="0"/>
                <a:cs typeface="Arial" panose="020B0604020202020204" pitchFamily="34" charset="0"/>
              </a:defRPr>
            </a:lvl4pPr>
            <a:lvl5pPr>
              <a:defRPr sz="2000">
                <a:solidFill>
                  <a:srgbClr val="59595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sp>
        <p:nvSpPr>
          <p:cNvPr id="8" name="TextBox 7"/>
          <p:cNvSpPr txBox="1"/>
          <p:nvPr userDrawn="1"/>
        </p:nvSpPr>
        <p:spPr>
          <a:xfrm>
            <a:off x="4014441" y="4788791"/>
            <a:ext cx="4181258" cy="307777"/>
          </a:xfrm>
          <a:prstGeom prst="rect">
            <a:avLst/>
          </a:prstGeom>
          <a:noFill/>
        </p:spPr>
        <p:txBody>
          <a:bodyPr wrap="square" rtlCol="0">
            <a:spAutoFit/>
          </a:bodyPr>
          <a:lstStyle/>
          <a:p>
            <a:pPr algn="r"/>
            <a:r>
              <a:rPr lang="en-US" sz="1400" b="0" i="1">
                <a:solidFill>
                  <a:schemeClr val="bg1">
                    <a:lumMod val="95000"/>
                  </a:schemeClr>
                </a:solidFill>
              </a:rPr>
              <a:t>ME 4452 Machine Learning in Mechanical Engineering</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87554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 text, one column">
    <p:bg>
      <p:bgPr>
        <a:solidFill>
          <a:schemeClr val="tx2"/>
        </a:solidFill>
        <a:effectLst/>
      </p:bgPr>
    </p:bg>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chemeClr val="bg1"/>
                </a:solidFill>
                <a:latin typeface="Arial" panose="020B0604020202020204" pitchFamily="34" charset="0"/>
                <a:cs typeface="Arial" panose="020B0604020202020204" pitchFamily="34" charset="0"/>
              </a:defRPr>
            </a:lvl1pPr>
            <a:lvl2pPr>
              <a:defRPr sz="2000">
                <a:solidFill>
                  <a:schemeClr val="bg1"/>
                </a:solidFill>
                <a:latin typeface="Arial" panose="020B0604020202020204" pitchFamily="34" charset="0"/>
                <a:cs typeface="Arial" panose="020B0604020202020204" pitchFamily="34" charset="0"/>
              </a:defRPr>
            </a:lvl2pPr>
            <a:lvl3pPr>
              <a:defRPr sz="2000">
                <a:solidFill>
                  <a:schemeClr val="bg1"/>
                </a:solidFill>
                <a:latin typeface="Arial" panose="020B0604020202020204" pitchFamily="34" charset="0"/>
                <a:cs typeface="Arial" panose="020B0604020202020204" pitchFamily="34" charset="0"/>
              </a:defRPr>
            </a:lvl3pPr>
            <a:lvl4pPr>
              <a:defRPr sz="2000">
                <a:solidFill>
                  <a:schemeClr val="bg1"/>
                </a:solidFill>
                <a:latin typeface="Arial" panose="020B0604020202020204" pitchFamily="34" charset="0"/>
                <a:cs typeface="Arial" panose="020B0604020202020204" pitchFamily="34" charset="0"/>
              </a:defRPr>
            </a:lvl4pPr>
            <a:lvl5pPr>
              <a:defRPr sz="2000">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cxnSp>
        <p:nvCxnSpPr>
          <p:cNvPr id="7" name="Straight Connector 6">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8" name="TextBox 7"/>
          <p:cNvSpPr txBox="1"/>
          <p:nvPr userDrawn="1"/>
        </p:nvSpPr>
        <p:spPr>
          <a:xfrm>
            <a:off x="5000131" y="4788791"/>
            <a:ext cx="3195568" cy="307777"/>
          </a:xfrm>
          <a:prstGeom prst="rect">
            <a:avLst/>
          </a:prstGeom>
          <a:noFill/>
        </p:spPr>
        <p:txBody>
          <a:bodyPr wrap="square" rtlCol="0">
            <a:spAutoFit/>
          </a:bodyPr>
          <a:lstStyle/>
          <a:p>
            <a:pPr algn="r"/>
            <a:r>
              <a:rPr lang="en-US" sz="1400" b="0" i="1">
                <a:solidFill>
                  <a:schemeClr val="bg1">
                    <a:lumMod val="95000"/>
                  </a:schemeClr>
                </a:solidFill>
              </a:rPr>
              <a:t>Department Name Here</a:t>
            </a:r>
          </a:p>
        </p:txBody>
      </p:sp>
    </p:spTree>
    <p:custDataLst>
      <p:tags r:id="rId1"/>
    </p:custDataLst>
    <p:extLst>
      <p:ext uri="{BB962C8B-B14F-4D97-AF65-F5344CB8AC3E}">
        <p14:creationId xmlns:p14="http://schemas.microsoft.com/office/powerpoint/2010/main" val="175757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two columns">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27"/>
          </p:nvPr>
        </p:nvSpPr>
        <p:spPr>
          <a:xfrm>
            <a:off x="4783707"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Text Placeholder 2"/>
          <p:cNvSpPr>
            <a:spLocks noGrp="1"/>
          </p:cNvSpPr>
          <p:nvPr>
            <p:ph type="body" idx="1"/>
          </p:nvPr>
        </p:nvSpPr>
        <p:spPr>
          <a:xfrm>
            <a:off x="4783970"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6" name="Text Placeholder 2"/>
          <p:cNvSpPr>
            <a:spLocks noGrp="1"/>
          </p:cNvSpPr>
          <p:nvPr>
            <p:ph type="body" idx="30"/>
          </p:nvPr>
        </p:nvSpPr>
        <p:spPr>
          <a:xfrm>
            <a:off x="423863"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3"/>
          <p:cNvSpPr>
            <a:spLocks noGrp="1"/>
          </p:cNvSpPr>
          <p:nvPr>
            <p:ph type="dt" sz="half" idx="3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771C787-8B4C-4AFC-AB2B-E8B32E4F9E13}" type="datetime1">
              <a:rPr lang="en-US" smtClean="0"/>
              <a:t>10/1/26</a:t>
            </a:fld>
            <a:endParaRPr lang="en-US"/>
          </a:p>
        </p:txBody>
      </p:sp>
      <p:sp>
        <p:nvSpPr>
          <p:cNvPr id="10" name="Slide Number Placeholder 5"/>
          <p:cNvSpPr>
            <a:spLocks noGrp="1"/>
          </p:cNvSpPr>
          <p:nvPr>
            <p:ph type="sldNum" sz="quarter" idx="3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F65B8BC-C975-44DF-9EAB-CC5566988564}" type="slidenum">
              <a:rPr lang="en-US"/>
              <a:pPr/>
              <a:t>‹#›</a:t>
            </a:fld>
            <a:endParaRPr lang="en-US"/>
          </a:p>
        </p:txBody>
      </p:sp>
    </p:spTree>
    <p:custDataLst>
      <p:tags r:id="rId1"/>
    </p:custDataLst>
    <p:extLst>
      <p:ext uri="{BB962C8B-B14F-4D97-AF65-F5344CB8AC3E}">
        <p14:creationId xmlns:p14="http://schemas.microsoft.com/office/powerpoint/2010/main" val="2655774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photo (1)">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591285"/>
            <a:ext cx="9144000" cy="4108974"/>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5"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7C35B14C-DC21-45FD-96B5-A57C3FAFCC49}" type="datetime1">
              <a:rPr lang="en-US" smtClean="0"/>
              <a:t>10/1/26</a:t>
            </a:fld>
            <a:endParaRPr lang="en-US"/>
          </a:p>
        </p:txBody>
      </p:sp>
      <p:sp>
        <p:nvSpPr>
          <p:cNvPr id="6"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30BC5C7-E9D8-4217-A430-5196F1B45A1B}" type="slidenum">
              <a:rPr lang="en-US"/>
              <a:pPr/>
              <a:t>‹#›</a:t>
            </a:fld>
            <a:endParaRPr lang="en-US"/>
          </a:p>
        </p:txBody>
      </p:sp>
    </p:spTree>
    <p:custDataLst>
      <p:tags r:id="rId1"/>
    </p:custDataLst>
    <p:extLst>
      <p:ext uri="{BB962C8B-B14F-4D97-AF65-F5344CB8AC3E}">
        <p14:creationId xmlns:p14="http://schemas.microsoft.com/office/powerpoint/2010/main" val="4205122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screen photo (1)">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0"/>
            <a:ext cx="9144000"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3F47F-18AB-43F9-8F50-A370BCA2D027}" type="datetime1">
              <a:rPr lang="en-US" smtClean="0"/>
              <a:t>10/1/26</a:t>
            </a:fld>
            <a:endParaRPr lang="en-US"/>
          </a:p>
        </p:txBody>
      </p:sp>
      <p:sp>
        <p:nvSpPr>
          <p:cNvPr id="5"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ABDAD4C-F747-4892-9E02-B351A9363283}" type="slidenum">
              <a:rPr lang="en-US"/>
              <a:pPr/>
              <a:t>‹#›</a:t>
            </a:fld>
            <a:endParaRPr lang="en-US"/>
          </a:p>
        </p:txBody>
      </p:sp>
    </p:spTree>
    <p:extLst>
      <p:ext uri="{BB962C8B-B14F-4D97-AF65-F5344CB8AC3E}">
        <p14:creationId xmlns:p14="http://schemas.microsoft.com/office/powerpoint/2010/main" val="4105858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photo (2)">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F6F468F2-F510-45C5-B43F-D0119B9D67AB}" type="datetime1">
              <a:rPr lang="en-US" smtClean="0"/>
              <a:t>10/1/26</a:t>
            </a:fld>
            <a:endParaRPr lang="en-US"/>
          </a:p>
        </p:txBody>
      </p:sp>
      <p:sp>
        <p:nvSpPr>
          <p:cNvPr id="7"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2DF5F8B-1960-4890-8C1E-FCDF926B53CB}" type="slidenum">
              <a:rPr lang="en-US"/>
              <a:pPr/>
              <a:t>‹#›</a:t>
            </a:fld>
            <a:endParaRPr lang="en-US"/>
          </a:p>
        </p:txBody>
      </p:sp>
    </p:spTree>
    <p:extLst>
      <p:ext uri="{BB962C8B-B14F-4D97-AF65-F5344CB8AC3E}">
        <p14:creationId xmlns:p14="http://schemas.microsoft.com/office/powerpoint/2010/main" val="93206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screen photos (2)">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5"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F2B1312-F3D9-46A4-A38C-8A8E391D2291}" type="datetime1">
              <a:rPr lang="en-US" smtClean="0"/>
              <a:t>10/1/26</a:t>
            </a:fld>
            <a:endParaRPr lang="en-US"/>
          </a:p>
        </p:txBody>
      </p:sp>
      <p:sp>
        <p:nvSpPr>
          <p:cNvPr id="6"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03CD76E-11F5-4F71-855B-93A5E04DA0F7}" type="slidenum">
              <a:rPr lang="en-US"/>
              <a:pPr/>
              <a:t>‹#›</a:t>
            </a:fld>
            <a:endParaRPr lang="en-US"/>
          </a:p>
        </p:txBody>
      </p:sp>
    </p:spTree>
    <p:extLst>
      <p:ext uri="{BB962C8B-B14F-4D97-AF65-F5344CB8AC3E}">
        <p14:creationId xmlns:p14="http://schemas.microsoft.com/office/powerpoint/2010/main" val="370411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photo (3)">
    <p:spTree>
      <p:nvGrpSpPr>
        <p:cNvPr id="1" name=""/>
        <p:cNvGrpSpPr/>
        <p:nvPr/>
      </p:nvGrpSpPr>
      <p:grpSpPr>
        <a:xfrm>
          <a:off x="0" y="0"/>
          <a:ext cx="0" cy="0"/>
          <a:chOff x="0" y="0"/>
          <a:chExt cx="0" cy="0"/>
        </a:xfrm>
      </p:grpSpPr>
      <p:sp>
        <p:nvSpPr>
          <p:cNvPr id="6" name="Rectangle 5">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704BD63-F5AC-48AD-8254-910A4091EB66}" type="datetime1">
              <a:rPr lang="en-US" smtClean="0"/>
              <a:t>10/1/26</a:t>
            </a:fld>
            <a:endParaRPr lang="en-US"/>
          </a:p>
        </p:txBody>
      </p:sp>
      <p:sp>
        <p:nvSpPr>
          <p:cNvPr id="8"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12C530F-F3F6-443B-A1B9-1325A18A852B}" type="slidenum">
              <a:rPr lang="en-US"/>
              <a:pPr/>
              <a:t>‹#›</a:t>
            </a:fld>
            <a:endParaRPr lang="en-US"/>
          </a:p>
        </p:txBody>
      </p:sp>
    </p:spTree>
    <p:extLst>
      <p:ext uri="{BB962C8B-B14F-4D97-AF65-F5344CB8AC3E}">
        <p14:creationId xmlns:p14="http://schemas.microsoft.com/office/powerpoint/2010/main" val="344004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screen photos (3)">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2"/>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6"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59122519-350A-4416-BA27-CADC4D4FF918}" type="datetime1">
              <a:rPr lang="en-US" smtClean="0"/>
              <a:t>10/1/26</a:t>
            </a:fld>
            <a:endParaRPr lang="en-US"/>
          </a:p>
        </p:txBody>
      </p:sp>
      <p:sp>
        <p:nvSpPr>
          <p:cNvPr id="7"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F2F584E-2F61-4D96-A427-222AAD1B5336}" type="slidenum">
              <a:rPr lang="en-US"/>
              <a:pPr/>
              <a:t>‹#›</a:t>
            </a:fld>
            <a:endParaRPr lang="en-US"/>
          </a:p>
        </p:txBody>
      </p:sp>
    </p:spTree>
    <p:extLst>
      <p:ext uri="{BB962C8B-B14F-4D97-AF65-F5344CB8AC3E}">
        <p14:creationId xmlns:p14="http://schemas.microsoft.com/office/powerpoint/2010/main" val="85950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photo (6)">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2039111"/>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Date Placeholder 3"/>
          <p:cNvSpPr>
            <a:spLocks noGrp="1"/>
          </p:cNvSpPr>
          <p:nvPr>
            <p:ph type="dt" sz="half" idx="4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31BB4D-A3FD-4DC6-A152-9228FEFA00F4}" type="datetime1">
              <a:rPr lang="en-US" smtClean="0"/>
              <a:t>10/1/26</a:t>
            </a:fld>
            <a:endParaRPr lang="en-US"/>
          </a:p>
        </p:txBody>
      </p:sp>
      <p:sp>
        <p:nvSpPr>
          <p:cNvPr id="17" name="Slide Number Placeholder 5"/>
          <p:cNvSpPr>
            <a:spLocks noGrp="1"/>
          </p:cNvSpPr>
          <p:nvPr>
            <p:ph type="sldNum" sz="quarter" idx="4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A9B3B996-7AF6-4BC9-9324-7E488133B3A9}" type="slidenum">
              <a:rPr lang="en-US"/>
              <a:pPr/>
              <a:t>‹#›</a:t>
            </a:fld>
            <a:endParaRPr lang="en-US"/>
          </a:p>
        </p:txBody>
      </p:sp>
    </p:spTree>
    <p:extLst>
      <p:ext uri="{BB962C8B-B14F-4D97-AF65-F5344CB8AC3E}">
        <p14:creationId xmlns:p14="http://schemas.microsoft.com/office/powerpoint/2010/main" val="231587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screen photos (6)">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3"/>
          </p:nvPr>
        </p:nvSpPr>
        <p:spPr>
          <a:xfrm>
            <a:off x="6885433"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46"/>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7"/>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8"/>
          </p:nvPr>
        </p:nvSpPr>
        <p:spPr>
          <a:xfrm>
            <a:off x="2295144"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Date Placeholder 3"/>
          <p:cNvSpPr>
            <a:spLocks noGrp="1"/>
          </p:cNvSpPr>
          <p:nvPr>
            <p:ph type="dt" sz="half" idx="49"/>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3E351CA-C82C-4663-93DF-2CA6F191E599}" type="datetime1">
              <a:rPr lang="en-US" smtClean="0"/>
              <a:t>10/1/26</a:t>
            </a:fld>
            <a:endParaRPr lang="en-US"/>
          </a:p>
        </p:txBody>
      </p:sp>
      <p:sp>
        <p:nvSpPr>
          <p:cNvPr id="13" name="Slide Number Placeholder 5"/>
          <p:cNvSpPr>
            <a:spLocks noGrp="1"/>
          </p:cNvSpPr>
          <p:nvPr>
            <p:ph type="sldNum" sz="quarter" idx="50"/>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3968613-2F53-4FB9-9064-B0746BA197E8}" type="slidenum">
              <a:rPr lang="en-US"/>
              <a:pPr/>
              <a:t>‹#›</a:t>
            </a:fld>
            <a:endParaRPr lang="en-US"/>
          </a:p>
        </p:txBody>
      </p:sp>
    </p:spTree>
    <p:extLst>
      <p:ext uri="{BB962C8B-B14F-4D97-AF65-F5344CB8AC3E}">
        <p14:creationId xmlns:p14="http://schemas.microsoft.com/office/powerpoint/2010/main" val="310420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photo (8)">
    <p:spTree>
      <p:nvGrpSpPr>
        <p:cNvPr id="1" name=""/>
        <p:cNvGrpSpPr/>
        <p:nvPr/>
      </p:nvGrpSpPr>
      <p:grpSpPr>
        <a:xfrm>
          <a:off x="0" y="0"/>
          <a:ext cx="0" cy="0"/>
          <a:chOff x="0" y="0"/>
          <a:chExt cx="0" cy="0"/>
        </a:xfrm>
      </p:grpSpPr>
      <p:sp>
        <p:nvSpPr>
          <p:cNvPr id="13" name="Rectangle 1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8" name="Picture Placeholder 2"/>
          <p:cNvSpPr>
            <a:spLocks noGrp="1"/>
          </p:cNvSpPr>
          <p:nvPr>
            <p:ph type="pic" idx="49"/>
          </p:nvPr>
        </p:nvSpPr>
        <p:spPr>
          <a:xfrm>
            <a:off x="4590288"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50"/>
          </p:nvPr>
        </p:nvSpPr>
        <p:spPr>
          <a:xfrm>
            <a:off x="6885432"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9" name="Date Placeholder 3"/>
          <p:cNvSpPr>
            <a:spLocks noGrp="1"/>
          </p:cNvSpPr>
          <p:nvPr>
            <p:ph type="dt" sz="half" idx="5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9B5916C-A037-4F53-A414-564B4EEC9E1B}" type="datetime1">
              <a:rPr lang="en-US" smtClean="0"/>
              <a:t>10/1/26</a:t>
            </a:fld>
            <a:endParaRPr lang="en-US"/>
          </a:p>
        </p:txBody>
      </p:sp>
      <p:sp>
        <p:nvSpPr>
          <p:cNvPr id="20" name="Slide Number Placeholder 5"/>
          <p:cNvSpPr>
            <a:spLocks noGrp="1"/>
          </p:cNvSpPr>
          <p:nvPr>
            <p:ph type="sldNum" sz="quarter" idx="5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95253CE-9904-4998-823A-D3AFE445E1E2}" type="slidenum">
              <a:rPr lang="en-US"/>
              <a:pPr/>
              <a:t>‹#›</a:t>
            </a:fld>
            <a:endParaRPr lang="en-US"/>
          </a:p>
        </p:txBody>
      </p:sp>
    </p:spTree>
    <p:extLst>
      <p:ext uri="{BB962C8B-B14F-4D97-AF65-F5344CB8AC3E}">
        <p14:creationId xmlns:p14="http://schemas.microsoft.com/office/powerpoint/2010/main" val="122498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ull screen photos (8)">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9"/>
          </p:nvPr>
        </p:nvSpPr>
        <p:spPr>
          <a:xfrm>
            <a:off x="4590289"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50"/>
          </p:nvPr>
        </p:nvSpPr>
        <p:spPr>
          <a:xfrm>
            <a:off x="6885433"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51"/>
          </p:nvPr>
        </p:nvSpPr>
        <p:spPr>
          <a:xfrm>
            <a:off x="0"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5" name="Picture Placeholder 2"/>
          <p:cNvSpPr>
            <a:spLocks noGrp="1"/>
          </p:cNvSpPr>
          <p:nvPr>
            <p:ph type="pic" idx="52"/>
          </p:nvPr>
        </p:nvSpPr>
        <p:spPr>
          <a:xfrm>
            <a:off x="2295144"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Date Placeholder 3"/>
          <p:cNvSpPr>
            <a:spLocks noGrp="1"/>
          </p:cNvSpPr>
          <p:nvPr>
            <p:ph type="dt" sz="half" idx="5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C0071-1FD0-47FF-A4AA-2148D9E25892}" type="datetime1">
              <a:rPr lang="en-US" smtClean="0"/>
              <a:t>10/1/26</a:t>
            </a:fld>
            <a:endParaRPr lang="en-US"/>
          </a:p>
        </p:txBody>
      </p:sp>
      <p:sp>
        <p:nvSpPr>
          <p:cNvPr id="14" name="Slide Number Placeholder 5"/>
          <p:cNvSpPr>
            <a:spLocks noGrp="1"/>
          </p:cNvSpPr>
          <p:nvPr>
            <p:ph type="sldNum" sz="quarter" idx="5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07A2222B-2BEB-48DC-B544-2F3217AEB914}" type="slidenum">
              <a:rPr lang="en-US"/>
              <a:pPr/>
              <a:t>‹#›</a:t>
            </a:fld>
            <a:endParaRPr lang="en-US"/>
          </a:p>
        </p:txBody>
      </p:sp>
    </p:spTree>
    <p:extLst>
      <p:ext uri="{BB962C8B-B14F-4D97-AF65-F5344CB8AC3E}">
        <p14:creationId xmlns:p14="http://schemas.microsoft.com/office/powerpoint/2010/main" val="315322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text left, photo righ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4590288"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0C53833-DFE9-45F3-9A06-63816F630DBF}" type="datetime1">
              <a:rPr lang="en-US" smtClean="0"/>
              <a:t>10/1/26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0547C88-426F-4B95-8EF2-ABB470937AB7}" type="slidenum">
              <a:rPr lang="en-US"/>
              <a:pPr/>
              <a:t>‹#›</a:t>
            </a:fld>
            <a:endParaRPr lang="en-US"/>
          </a:p>
        </p:txBody>
      </p:sp>
    </p:spTree>
    <p:extLst>
      <p:ext uri="{BB962C8B-B14F-4D97-AF65-F5344CB8AC3E}">
        <p14:creationId xmlns:p14="http://schemas.microsoft.com/office/powerpoint/2010/main" val="318390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text right, photo lef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0"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0F3201-D3AC-4B80-BAA2-70789CD27765}" type="datetime1">
              <a:rPr lang="en-US" smtClean="0"/>
              <a:t>10/1/26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8063367-8FD0-4EFA-9B8F-D392316BCEF1}" type="slidenum">
              <a:rPr lang="en-US"/>
              <a:pPr/>
              <a:t>‹#›</a:t>
            </a:fld>
            <a:endParaRPr lang="en-US"/>
          </a:p>
        </p:txBody>
      </p:sp>
    </p:spTree>
    <p:extLst>
      <p:ext uri="{BB962C8B-B14F-4D97-AF65-F5344CB8AC3E}">
        <p14:creationId xmlns:p14="http://schemas.microsoft.com/office/powerpoint/2010/main" val="1685628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text left, photos righ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
          <p:cNvSpPr>
            <a:spLocks noGrp="1"/>
          </p:cNvSpPr>
          <p:nvPr>
            <p:ph type="pic" idx="43"/>
          </p:nvPr>
        </p:nvSpPr>
        <p:spPr>
          <a:xfrm>
            <a:off x="4590288"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8"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8"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5BD1A5F-979B-4B06-9411-BCF73A709CFC}" type="datetime1">
              <a:rPr lang="en-US" smtClean="0"/>
              <a:t>10/1/26</a:t>
            </a:fld>
            <a:endParaRPr lang="en-US"/>
          </a:p>
        </p:txBody>
      </p:sp>
      <p:sp>
        <p:nvSpPr>
          <p:cNvPr id="9"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1F8ED6C-9AC5-4882-95C1-FC3FECECD545}" type="slidenum">
              <a:rPr lang="en-US"/>
              <a:pPr/>
              <a:t>‹#›</a:t>
            </a:fld>
            <a:endParaRPr lang="en-US"/>
          </a:p>
        </p:txBody>
      </p:sp>
    </p:spTree>
    <p:extLst>
      <p:ext uri="{BB962C8B-B14F-4D97-AF65-F5344CB8AC3E}">
        <p14:creationId xmlns:p14="http://schemas.microsoft.com/office/powerpoint/2010/main" val="25312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text right, photos lef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2"/>
          <p:cNvSpPr>
            <a:spLocks noGrp="1"/>
          </p:cNvSpPr>
          <p:nvPr>
            <p:ph type="pic" idx="43"/>
          </p:nvPr>
        </p:nvSpPr>
        <p:spPr>
          <a:xfrm>
            <a:off x="0"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9"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11"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11C50E9-50BF-46F6-B8B5-6B981E2391CC}" type="datetime1">
              <a:rPr lang="en-US" smtClean="0"/>
              <a:t>10/1/26</a:t>
            </a:fld>
            <a:endParaRPr lang="en-US"/>
          </a:p>
        </p:txBody>
      </p:sp>
      <p:sp>
        <p:nvSpPr>
          <p:cNvPr id="12"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469214E2-411F-4CCB-9AB1-176E7EF56AD8}" type="slidenum">
              <a:rPr lang="en-US"/>
              <a:pPr/>
              <a:t>‹#›</a:t>
            </a:fld>
            <a:endParaRPr lang="en-US"/>
          </a:p>
        </p:txBody>
      </p:sp>
    </p:spTree>
    <p:extLst>
      <p:ext uri="{BB962C8B-B14F-4D97-AF65-F5344CB8AC3E}">
        <p14:creationId xmlns:p14="http://schemas.microsoft.com/office/powerpoint/2010/main" val="360385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text left, photos righ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6"/>
          </p:nvPr>
        </p:nvSpPr>
        <p:spPr>
          <a:xfrm>
            <a:off x="4590288"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7"/>
          </p:nvPr>
        </p:nvSpPr>
        <p:spPr>
          <a:xfrm>
            <a:off x="688608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AF0F807-10E6-412A-9E8A-7578CC54180E}" type="datetime1">
              <a:rPr lang="en-US" smtClean="0"/>
              <a:t>10/1/26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5B71A1D6-CBC1-4D43-99C1-B8E922BEC27A}" type="slidenum">
              <a:rPr lang="en-US"/>
              <a:pPr/>
              <a:t>‹#›</a:t>
            </a:fld>
            <a:endParaRPr lang="en-US"/>
          </a:p>
        </p:txBody>
      </p:sp>
    </p:spTree>
    <p:extLst>
      <p:ext uri="{BB962C8B-B14F-4D97-AF65-F5344CB8AC3E}">
        <p14:creationId xmlns:p14="http://schemas.microsoft.com/office/powerpoint/2010/main" val="93169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 text right, photos lef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6"/>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7"/>
          </p:nvPr>
        </p:nvSpPr>
        <p:spPr>
          <a:xfrm>
            <a:off x="2295792"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9159CAF-A62E-4CC4-B611-E3F701ED0C7E}" type="datetime1">
              <a:rPr lang="en-US" smtClean="0"/>
              <a:t>10/1/26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9A1D63-2D20-4501-9B59-5B207FF26C7B}" type="slidenum">
              <a:rPr lang="en-US"/>
              <a:pPr/>
              <a:t>‹#›</a:t>
            </a:fld>
            <a:endParaRPr lang="en-US"/>
          </a:p>
        </p:txBody>
      </p:sp>
    </p:spTree>
    <p:extLst>
      <p:ext uri="{BB962C8B-B14F-4D97-AF65-F5344CB8AC3E}">
        <p14:creationId xmlns:p14="http://schemas.microsoft.com/office/powerpoint/2010/main" val="362803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left, bar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2" name="Chart 4"/>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0407DD2-95E4-42A3-B6BB-CD714D017AD7}"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D770F84-B03B-4446-8121-43BDF0660468}" type="slidenum">
              <a:rPr lang="en-US"/>
              <a:pPr/>
              <a:t>‹#›</a:t>
            </a:fld>
            <a:endParaRPr lang="en-US"/>
          </a:p>
        </p:txBody>
      </p:sp>
    </p:spTree>
    <p:extLst>
      <p:ext uri="{BB962C8B-B14F-4D97-AF65-F5344CB8AC3E}">
        <p14:creationId xmlns:p14="http://schemas.microsoft.com/office/powerpoint/2010/main" val="124754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right, bar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72F6A1-975A-49A4-9945-50AF390241BA}"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5E862A-697B-4840-A5B5-5FEEF4E48EDF}" type="slidenum">
              <a:rPr lang="en-US"/>
              <a:pPr/>
              <a:t>‹#›</a:t>
            </a:fld>
            <a:endParaRPr lang="en-US"/>
          </a:p>
        </p:txBody>
      </p:sp>
    </p:spTree>
    <p:extLst>
      <p:ext uri="{BB962C8B-B14F-4D97-AF65-F5344CB8AC3E}">
        <p14:creationId xmlns:p14="http://schemas.microsoft.com/office/powerpoint/2010/main" val="189799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bar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EAE188A-4D63-400D-ABBD-D2D012BDCD15}" type="datetime1">
              <a:rPr lang="en-US" smtClean="0"/>
              <a:t>10/1/26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2A97726B-1234-427D-89E0-501CF7381A9A}" type="slidenum">
              <a:rPr lang="en-US"/>
              <a:pPr/>
              <a:t>‹#›</a:t>
            </a:fld>
            <a:endParaRPr lang="en-US"/>
          </a:p>
        </p:txBody>
      </p:sp>
    </p:spTree>
    <p:extLst>
      <p:ext uri="{BB962C8B-B14F-4D97-AF65-F5344CB8AC3E}">
        <p14:creationId xmlns:p14="http://schemas.microsoft.com/office/powerpoint/2010/main" val="96333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left, line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graphicFrame>
        <p:nvGraphicFramePr>
          <p:cNvPr id="2" name="Chart 5"/>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4405EEA-9A0A-4B19-94E3-702F602CEF4E}"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E1BC488-4F9B-486E-BEAF-B2B891EC7A21}" type="slidenum">
              <a:rPr lang="en-US"/>
              <a:pPr/>
              <a:t>‹#›</a:t>
            </a:fld>
            <a:endParaRPr lang="en-US"/>
          </a:p>
        </p:txBody>
      </p:sp>
    </p:spTree>
    <p:extLst>
      <p:ext uri="{BB962C8B-B14F-4D97-AF65-F5344CB8AC3E}">
        <p14:creationId xmlns:p14="http://schemas.microsoft.com/office/powerpoint/2010/main" val="174042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right, line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AF6D083A-4B13-46FE-893B-68D7CDF39AD3}"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B0A966F-C68B-4C02-98F2-62145451C283}" type="slidenum">
              <a:rPr lang="en-US"/>
              <a:pPr/>
              <a:t>‹#›</a:t>
            </a:fld>
            <a:endParaRPr lang="en-US"/>
          </a:p>
        </p:txBody>
      </p:sp>
    </p:spTree>
    <p:extLst>
      <p:ext uri="{BB962C8B-B14F-4D97-AF65-F5344CB8AC3E}">
        <p14:creationId xmlns:p14="http://schemas.microsoft.com/office/powerpoint/2010/main" val="7546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line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1C89CDC-80D8-4542-9161-88E0E6FE50AF}" type="datetime1">
              <a:rPr lang="en-US" smtClean="0"/>
              <a:t>10/1/26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5CA62FE-4E2D-42B2-9D14-7EC377471995}" type="slidenum">
              <a:rPr lang="en-US"/>
              <a:pPr/>
              <a:t>‹#›</a:t>
            </a:fld>
            <a:endParaRPr lang="en-US"/>
          </a:p>
        </p:txBody>
      </p:sp>
    </p:spTree>
    <p:extLst>
      <p:ext uri="{BB962C8B-B14F-4D97-AF65-F5344CB8AC3E}">
        <p14:creationId xmlns:p14="http://schemas.microsoft.com/office/powerpoint/2010/main" val="250687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allout text left, photo righ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159832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allout text right, photo lef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69350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allout text left, photos righ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23"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57849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allout text right, photos lef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3"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5" name="Text Placeholder 8"/>
          <p:cNvSpPr>
            <a:spLocks noGrp="1"/>
          </p:cNvSpPr>
          <p:nvPr>
            <p:ph type="body" idx="24"/>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90478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allout text left, photo righ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4625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llout text right, photo lef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21863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allout text left, photos righ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6"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54581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llout text right, photos lef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180"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180"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7" name="Text Placeholder 8"/>
          <p:cNvSpPr>
            <a:spLocks noGrp="1"/>
          </p:cNvSpPr>
          <p:nvPr>
            <p:ph type="body" idx="24"/>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81981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allout text (black on white)">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CF076B5-DE80-4212-89E0-8468B8E49686}" type="datetime1">
              <a:rPr lang="en-US" smtClean="0"/>
              <a:t>10/1/26</a:t>
            </a:fld>
            <a:endParaRPr lang="en-US"/>
          </a:p>
        </p:txBody>
      </p:sp>
      <p:sp>
        <p:nvSpPr>
          <p:cNvPr id="5"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DF768FB-1179-4F15-B986-28BC8D5DD812}" type="slidenum">
              <a:rPr lang="en-US"/>
              <a:pPr/>
              <a:t>‹#›</a:t>
            </a:fld>
            <a:endParaRPr lang="en-US"/>
          </a:p>
        </p:txBody>
      </p:sp>
    </p:spTree>
    <p:extLst>
      <p:ext uri="{BB962C8B-B14F-4D97-AF65-F5344CB8AC3E}">
        <p14:creationId xmlns:p14="http://schemas.microsoft.com/office/powerpoint/2010/main" val="250753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allout text (white on green)">
    <p:bg>
      <p:bgPr>
        <a:solidFill>
          <a:srgbClr val="143B1E"/>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924E081-C21B-4512-A36B-8A680E10DB92}" type="datetime1">
              <a:rPr lang="en-US" smtClean="0"/>
              <a:t>10/1/26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A88F2E9-B851-4DFA-93C4-86BB45129EEB}" type="slidenum">
              <a:rPr lang="en-US"/>
              <a:pPr/>
              <a:t>‹#›</a:t>
            </a:fld>
            <a:endParaRPr lang="en-US"/>
          </a:p>
        </p:txBody>
      </p:sp>
    </p:spTree>
    <p:extLst>
      <p:ext uri="{BB962C8B-B14F-4D97-AF65-F5344CB8AC3E}">
        <p14:creationId xmlns:p14="http://schemas.microsoft.com/office/powerpoint/2010/main" val="205998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allout text (white on black)">
    <p:bg>
      <p:bgPr>
        <a:solidFill>
          <a:srgbClr val="191919"/>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D7CA327-0034-42B2-B548-D933C5E8C997}" type="datetime1">
              <a:rPr lang="en-US" smtClean="0"/>
              <a:t>10/1/26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47D816C-1382-4552-849F-5EAB9818A052}" type="slidenum">
              <a:rPr lang="en-US"/>
              <a:pPr/>
              <a:t>‹#›</a:t>
            </a:fld>
            <a:endParaRPr lang="en-US"/>
          </a:p>
        </p:txBody>
      </p:sp>
    </p:spTree>
    <p:extLst>
      <p:ext uri="{BB962C8B-B14F-4D97-AF65-F5344CB8AC3E}">
        <p14:creationId xmlns:p14="http://schemas.microsoft.com/office/powerpoint/2010/main" val="325531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46188"/>
            <a:ext cx="8229600" cy="334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48"/>
    </p:custDataLst>
  </p:cSld>
  <p:clrMap bg1="lt1" tx1="dk1" bg2="lt2" tx2="dk2" accent1="accent1" accent2="accent2" accent3="accent3" accent4="accent4" accent5="accent5" accent6="accent6" hlink="hlink" folHlink="folHlink"/>
  <p:sldLayoutIdLst>
    <p:sldLayoutId id="2147484745" r:id="rId1"/>
    <p:sldLayoutId id="2147484746" r:id="rId2"/>
    <p:sldLayoutId id="2147484747" r:id="rId3"/>
    <p:sldLayoutId id="2147484748" r:id="rId4"/>
    <p:sldLayoutId id="2147484749" r:id="rId5"/>
    <p:sldLayoutId id="2147484750" r:id="rId6"/>
    <p:sldLayoutId id="2147484751" r:id="rId7"/>
    <p:sldLayoutId id="2147484752" r:id="rId8"/>
    <p:sldLayoutId id="2147484753" r:id="rId9"/>
    <p:sldLayoutId id="2147484754" r:id="rId10"/>
    <p:sldLayoutId id="2147484755" r:id="rId11"/>
    <p:sldLayoutId id="2147484786" r:id="rId12"/>
    <p:sldLayoutId id="2147484756" r:id="rId13"/>
    <p:sldLayoutId id="2147484757" r:id="rId14"/>
    <p:sldLayoutId id="2147484758" r:id="rId15"/>
    <p:sldLayoutId id="2147484759" r:id="rId16"/>
    <p:sldLayoutId id="2147484760" r:id="rId17"/>
    <p:sldLayoutId id="2147484761" r:id="rId18"/>
    <p:sldLayoutId id="2147484762" r:id="rId19"/>
    <p:sldLayoutId id="2147484763" r:id="rId20"/>
    <p:sldLayoutId id="2147484764" r:id="rId21"/>
    <p:sldLayoutId id="2147484765" r:id="rId22"/>
    <p:sldLayoutId id="2147484766" r:id="rId23"/>
    <p:sldLayoutId id="2147484767" r:id="rId24"/>
    <p:sldLayoutId id="2147484768" r:id="rId25"/>
    <p:sldLayoutId id="2147484769" r:id="rId26"/>
    <p:sldLayoutId id="2147484770" r:id="rId27"/>
    <p:sldLayoutId id="2147484771" r:id="rId28"/>
    <p:sldLayoutId id="2147484772" r:id="rId29"/>
    <p:sldLayoutId id="2147484773" r:id="rId30"/>
    <p:sldLayoutId id="2147484774" r:id="rId31"/>
    <p:sldLayoutId id="2147484775" r:id="rId32"/>
    <p:sldLayoutId id="2147484776" r:id="rId33"/>
    <p:sldLayoutId id="2147484777" r:id="rId34"/>
    <p:sldLayoutId id="2147484778" r:id="rId35"/>
    <p:sldLayoutId id="2147484741" r:id="rId36"/>
    <p:sldLayoutId id="2147484742" r:id="rId37"/>
    <p:sldLayoutId id="2147484743" r:id="rId38"/>
    <p:sldLayoutId id="2147484744" r:id="rId39"/>
    <p:sldLayoutId id="2147484779" r:id="rId40"/>
    <p:sldLayoutId id="2147484780" r:id="rId41"/>
    <p:sldLayoutId id="2147484781" r:id="rId42"/>
    <p:sldLayoutId id="2147484782" r:id="rId43"/>
    <p:sldLayoutId id="2147484783" r:id="rId44"/>
    <p:sldLayoutId id="2147484784" r:id="rId45"/>
    <p:sldLayoutId id="2147484785" r:id="rId4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ctr" defTabSz="457200" rtl="0" eaLnBrk="1" fontAlgn="base" hangingPunct="1">
        <a:spcBef>
          <a:spcPct val="0"/>
        </a:spcBef>
        <a:spcAft>
          <a:spcPct val="0"/>
        </a:spcAft>
        <a:defRPr sz="2400" b="1" kern="1200">
          <a:solidFill>
            <a:srgbClr val="29551A"/>
          </a:solidFill>
          <a:latin typeface="+mj-lt"/>
          <a:ea typeface="MS PGothic" pitchFamily="34" charset="-128"/>
          <a:cs typeface="ＭＳ Ｐゴシック" charset="0"/>
        </a:defRPr>
      </a:lvl1pPr>
      <a:lvl2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2pPr>
      <a:lvl3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3pPr>
      <a:lvl4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4pPr>
      <a:lvl5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5pPr>
      <a:lvl6pPr marL="4572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ＭＳ Ｐゴシック" charset="0"/>
        </a:defRPr>
      </a:lvl1pPr>
      <a:lvl2pPr marL="742950" indent="-28575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2pPr>
      <a:lvl3pPr marL="11430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hyperlink" Target="https://medium.com/@Suraj_Yadav/in-depth-knowledge-of-convolutional-neural-networks-b4bfff8145ab"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5.png"/><Relationship Id="rId2" Type="http://schemas.openxmlformats.org/officeDocument/2006/relationships/image" Target="../media/image10.emf"/><Relationship Id="rId16" Type="http://schemas.openxmlformats.org/officeDocument/2006/relationships/image" Target="../media/image17.png"/><Relationship Id="rId1" Type="http://schemas.openxmlformats.org/officeDocument/2006/relationships/slideLayout" Target="../slideLayouts/slideLayout11.xml"/><Relationship Id="rId6" Type="http://schemas.openxmlformats.org/officeDocument/2006/relationships/image" Target="../media/image12.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4.xml"/><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What is AI and Machine Learning?">
    <p:spTree>
      <p:nvGrpSpPr>
        <p:cNvPr id="1" name=""/>
        <p:cNvGrpSpPr/>
        <p:nvPr/>
      </p:nvGrpSpPr>
      <p:grpSpPr>
        <a:xfrm>
          <a:off x="0" y="0"/>
          <a:ext cx="0" cy="0"/>
          <a:chOff x="0" y="0"/>
          <a:chExt cx="0" cy="0"/>
        </a:xfrm>
      </p:grpSpPr>
      <p:sp>
        <p:nvSpPr>
          <p:cNvPr id="2" name="Text Placeholder 1"/>
          <p:cNvSpPr>
            <a:spLocks noGrp="1"/>
          </p:cNvSpPr>
          <p:nvPr>
            <p:ph type="body" idx="13"/>
          </p:nvPr>
        </p:nvSpPr>
        <p:spPr/>
        <p:txBody>
          <a:bodyPr>
            <a:normAutofit/>
          </a:bodyPr>
          <a:lstStyle/>
          <a:p>
            <a:r>
              <a:rPr lang="en-US" sz="1600"/>
              <a:t>Instructor: Mohammad Hasan</a:t>
            </a:r>
          </a:p>
          <a:p>
            <a:r>
              <a:rPr lang="en-US" sz="1600"/>
              <a:t>Office: 13-240</a:t>
            </a:r>
          </a:p>
          <a:p>
            <a:r>
              <a:rPr lang="en-US" sz="1600"/>
              <a:t>10/02/26</a:t>
            </a:r>
          </a:p>
        </p:txBody>
      </p:sp>
      <p:sp>
        <p:nvSpPr>
          <p:cNvPr id="3" name="Title 2"/>
          <p:cNvSpPr>
            <a:spLocks noGrp="1"/>
          </p:cNvSpPr>
          <p:nvPr>
            <p:ph type="title"/>
          </p:nvPr>
        </p:nvSpPr>
        <p:spPr>
          <a:xfrm>
            <a:off x="629176" y="1600724"/>
            <a:ext cx="7792510" cy="1277277"/>
          </a:xfrm>
        </p:spPr>
        <p:txBody>
          <a:bodyPr>
            <a:normAutofit/>
          </a:bodyPr>
          <a:lstStyle/>
          <a:p>
            <a:r>
              <a:rPr lang="en-US" sz="2800"/>
              <a:t>Introduction to Neural Networks (2):</a:t>
            </a:r>
            <a:br>
              <a:rPr lang="en-US" sz="2800"/>
            </a:br>
            <a:r>
              <a:rPr lang="en-US" sz="2800"/>
              <a:t>Feedforward and Backpropagation</a:t>
            </a:r>
          </a:p>
        </p:txBody>
      </p:sp>
    </p:spTree>
    <p:custDataLst>
      <p:tags r:id="rId1"/>
    </p:custDataLst>
    <p:extLst>
      <p:ext uri="{BB962C8B-B14F-4D97-AF65-F5344CB8AC3E}">
        <p14:creationId xmlns:p14="http://schemas.microsoft.com/office/powerpoint/2010/main" val="40962573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Overview">
    <p:spTree>
      <p:nvGrpSpPr>
        <p:cNvPr id="1" name=""/>
        <p:cNvGrpSpPr/>
        <p:nvPr/>
      </p:nvGrpSpPr>
      <p:grpSpPr>
        <a:xfrm>
          <a:off x="0" y="0"/>
          <a:ext cx="0" cy="0"/>
          <a:chOff x="0" y="0"/>
          <a:chExt cx="0" cy="0"/>
        </a:xfrm>
      </p:grpSpPr>
      <p:sp>
        <p:nvSpPr>
          <p:cNvPr id="2" name="Content Placeholder 1"/>
          <p:cNvSpPr>
            <a:spLocks noGrp="1"/>
          </p:cNvSpPr>
          <p:nvPr>
            <p:ph idx="26"/>
          </p:nvPr>
        </p:nvSpPr>
        <p:spPr/>
        <p:txBody>
          <a:bodyPr/>
          <a:lstStyle/>
          <a:p>
            <a:r>
              <a:rPr lang="en-US"/>
              <a:t>How Neural Networks Work</a:t>
            </a:r>
          </a:p>
          <a:p>
            <a:endParaRPr lang="en-US"/>
          </a:p>
          <a:p>
            <a:r>
              <a:rPr lang="en-US"/>
              <a:t>Gradient Descent for Learning</a:t>
            </a:r>
          </a:p>
          <a:p>
            <a:endParaRPr lang="en-US"/>
          </a:p>
          <a:p>
            <a:r>
              <a:rPr lang="en-US"/>
              <a:t>Backpropagation</a:t>
            </a:r>
          </a:p>
          <a:p>
            <a:endParaRPr lang="en-US"/>
          </a:p>
          <a:p>
            <a:r>
              <a:rPr lang="en-US"/>
              <a:t>Vanish Gradient and Dead </a:t>
            </a:r>
            <a:r>
              <a:rPr lang="en-US" err="1"/>
              <a:t>ReLU</a:t>
            </a:r>
            <a:r>
              <a:rPr lang="en-US"/>
              <a:t> Problems</a:t>
            </a:r>
          </a:p>
          <a:p>
            <a:pPr marL="0" indent="0">
              <a:buNone/>
            </a:pPr>
            <a:endParaRPr lang="en-US"/>
          </a:p>
          <a:p>
            <a:endParaRPr lang="en-US"/>
          </a:p>
        </p:txBody>
      </p:sp>
      <p:sp>
        <p:nvSpPr>
          <p:cNvPr id="3" name="Title 2"/>
          <p:cNvSpPr>
            <a:spLocks noGrp="1"/>
          </p:cNvSpPr>
          <p:nvPr>
            <p:ph type="title"/>
          </p:nvPr>
        </p:nvSpPr>
        <p:spPr/>
        <p:txBody>
          <a:bodyPr/>
          <a:lstStyle/>
          <a:p>
            <a:r>
              <a:rPr lang="en-US"/>
              <a:t>Overview</a:t>
            </a:r>
          </a:p>
        </p:txBody>
      </p:sp>
      <p:sp>
        <p:nvSpPr>
          <p:cNvPr id="5" name="TextBox 4">
            <a:extLst>
              <a:ext uri="{FF2B5EF4-FFF2-40B4-BE49-F238E27FC236}">
                <a16:creationId xmlns:a16="http://schemas.microsoft.com/office/drawing/2014/main" id="{8ED21F68-F379-2CEB-B79D-D7DFCF008B3F}"/>
              </a:ext>
              <a:ext uri="{C183D7F6-B498-43B3-948B-1728B52AA6E4}">
                <adec:decorative xmlns:adec="http://schemas.microsoft.com/office/drawing/2017/decorative" val="1"/>
              </a:ext>
            </a:extLst>
          </p:cNvPr>
          <p:cNvSpPr txBox="1"/>
          <p:nvPr/>
        </p:nvSpPr>
        <p:spPr bwMode="auto">
          <a:xfrm>
            <a:off x="6117021" y="49661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
        <p:nvSpPr>
          <p:cNvPr id="6" name="TextBox 5">
            <a:extLst>
              <a:ext uri="{FF2B5EF4-FFF2-40B4-BE49-F238E27FC236}">
                <a16:creationId xmlns:a16="http://schemas.microsoft.com/office/drawing/2014/main" id="{0338198D-9296-08EF-03DC-11B15B97FFB7}"/>
              </a:ext>
              <a:ext uri="{C183D7F6-B498-43B3-948B-1728B52AA6E4}">
                <adec:decorative xmlns:adec="http://schemas.microsoft.com/office/drawing/2017/decorative" val="1"/>
              </a:ext>
            </a:extLst>
          </p:cNvPr>
          <p:cNvSpPr txBox="1"/>
          <p:nvPr/>
        </p:nvSpPr>
        <p:spPr bwMode="auto">
          <a:xfrm>
            <a:off x="5691352" y="4918841"/>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Tree>
    <p:extLst>
      <p:ext uri="{BB962C8B-B14F-4D97-AF65-F5344CB8AC3E}">
        <p14:creationId xmlns:p14="http://schemas.microsoft.com/office/powerpoint/2010/main" val="31108871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63FC08-569F-5666-8E52-C78CDE71A1FF}"/>
              </a:ext>
            </a:extLst>
          </p:cNvPr>
          <p:cNvSpPr>
            <a:spLocks noGrp="1"/>
          </p:cNvSpPr>
          <p:nvPr>
            <p:ph idx="26"/>
          </p:nvPr>
        </p:nvSpPr>
        <p:spPr>
          <a:xfrm>
            <a:off x="423600" y="698665"/>
            <a:ext cx="8318119" cy="3968751"/>
          </a:xfrm>
        </p:spPr>
        <p:txBody>
          <a:bodyPr/>
          <a:lstStyle/>
          <a:p>
            <a:r>
              <a:rPr lang="en-US"/>
              <a:t>Generally, information flows within a neural network in one direction during prediction. From back to front (input ‘terminal’ to output ‘terminal’).</a:t>
            </a:r>
          </a:p>
          <a:p>
            <a:endParaRPr lang="en-US"/>
          </a:p>
          <a:p>
            <a:r>
              <a:rPr lang="en-US"/>
              <a:t>Numerical data go through a sequence of non-linear transformations (through activation functions) and end at the output layer.</a:t>
            </a:r>
          </a:p>
        </p:txBody>
      </p:sp>
      <p:sp>
        <p:nvSpPr>
          <p:cNvPr id="3" name="Title 2">
            <a:extLst>
              <a:ext uri="{FF2B5EF4-FFF2-40B4-BE49-F238E27FC236}">
                <a16:creationId xmlns:a16="http://schemas.microsoft.com/office/drawing/2014/main" id="{6F5E13A0-F572-7C70-0D95-5DBB40CEE365}"/>
              </a:ext>
            </a:extLst>
          </p:cNvPr>
          <p:cNvSpPr>
            <a:spLocks noGrp="1"/>
          </p:cNvSpPr>
          <p:nvPr>
            <p:ph type="title"/>
          </p:nvPr>
        </p:nvSpPr>
        <p:spPr/>
        <p:txBody>
          <a:bodyPr/>
          <a:lstStyle/>
          <a:p>
            <a:r>
              <a:rPr lang="en-US"/>
              <a:t>Information Processing in NN</a:t>
            </a:r>
          </a:p>
        </p:txBody>
      </p:sp>
      <p:pic>
        <p:nvPicPr>
          <p:cNvPr id="11" name="Picture 10" descr="Medium">
            <a:hlinkClick r:id="rId2"/>
            <a:extLst>
              <a:ext uri="{FF2B5EF4-FFF2-40B4-BE49-F238E27FC236}">
                <a16:creationId xmlns:a16="http://schemas.microsoft.com/office/drawing/2014/main" id="{6AE4B549-850A-BCAD-11A3-999843412DBA}"/>
              </a:ext>
            </a:extLst>
          </p:cNvPr>
          <p:cNvPicPr>
            <a:picLocks noChangeAspect="1"/>
          </p:cNvPicPr>
          <p:nvPr/>
        </p:nvPicPr>
        <p:blipFill>
          <a:blip r:embed="rId3"/>
          <a:stretch>
            <a:fillRect/>
          </a:stretch>
        </p:blipFill>
        <p:spPr>
          <a:xfrm>
            <a:off x="5698099" y="2876716"/>
            <a:ext cx="3175000" cy="1790700"/>
          </a:xfrm>
          <a:prstGeom prst="rect">
            <a:avLst/>
          </a:prstGeom>
        </p:spPr>
      </p:pic>
    </p:spTree>
    <p:extLst>
      <p:ext uri="{BB962C8B-B14F-4D97-AF65-F5344CB8AC3E}">
        <p14:creationId xmlns:p14="http://schemas.microsoft.com/office/powerpoint/2010/main" val="24758056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45A560-8660-43E3-7D0A-72D8147AE3C8}"/>
              </a:ext>
            </a:extLst>
          </p:cNvPr>
          <p:cNvSpPr>
            <a:spLocks noGrp="1"/>
          </p:cNvSpPr>
          <p:nvPr>
            <p:ph idx="26"/>
          </p:nvPr>
        </p:nvSpPr>
        <p:spPr/>
        <p:txBody>
          <a:bodyPr/>
          <a:lstStyle/>
          <a:p>
            <a:r>
              <a:rPr lang="en-US" dirty="0"/>
              <a:t>When a neural network is initiated, its parameters are random.</a:t>
            </a:r>
          </a:p>
          <a:p>
            <a:endParaRPr lang="en-US" dirty="0"/>
          </a:p>
          <a:p>
            <a:r>
              <a:rPr lang="en-US" dirty="0"/>
              <a:t>The initial outputs will be very bad </a:t>
            </a:r>
            <a:r>
              <a:rPr lang="en-US" dirty="0">
                <a:sym typeface="Wingdings" pitchFamily="2" charset="2"/>
              </a:rPr>
              <a:t> High loss value.</a:t>
            </a:r>
          </a:p>
          <a:p>
            <a:endParaRPr lang="en-US" dirty="0">
              <a:sym typeface="Wingdings" pitchFamily="2" charset="2"/>
            </a:endParaRPr>
          </a:p>
          <a:p>
            <a:r>
              <a:rPr lang="en-US" dirty="0">
                <a:sym typeface="Wingdings" pitchFamily="2" charset="2"/>
              </a:rPr>
              <a:t>We can course correct based on the loss value (more accurately its gradient), adjusting our neural network parameters </a:t>
            </a:r>
            <a:r>
              <a:rPr lang="en-US" u="sng" dirty="0">
                <a:sym typeface="Wingdings" pitchFamily="2" charset="2"/>
              </a:rPr>
              <a:t>backwards!</a:t>
            </a:r>
            <a:endParaRPr lang="en-US" dirty="0">
              <a:sym typeface="Wingdings" pitchFamily="2" charset="2"/>
            </a:endParaRPr>
          </a:p>
          <a:p>
            <a:endParaRPr lang="en-US" dirty="0">
              <a:sym typeface="Wingdings" pitchFamily="2" charset="2"/>
            </a:endParaRPr>
          </a:p>
          <a:p>
            <a:r>
              <a:rPr lang="en-US" dirty="0">
                <a:sym typeface="Wingdings" pitchFamily="2" charset="2"/>
              </a:rPr>
              <a:t>Flow of error signal starts at the output.</a:t>
            </a:r>
            <a:endParaRPr lang="en-US" dirty="0"/>
          </a:p>
        </p:txBody>
      </p:sp>
      <p:sp>
        <p:nvSpPr>
          <p:cNvPr id="3" name="Title 2">
            <a:extLst>
              <a:ext uri="{FF2B5EF4-FFF2-40B4-BE49-F238E27FC236}">
                <a16:creationId xmlns:a16="http://schemas.microsoft.com/office/drawing/2014/main" id="{BF5B40C3-D88F-A404-0BF0-A942688247B2}"/>
              </a:ext>
            </a:extLst>
          </p:cNvPr>
          <p:cNvSpPr>
            <a:spLocks noGrp="1"/>
          </p:cNvSpPr>
          <p:nvPr>
            <p:ph type="title"/>
          </p:nvPr>
        </p:nvSpPr>
        <p:spPr/>
        <p:txBody>
          <a:bodyPr/>
          <a:lstStyle/>
          <a:p>
            <a:r>
              <a:rPr lang="en-US"/>
              <a:t>Learning from Mistakes</a:t>
            </a:r>
          </a:p>
        </p:txBody>
      </p:sp>
      <p:pic>
        <p:nvPicPr>
          <p:cNvPr id="4" name="Picture 3" descr="Deep Learning Part — 5: How to Train Your Neural Networks | by Chandra  Prakash Bathula | Towards AI">
            <a:extLst>
              <a:ext uri="{FF2B5EF4-FFF2-40B4-BE49-F238E27FC236}">
                <a16:creationId xmlns:a16="http://schemas.microsoft.com/office/drawing/2014/main" id="{79337D79-7706-9D17-864C-CCA7B214C7EF}"/>
              </a:ext>
            </a:extLst>
          </p:cNvPr>
          <p:cNvPicPr>
            <a:picLocks noChangeAspect="1"/>
          </p:cNvPicPr>
          <p:nvPr/>
        </p:nvPicPr>
        <p:blipFill>
          <a:blip r:embed="rId2"/>
          <a:stretch>
            <a:fillRect/>
          </a:stretch>
        </p:blipFill>
        <p:spPr>
          <a:xfrm>
            <a:off x="5418082" y="2981497"/>
            <a:ext cx="3302317" cy="1574078"/>
          </a:xfrm>
          <a:prstGeom prst="rect">
            <a:avLst/>
          </a:prstGeom>
        </p:spPr>
      </p:pic>
    </p:spTree>
    <p:extLst>
      <p:ext uri="{BB962C8B-B14F-4D97-AF65-F5344CB8AC3E}">
        <p14:creationId xmlns:p14="http://schemas.microsoft.com/office/powerpoint/2010/main" val="38742234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CB7DBC11-FAA7-F35F-BB3F-43008BF4E6D6}"/>
                  </a:ext>
                </a:extLst>
              </p:cNvPr>
              <p:cNvSpPr>
                <a:spLocks noGrp="1"/>
              </p:cNvSpPr>
              <p:nvPr>
                <p:ph idx="26"/>
              </p:nvPr>
            </p:nvSpPr>
            <p:spPr>
              <a:xfrm>
                <a:off x="412940" y="789784"/>
                <a:ext cx="8318119" cy="3650177"/>
              </a:xfrm>
            </p:spPr>
            <p:txBody>
              <a:bodyPr/>
              <a:lstStyle/>
              <a:p>
                <a:r>
                  <a:rPr lang="en-US" sz="1800"/>
                  <a:t>In a regression problem with multiple error neurons, the overall error in prediction is explored using a loss function. Consider our neural network from the previous handout:</a:t>
                </a:r>
              </a:p>
              <a:p>
                <a:endParaRPr lang="en-US" sz="1800"/>
              </a:p>
              <a:p>
                <a:r>
                  <a:rPr lang="en-US" sz="1800"/>
                  <a:t>Consider a squared error loss function:</a:t>
                </a:r>
              </a:p>
              <a:p>
                <a:pPr marL="0" indent="0">
                  <a:buNone/>
                </a:pPr>
                <a:endParaRPr lang="en-US" sz="1800"/>
              </a:p>
              <a:p>
                <a:pPr marL="0" indent="0">
                  <a:buNone/>
                </a:pPr>
                <a14:m>
                  <m:oMathPara xmlns:m="http://schemas.openxmlformats.org/officeDocument/2006/math">
                    <m:oMath>
                      <m:r>
                        <a:rPr lang="en-US" sz="1800" b="0" i="1" smtClean="0">
                          <a:latin typeface="Cambria Math" panose="02040503050406030204" pitchFamily="18" charset="0"/>
                        </a:rPr>
                        <m:t>𝐿</m:t>
                      </m:r>
                      <m:r>
                        <a:rPr lang="en-US" sz="1800" b="0" i="1" smtClean="0">
                          <a:latin typeface="Cambria Math" panose="02040503050406030204" pitchFamily="18" charset="0"/>
                        </a:rPr>
                        <m:t>=</m:t>
                      </m:r>
                      <m:sSup>
                        <m:sSupPr>
                          <m:ctrlPr>
                            <a:rPr lang="en-US" sz="1800" b="0" i="1" dirty="0"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𝑦</m:t>
                                      </m:r>
                                    </m:e>
                                  </m:acc>
                                </m:e>
                                <m:sub>
                                  <m:r>
                                    <a:rPr lang="en-US" sz="1800" b="0" i="1" dirty="0" smtClean="0">
                                      <a:latin typeface="Cambria Math" panose="02040503050406030204" pitchFamily="18" charset="0"/>
                                    </a:rPr>
                                    <m:t>1</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𝑦</m:t>
                                  </m:r>
                                </m:e>
                                <m:sub>
                                  <m:r>
                                    <a:rPr lang="en-US" sz="1800" b="0" i="1" dirty="0" smtClean="0">
                                      <a:latin typeface="Cambria Math" panose="02040503050406030204" pitchFamily="18" charset="0"/>
                                    </a:rPr>
                                    <m:t>1</m:t>
                                  </m:r>
                                </m:sub>
                              </m:sSub>
                            </m:e>
                          </m:d>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sSup>
                        <m:sSupPr>
                          <m:ctrlPr>
                            <a:rPr lang="en-US" sz="1800" b="0" i="1" dirty="0"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𝑦</m:t>
                                      </m:r>
                                    </m:e>
                                  </m:acc>
                                </m:e>
                                <m:sub>
                                  <m:r>
                                    <a:rPr lang="en-US" sz="1800" b="0" i="1" dirty="0" smtClean="0">
                                      <a:latin typeface="Cambria Math" panose="02040503050406030204" pitchFamily="18" charset="0"/>
                                    </a:rPr>
                                    <m:t>2</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𝑦</m:t>
                                  </m:r>
                                </m:e>
                                <m:sub>
                                  <m:r>
                                    <a:rPr lang="en-US" sz="1800" b="0" i="1" dirty="0" smtClean="0">
                                      <a:latin typeface="Cambria Math" panose="02040503050406030204" pitchFamily="18" charset="0"/>
                                    </a:rPr>
                                    <m:t>2</m:t>
                                  </m:r>
                                </m:sub>
                              </m:sSub>
                            </m:e>
                          </m:d>
                        </m:e>
                        <m:sup>
                          <m:r>
                            <a:rPr lang="en-US" sz="1800" b="0" i="1" smtClean="0">
                              <a:latin typeface="Cambria Math" panose="02040503050406030204" pitchFamily="18" charset="0"/>
                            </a:rPr>
                            <m:t>2</m:t>
                          </m:r>
                        </m:sup>
                      </m:sSup>
                    </m:oMath>
                  </m:oMathPara>
                </a14:m>
                <a:endParaRPr lang="en-US" sz="1800"/>
              </a:p>
              <a:p>
                <a:pPr marL="0" indent="0">
                  <a:buNone/>
                </a:pPr>
                <a:endParaRPr lang="en-US" sz="1800"/>
              </a:p>
              <a:p>
                <a:pPr marL="0" indent="0">
                  <a:buNone/>
                </a:pPr>
                <a:r>
                  <a:rPr lang="en-US" sz="1800"/>
                  <a:t>It’s easier to see the responsibility of the last layer for this loss value than the first layer (but both are responsible for the error).</a:t>
                </a:r>
              </a:p>
              <a:p>
                <a:pPr marL="0" indent="0">
                  <a:buNone/>
                </a:pPr>
                <a:endParaRPr lang="en-US" sz="1800"/>
              </a:p>
              <a:p>
                <a:pPr marL="0" indent="0">
                  <a:buNone/>
                </a:pPr>
                <a:r>
                  <a:rPr lang="en-US" sz="1800"/>
                  <a:t>It’s convenient to follow the flow of error backwards from the output to the input.</a:t>
                </a:r>
              </a:p>
            </p:txBody>
          </p:sp>
        </mc:Choice>
        <mc:Fallback>
          <p:sp>
            <p:nvSpPr>
              <p:cNvPr id="2" name="Content Placeholder 1">
                <a:extLst>
                  <a:ext uri="{FF2B5EF4-FFF2-40B4-BE49-F238E27FC236}">
                    <a16:creationId xmlns:a16="http://schemas.microsoft.com/office/drawing/2014/main" id="{CB7DBC11-FAA7-F35F-BB3F-43008BF4E6D6}"/>
                  </a:ext>
                </a:extLst>
              </p:cNvPr>
              <p:cNvSpPr>
                <a:spLocks noGrp="1" noRot="1" noChangeAspect="1" noMove="1" noResize="1" noEditPoints="1" noAdjustHandles="1" noChangeArrowheads="1" noChangeShapeType="1" noTextEdit="1"/>
              </p:cNvSpPr>
              <p:nvPr>
                <p:ph idx="26"/>
              </p:nvPr>
            </p:nvSpPr>
            <p:spPr>
              <a:xfrm>
                <a:off x="412940" y="789784"/>
                <a:ext cx="8318119" cy="3650177"/>
              </a:xfrm>
              <a:blipFill>
                <a:blip r:embed="rId3"/>
                <a:stretch>
                  <a:fillRect l="-610" t="-694" b="-590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FDE062D-E0F8-B5DE-9670-11C3200DAEC2}"/>
              </a:ext>
            </a:extLst>
          </p:cNvPr>
          <p:cNvSpPr>
            <a:spLocks noGrp="1"/>
          </p:cNvSpPr>
          <p:nvPr>
            <p:ph type="title"/>
          </p:nvPr>
        </p:nvSpPr>
        <p:spPr/>
        <p:txBody>
          <a:bodyPr/>
          <a:lstStyle/>
          <a:p>
            <a:r>
              <a:rPr lang="en-US"/>
              <a:t>Error Propagation</a:t>
            </a:r>
          </a:p>
        </p:txBody>
      </p:sp>
      <p:pic>
        <p:nvPicPr>
          <p:cNvPr id="4" name="Picture 3">
            <a:extLst>
              <a:ext uri="{FF2B5EF4-FFF2-40B4-BE49-F238E27FC236}">
                <a16:creationId xmlns:a16="http://schemas.microsoft.com/office/drawing/2014/main" id="{4D99C542-4A06-A812-8067-77CEA907ECCA}"/>
              </a:ext>
            </a:extLst>
          </p:cNvPr>
          <p:cNvPicPr>
            <a:picLocks noChangeAspect="1"/>
          </p:cNvPicPr>
          <p:nvPr/>
        </p:nvPicPr>
        <p:blipFill>
          <a:blip r:embed="rId4"/>
          <a:stretch>
            <a:fillRect/>
          </a:stretch>
        </p:blipFill>
        <p:spPr>
          <a:xfrm>
            <a:off x="5764357" y="1342952"/>
            <a:ext cx="2966702" cy="1353789"/>
          </a:xfrm>
          <a:prstGeom prst="rect">
            <a:avLst/>
          </a:prstGeom>
        </p:spPr>
      </p:pic>
    </p:spTree>
    <p:extLst>
      <p:ext uri="{BB962C8B-B14F-4D97-AF65-F5344CB8AC3E}">
        <p14:creationId xmlns:p14="http://schemas.microsoft.com/office/powerpoint/2010/main" val="737793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AE43A9-ED08-2606-04C3-133D0F1B4132}"/>
              </a:ext>
            </a:extLst>
          </p:cNvPr>
          <p:cNvSpPr>
            <a:spLocks noGrp="1"/>
          </p:cNvSpPr>
          <p:nvPr>
            <p:ph type="title"/>
          </p:nvPr>
        </p:nvSpPr>
        <p:spPr/>
        <p:txBody>
          <a:bodyPr/>
          <a:lstStyle/>
          <a:p>
            <a:r>
              <a:rPr lang="en-US"/>
              <a:t>Error Propagation</a:t>
            </a:r>
          </a:p>
        </p:txBody>
      </p:sp>
      <p:grpSp>
        <p:nvGrpSpPr>
          <p:cNvPr id="4" name="Group 3">
            <a:extLst>
              <a:ext uri="{FF2B5EF4-FFF2-40B4-BE49-F238E27FC236}">
                <a16:creationId xmlns:a16="http://schemas.microsoft.com/office/drawing/2014/main" id="{8AE15D74-B964-63E1-2EA9-481FA0EFC310}"/>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8AF0C263-2FC9-8B0A-B793-65F4B8CF8E5E}"/>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D0F39A-0AF7-1534-708B-254061B209BB}"/>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62CB0EF-5CA1-BDA2-1647-14FBABE032F8}"/>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66D08F9-BE67-5B4E-3455-50C94B867BED}"/>
                </a:ext>
              </a:extLst>
            </p:cNvPr>
            <p:cNvCxnSpPr>
              <a:cxnSpLocks/>
            </p:cNvCxnSpPr>
            <p:nvPr/>
          </p:nvCxnSpPr>
          <p:spPr>
            <a:xfrm>
              <a:off x="403189" y="3173896"/>
              <a:ext cx="4704839"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CF570B5-2631-647E-1AED-E1B0D8FF1D51}"/>
                </a:ext>
              </a:extLst>
            </p:cNvPr>
            <p:cNvCxnSpPr>
              <a:cxnSpLocks/>
            </p:cNvCxnSpPr>
            <p:nvPr/>
          </p:nvCxnSpPr>
          <p:spPr>
            <a:xfrm flipV="1">
              <a:off x="403189" y="3632223"/>
              <a:ext cx="4704839" cy="67784"/>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1F9F46E-B9F2-D335-06F3-4A7F88D6C34B}"/>
                </a:ext>
              </a:extLst>
            </p:cNvPr>
            <p:cNvCxnSpPr>
              <a:cxnSpLocks/>
            </p:cNvCxnSpPr>
            <p:nvPr/>
          </p:nvCxnSpPr>
          <p:spPr>
            <a:xfrm>
              <a:off x="403189" y="4240696"/>
              <a:ext cx="4763901"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C6D8A5B-609D-A12E-4B66-5F01B7A57FAC}"/>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pic>
        <p:nvPicPr>
          <p:cNvPr id="251" name="Picture 250">
            <a:extLst>
              <a:ext uri="{FF2B5EF4-FFF2-40B4-BE49-F238E27FC236}">
                <a16:creationId xmlns:a16="http://schemas.microsoft.com/office/drawing/2014/main" id="{A5ED798E-2630-C642-B61A-6C72C81CB8DB}"/>
              </a:ext>
            </a:extLst>
          </p:cNvPr>
          <p:cNvPicPr>
            <a:picLocks noChangeAspect="1"/>
          </p:cNvPicPr>
          <p:nvPr/>
        </p:nvPicPr>
        <p:blipFill>
          <a:blip r:embed="rId2"/>
          <a:stretch>
            <a:fillRect/>
          </a:stretch>
        </p:blipFill>
        <p:spPr>
          <a:xfrm>
            <a:off x="5300834" y="2819572"/>
            <a:ext cx="3561698" cy="1625302"/>
          </a:xfrm>
          <a:prstGeom prst="rect">
            <a:avLst/>
          </a:prstGeom>
        </p:spPr>
      </p:pic>
      <mc:AlternateContent xmlns:mc="http://schemas.openxmlformats.org/markup-compatibility/2006">
        <mc:Choice xmlns:p14="http://schemas.microsoft.com/office/powerpoint/2010/main" Requires="p14">
          <p:contentPart p14:bwMode="auto" r:id="rId3">
            <p14:nvContentPartPr>
              <p14:cNvPr id="104" name="Ink 103">
                <a:extLst>
                  <a:ext uri="{FF2B5EF4-FFF2-40B4-BE49-F238E27FC236}">
                    <a16:creationId xmlns:a16="http://schemas.microsoft.com/office/drawing/2014/main" id="{0EB2638A-9398-9861-21C8-C753EAE98573}"/>
                  </a:ext>
                </a:extLst>
              </p14:cNvPr>
              <p14:cNvContentPartPr/>
              <p14:nvPr/>
            </p14:nvContentPartPr>
            <p14:xfrm>
              <a:off x="6215050" y="3281810"/>
              <a:ext cx="28080" cy="76320"/>
            </p14:xfrm>
          </p:contentPart>
        </mc:Choice>
        <mc:Fallback>
          <p:pic>
            <p:nvPicPr>
              <p:cNvPr id="104" name="Ink 103">
                <a:extLst>
                  <a:ext uri="{FF2B5EF4-FFF2-40B4-BE49-F238E27FC236}">
                    <a16:creationId xmlns:a16="http://schemas.microsoft.com/office/drawing/2014/main" id="{0EB2638A-9398-9861-21C8-C753EAE98573}"/>
                  </a:ext>
                </a:extLst>
              </p:cNvPr>
              <p:cNvPicPr/>
              <p:nvPr/>
            </p:nvPicPr>
            <p:blipFill>
              <a:blip r:embed="rId4"/>
              <a:stretch>
                <a:fillRect/>
              </a:stretch>
            </p:blipFill>
            <p:spPr>
              <a:xfrm>
                <a:off x="6199570" y="3266330"/>
                <a:ext cx="586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5" name="Ink 104">
                <a:extLst>
                  <a:ext uri="{FF2B5EF4-FFF2-40B4-BE49-F238E27FC236}">
                    <a16:creationId xmlns:a16="http://schemas.microsoft.com/office/drawing/2014/main" id="{93311440-63DD-2722-3909-816331FE1EC0}"/>
                  </a:ext>
                </a:extLst>
              </p14:cNvPr>
              <p14:cNvContentPartPr/>
              <p14:nvPr/>
            </p14:nvContentPartPr>
            <p14:xfrm>
              <a:off x="6222970" y="4206650"/>
              <a:ext cx="71640" cy="91800"/>
            </p14:xfrm>
          </p:contentPart>
        </mc:Choice>
        <mc:Fallback>
          <p:pic>
            <p:nvPicPr>
              <p:cNvPr id="105" name="Ink 104">
                <a:extLst>
                  <a:ext uri="{FF2B5EF4-FFF2-40B4-BE49-F238E27FC236}">
                    <a16:creationId xmlns:a16="http://schemas.microsoft.com/office/drawing/2014/main" id="{93311440-63DD-2722-3909-816331FE1EC0}"/>
                  </a:ext>
                </a:extLst>
              </p:cNvPr>
              <p:cNvPicPr/>
              <p:nvPr/>
            </p:nvPicPr>
            <p:blipFill>
              <a:blip r:embed="rId6"/>
              <a:stretch>
                <a:fillRect/>
              </a:stretch>
            </p:blipFill>
            <p:spPr>
              <a:xfrm>
                <a:off x="6207567" y="4191109"/>
                <a:ext cx="102087" cy="122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6" name="Ink 105">
                <a:extLst>
                  <a:ext uri="{FF2B5EF4-FFF2-40B4-BE49-F238E27FC236}">
                    <a16:creationId xmlns:a16="http://schemas.microsoft.com/office/drawing/2014/main" id="{FED9FE5B-24DE-04B1-5DF6-2BC5CFCEB0A1}"/>
                  </a:ext>
                </a:extLst>
              </p14:cNvPr>
              <p14:cNvContentPartPr/>
              <p14:nvPr/>
            </p14:nvContentPartPr>
            <p14:xfrm>
              <a:off x="7227010" y="3174890"/>
              <a:ext cx="28080" cy="107640"/>
            </p14:xfrm>
          </p:contentPart>
        </mc:Choice>
        <mc:Fallback>
          <p:pic>
            <p:nvPicPr>
              <p:cNvPr id="106" name="Ink 105">
                <a:extLst>
                  <a:ext uri="{FF2B5EF4-FFF2-40B4-BE49-F238E27FC236}">
                    <a16:creationId xmlns:a16="http://schemas.microsoft.com/office/drawing/2014/main" id="{FED9FE5B-24DE-04B1-5DF6-2BC5CFCEB0A1}"/>
                  </a:ext>
                </a:extLst>
              </p:cNvPr>
              <p:cNvPicPr/>
              <p:nvPr/>
            </p:nvPicPr>
            <p:blipFill>
              <a:blip r:embed="rId8"/>
              <a:stretch>
                <a:fillRect/>
              </a:stretch>
            </p:blipFill>
            <p:spPr>
              <a:xfrm>
                <a:off x="7211530" y="3159410"/>
                <a:ext cx="5868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7" name="Ink 106">
                <a:extLst>
                  <a:ext uri="{FF2B5EF4-FFF2-40B4-BE49-F238E27FC236}">
                    <a16:creationId xmlns:a16="http://schemas.microsoft.com/office/drawing/2014/main" id="{F5A70EAF-6EED-6BD2-874D-7176A7ABCB39}"/>
                  </a:ext>
                </a:extLst>
              </p14:cNvPr>
              <p14:cNvContentPartPr/>
              <p14:nvPr/>
            </p14:nvContentPartPr>
            <p14:xfrm>
              <a:off x="7207210" y="3686810"/>
              <a:ext cx="111600" cy="79560"/>
            </p14:xfrm>
          </p:contentPart>
        </mc:Choice>
        <mc:Fallback>
          <p:pic>
            <p:nvPicPr>
              <p:cNvPr id="107" name="Ink 106">
                <a:extLst>
                  <a:ext uri="{FF2B5EF4-FFF2-40B4-BE49-F238E27FC236}">
                    <a16:creationId xmlns:a16="http://schemas.microsoft.com/office/drawing/2014/main" id="{F5A70EAF-6EED-6BD2-874D-7176A7ABCB39}"/>
                  </a:ext>
                </a:extLst>
              </p:cNvPr>
              <p:cNvPicPr/>
              <p:nvPr/>
            </p:nvPicPr>
            <p:blipFill>
              <a:blip r:embed="rId10"/>
              <a:stretch>
                <a:fillRect/>
              </a:stretch>
            </p:blipFill>
            <p:spPr>
              <a:xfrm>
                <a:off x="7191730" y="3671400"/>
                <a:ext cx="142200" cy="110022"/>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8" name="Ink 107">
                <a:extLst>
                  <a:ext uri="{FF2B5EF4-FFF2-40B4-BE49-F238E27FC236}">
                    <a16:creationId xmlns:a16="http://schemas.microsoft.com/office/drawing/2014/main" id="{F2C9DE9D-A586-995A-19A2-3B3E13F32C22}"/>
                  </a:ext>
                </a:extLst>
              </p14:cNvPr>
              <p14:cNvContentPartPr/>
              <p14:nvPr/>
            </p14:nvContentPartPr>
            <p14:xfrm>
              <a:off x="7187050" y="4151210"/>
              <a:ext cx="87840" cy="99720"/>
            </p14:xfrm>
          </p:contentPart>
        </mc:Choice>
        <mc:Fallback>
          <p:pic>
            <p:nvPicPr>
              <p:cNvPr id="108" name="Ink 107">
                <a:extLst>
                  <a:ext uri="{FF2B5EF4-FFF2-40B4-BE49-F238E27FC236}">
                    <a16:creationId xmlns:a16="http://schemas.microsoft.com/office/drawing/2014/main" id="{F2C9DE9D-A586-995A-19A2-3B3E13F32C22}"/>
                  </a:ext>
                </a:extLst>
              </p:cNvPr>
              <p:cNvPicPr/>
              <p:nvPr/>
            </p:nvPicPr>
            <p:blipFill>
              <a:blip r:embed="rId12"/>
              <a:stretch>
                <a:fillRect/>
              </a:stretch>
            </p:blipFill>
            <p:spPr>
              <a:xfrm>
                <a:off x="7171570" y="4135730"/>
                <a:ext cx="11844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9" name="Ink 108">
                <a:extLst>
                  <a:ext uri="{FF2B5EF4-FFF2-40B4-BE49-F238E27FC236}">
                    <a16:creationId xmlns:a16="http://schemas.microsoft.com/office/drawing/2014/main" id="{9991D30D-1E6F-F31D-8D8F-C05B11A287C9}"/>
                  </a:ext>
                </a:extLst>
              </p14:cNvPr>
              <p14:cNvContentPartPr/>
              <p14:nvPr/>
            </p14:nvContentPartPr>
            <p14:xfrm>
              <a:off x="8131690" y="3262010"/>
              <a:ext cx="20160" cy="111600"/>
            </p14:xfrm>
          </p:contentPart>
        </mc:Choice>
        <mc:Fallback>
          <p:pic>
            <p:nvPicPr>
              <p:cNvPr id="109" name="Ink 108">
                <a:extLst>
                  <a:ext uri="{FF2B5EF4-FFF2-40B4-BE49-F238E27FC236}">
                    <a16:creationId xmlns:a16="http://schemas.microsoft.com/office/drawing/2014/main" id="{9991D30D-1E6F-F31D-8D8F-C05B11A287C9}"/>
                  </a:ext>
                </a:extLst>
              </p:cNvPr>
              <p:cNvPicPr/>
              <p:nvPr/>
            </p:nvPicPr>
            <p:blipFill>
              <a:blip r:embed="rId14"/>
              <a:stretch>
                <a:fillRect/>
              </a:stretch>
            </p:blipFill>
            <p:spPr>
              <a:xfrm>
                <a:off x="8116210" y="3246530"/>
                <a:ext cx="5076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0" name="Ink 109">
                <a:extLst>
                  <a:ext uri="{FF2B5EF4-FFF2-40B4-BE49-F238E27FC236}">
                    <a16:creationId xmlns:a16="http://schemas.microsoft.com/office/drawing/2014/main" id="{F00C3CAB-5ED1-D380-BB24-048336A905B0}"/>
                  </a:ext>
                </a:extLst>
              </p14:cNvPr>
              <p14:cNvContentPartPr/>
              <p14:nvPr/>
            </p14:nvContentPartPr>
            <p14:xfrm>
              <a:off x="8153290" y="4194770"/>
              <a:ext cx="125640" cy="87840"/>
            </p14:xfrm>
          </p:contentPart>
        </mc:Choice>
        <mc:Fallback>
          <p:pic>
            <p:nvPicPr>
              <p:cNvPr id="110" name="Ink 109">
                <a:extLst>
                  <a:ext uri="{FF2B5EF4-FFF2-40B4-BE49-F238E27FC236}">
                    <a16:creationId xmlns:a16="http://schemas.microsoft.com/office/drawing/2014/main" id="{F00C3CAB-5ED1-D380-BB24-048336A905B0}"/>
                  </a:ext>
                </a:extLst>
              </p:cNvPr>
              <p:cNvPicPr/>
              <p:nvPr/>
            </p:nvPicPr>
            <p:blipFill>
              <a:blip r:embed="rId16"/>
              <a:stretch>
                <a:fillRect/>
              </a:stretch>
            </p:blipFill>
            <p:spPr>
              <a:xfrm>
                <a:off x="8137810" y="4179226"/>
                <a:ext cx="156240" cy="118566"/>
              </a:xfrm>
              <a:prstGeom prst="rect">
                <a:avLst/>
              </a:prstGeom>
            </p:spPr>
          </p:pic>
        </mc:Fallback>
      </mc:AlternateContent>
    </p:spTree>
    <p:extLst>
      <p:ext uri="{BB962C8B-B14F-4D97-AF65-F5344CB8AC3E}">
        <p14:creationId xmlns:p14="http://schemas.microsoft.com/office/powerpoint/2010/main" val="31284139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7FEA8E-CC50-FCAE-16A0-C8CA1F8800F0}"/>
              </a:ext>
            </a:extLst>
          </p:cNvPr>
          <p:cNvSpPr>
            <a:spLocks noGrp="1"/>
          </p:cNvSpPr>
          <p:nvPr>
            <p:ph type="title"/>
          </p:nvPr>
        </p:nvSpPr>
        <p:spPr/>
        <p:txBody>
          <a:bodyPr/>
          <a:lstStyle/>
          <a:p>
            <a:r>
              <a:rPr lang="en-US"/>
              <a:t>Gradient Descent</a:t>
            </a:r>
          </a:p>
        </p:txBody>
      </p:sp>
      <p:grpSp>
        <p:nvGrpSpPr>
          <p:cNvPr id="4" name="Group 3">
            <a:extLst>
              <a:ext uri="{FF2B5EF4-FFF2-40B4-BE49-F238E27FC236}">
                <a16:creationId xmlns:a16="http://schemas.microsoft.com/office/drawing/2014/main" id="{36F10923-AAF2-2B2D-5904-C89C9BA20423}"/>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CDCC1688-9F81-71CC-9867-72331F55918E}"/>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E413998-EE50-372E-80F8-B6ED0CD17B61}"/>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9650F3-95E9-9A57-9F1D-727A2B9E8143}"/>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E82A3F4-22B5-D319-632E-9ADF6D1F3192}"/>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1214F11-1423-6E1C-837F-20290543550C}"/>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726EF41-8D33-283F-2099-BEB014A838C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71E3F1E-86C5-093D-23DF-755CBAFF3542}"/>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929436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330AE-2636-E259-EEFC-59063E9748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86C4AE-F6B7-2E9C-05FD-B54200E38DB5}"/>
              </a:ext>
            </a:extLst>
          </p:cNvPr>
          <p:cNvSpPr>
            <a:spLocks noGrp="1"/>
          </p:cNvSpPr>
          <p:nvPr>
            <p:ph type="title"/>
          </p:nvPr>
        </p:nvSpPr>
        <p:spPr/>
        <p:txBody>
          <a:bodyPr/>
          <a:lstStyle/>
          <a:p>
            <a:r>
              <a:rPr lang="en-US"/>
              <a:t>Gradient Descent</a:t>
            </a:r>
          </a:p>
        </p:txBody>
      </p:sp>
      <p:grpSp>
        <p:nvGrpSpPr>
          <p:cNvPr id="4" name="Group 3">
            <a:extLst>
              <a:ext uri="{FF2B5EF4-FFF2-40B4-BE49-F238E27FC236}">
                <a16:creationId xmlns:a16="http://schemas.microsoft.com/office/drawing/2014/main" id="{2DC1CB94-D17A-A46B-7EE0-AB3C51C43D33}"/>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1FF3C5DA-1D0D-7B94-707B-03A28FD44002}"/>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8AC838C-637B-7880-60CA-9B838F3B82D2}"/>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F760FE1-93F1-4FC6-611C-4322370F2C6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B63499E-C2D0-E484-67C1-2EA7FA971AD4}"/>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620841E-0069-7B25-06EA-B2305D7AFD4C}"/>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3D137F2-D56E-B650-05DB-E13BCC0C863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E4E9FF6-C851-7B5E-EBA4-1B25D7CD74CD}"/>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88110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07CEE-4F7A-AA40-A51C-B9E723058F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428B22-C06A-4A68-FB9B-1CBDAD6030E3}"/>
              </a:ext>
            </a:extLst>
          </p:cNvPr>
          <p:cNvSpPr>
            <a:spLocks noGrp="1"/>
          </p:cNvSpPr>
          <p:nvPr>
            <p:ph type="title"/>
          </p:nvPr>
        </p:nvSpPr>
        <p:spPr/>
        <p:txBody>
          <a:bodyPr/>
          <a:lstStyle/>
          <a:p>
            <a:r>
              <a:rPr lang="en-US"/>
              <a:t>Extra notes</a:t>
            </a:r>
          </a:p>
        </p:txBody>
      </p:sp>
      <p:grpSp>
        <p:nvGrpSpPr>
          <p:cNvPr id="4" name="Group 3">
            <a:extLst>
              <a:ext uri="{FF2B5EF4-FFF2-40B4-BE49-F238E27FC236}">
                <a16:creationId xmlns:a16="http://schemas.microsoft.com/office/drawing/2014/main" id="{C5C90A24-213A-493F-BA3E-B739A636B346}"/>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E7C25CC3-9751-FC4B-EBDA-BB33929ED975}"/>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CE838F8-7421-23A0-9A45-126BF5CFFF74}"/>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B631590-DAC3-A255-037D-2552DD395816}"/>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AB1111C-26FE-8D7C-CD73-6D99E1BA1786}"/>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56BF338-1202-4405-BE06-A9425C3B4080}"/>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85B99F1-A292-821E-B3E0-35E74E704AE6}"/>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E7DEB28-A38E-0D07-2A20-C5B6CA62BFCC}"/>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667057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F3759-4699-05EB-415D-0EA80C0155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10B8F7-BE51-A592-1A49-98E90EE0F81A}"/>
              </a:ext>
            </a:extLst>
          </p:cNvPr>
          <p:cNvSpPr>
            <a:spLocks noGrp="1"/>
          </p:cNvSpPr>
          <p:nvPr>
            <p:ph type="title"/>
          </p:nvPr>
        </p:nvSpPr>
        <p:spPr/>
        <p:txBody>
          <a:bodyPr/>
          <a:lstStyle/>
          <a:p>
            <a:r>
              <a:rPr lang="en-US"/>
              <a:t>Extra notes</a:t>
            </a:r>
          </a:p>
        </p:txBody>
      </p:sp>
      <p:grpSp>
        <p:nvGrpSpPr>
          <p:cNvPr id="4" name="Group 3">
            <a:extLst>
              <a:ext uri="{FF2B5EF4-FFF2-40B4-BE49-F238E27FC236}">
                <a16:creationId xmlns:a16="http://schemas.microsoft.com/office/drawing/2014/main" id="{40353516-99C3-7078-CB02-19A7668FD58E}"/>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F9F5A409-AE9E-1263-6661-B496FF25766B}"/>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6B6D724-CF72-76E8-82EA-1D58FC63D356}"/>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2A5E45A-C0EE-DDBE-AB69-B3F312492C7B}"/>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D4E287B-69EA-6636-1C7C-FC54C6AC739E}"/>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A3B1DF7-90EA-0A3E-C39C-46E79C284A7B}"/>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627866A-B405-0479-4FEE-93E4EA34F94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9EDAA4E-A995-1E3E-D035-BF1E2CA29E52}"/>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60670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AE6BAE17-C06E-4148-DFDA-EA3E20DF9E15}"/>
                  </a:ext>
                </a:extLst>
              </p:cNvPr>
              <p:cNvSpPr>
                <a:spLocks noGrp="1"/>
              </p:cNvSpPr>
              <p:nvPr>
                <p:ph idx="26"/>
              </p:nvPr>
            </p:nvSpPr>
            <p:spPr/>
            <p:txBody>
              <a:bodyPr/>
              <a:lstStyle/>
              <a:p>
                <a:r>
                  <a:rPr lang="en-US"/>
                  <a:t>Thus, for one weight, it turns out that:</a:t>
                </a:r>
              </a:p>
              <a:p>
                <a:pPr marL="0" indent="0">
                  <a:buNone/>
                </a:pPr>
                <a14:m>
                  <m:oMathPara xmlns:m="http://schemas.openxmlformats.org/officeDocument/2006/math">
                    <m:oMath>
                      <m:sSub>
                        <m:sSubPr>
                          <m:ctrlPr>
                            <a:rPr lang="en-US" b="0" i="1" smtClean="0">
                              <a:latin typeface="Cambria Math" panose="02040503050406030204" pitchFamily="18" charset="0"/>
                            </a:rPr>
                          </m:ctrlPr>
                        </m:sSub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11</m:t>
                              </m:r>
                            </m:sub>
                            <m:sup>
                              <m:d>
                                <m:dPr>
                                  <m:ctrlPr>
                                    <a:rPr lang="en-US" b="0" i="1" smtClean="0">
                                      <a:latin typeface="Cambria Math" panose="02040503050406030204" pitchFamily="18" charset="0"/>
                                    </a:rPr>
                                  </m:ctrlPr>
                                </m:dPr>
                                <m:e>
                                  <m:r>
                                    <a:rPr lang="en-US" b="0" i="1" smtClean="0">
                                      <a:latin typeface="Cambria Math" panose="02040503050406030204" pitchFamily="18" charset="0"/>
                                    </a:rPr>
                                    <m:t>3</m:t>
                                  </m:r>
                                </m:e>
                              </m:d>
                            </m:sup>
                          </m:sSubSup>
                        </m:e>
                        <m:sub>
                          <m:r>
                            <a:rPr lang="en-US" b="0" i="1" smtClean="0">
                              <a:latin typeface="Cambria Math" panose="02040503050406030204" pitchFamily="18" charset="0"/>
                            </a:rPr>
                            <m:t>𝑁𝑒𝑤</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latin typeface="Cambria Math" panose="02040503050406030204" pitchFamily="18" charset="0"/>
                        </a:rPr>
                        <m:t>𝛼</m:t>
                      </m:r>
                      <m:d>
                        <m:dPr>
                          <m:ctrlPr>
                            <a:rPr lang="en-US" b="0" i="1" smtClean="0">
                              <a:solidFill>
                                <a:srgbClr val="FF0000"/>
                              </a:solidFill>
                              <a:latin typeface="Cambria Math" panose="02040503050406030204" pitchFamily="18" charset="0"/>
                            </a:rPr>
                          </m:ctrlPr>
                        </m:dPr>
                        <m:e>
                          <m:sSub>
                            <m:sSubPr>
                              <m:ctrlPr>
                                <a:rPr lang="en-US" b="0" i="1" smtClean="0">
                                  <a:solidFill>
                                    <a:srgbClr val="FF0000"/>
                                  </a:solidFill>
                                  <a:latin typeface="Cambria Math" panose="02040503050406030204" pitchFamily="18" charset="0"/>
                                </a:rPr>
                              </m:ctrlPr>
                            </m:sSubPr>
                            <m:e>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𝑦</m:t>
                                  </m:r>
                                </m:e>
                              </m:acc>
                            </m:e>
                            <m:sub>
                              <m:r>
                                <a:rPr lang="en-US" b="0" i="1" dirty="0" smtClean="0">
                                  <a:solidFill>
                                    <a:srgbClr val="FF0000"/>
                                  </a:solidFill>
                                  <a:latin typeface="Cambria Math" panose="02040503050406030204" pitchFamily="18" charset="0"/>
                                </a:rPr>
                                <m:t>1</m:t>
                              </m:r>
                            </m:sub>
                          </m:sSub>
                          <m:r>
                            <a:rPr lang="en-US" b="0" i="1" dirty="0" smtClean="0">
                              <a:solidFill>
                                <a:srgbClr val="FF0000"/>
                              </a:solidFill>
                              <a:latin typeface="Cambria Math" panose="02040503050406030204" pitchFamily="18" charset="0"/>
                            </a:rPr>
                            <m:t> −</m:t>
                          </m:r>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1</m:t>
                              </m:r>
                            </m:sub>
                          </m:sSub>
                        </m:e>
                      </m:d>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3</m:t>
                          </m:r>
                        </m:sub>
                        <m:sup>
                          <m:r>
                            <a:rPr lang="en-US" b="0" i="1" smtClean="0">
                              <a:solidFill>
                                <a:srgbClr val="FF0000"/>
                              </a:solidFill>
                              <a:latin typeface="Cambria Math" panose="02040503050406030204" pitchFamily="18" charset="0"/>
                            </a:rPr>
                            <m:t>′</m:t>
                          </m:r>
                        </m:sup>
                      </m:sSubSup>
                      <m:d>
                        <m:dPr>
                          <m:ctrlPr>
                            <a:rPr lang="en-US" b="0" i="1" smtClean="0">
                              <a:solidFill>
                                <a:srgbClr val="FF0000"/>
                              </a:solidFill>
                              <a:latin typeface="Cambria Math" panose="02040503050406030204" pitchFamily="18" charset="0"/>
                            </a:rPr>
                          </m:ctrlPr>
                        </m:dPr>
                        <m:e>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1</m:t>
                              </m:r>
                            </m:sub>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3</m:t>
                                  </m:r>
                                </m:e>
                              </m:d>
                            </m:sup>
                          </m:sSubSup>
                        </m:e>
                      </m:d>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(2)</m:t>
                          </m:r>
                        </m:sup>
                      </m:sSubSup>
                    </m:oMath>
                  </m:oMathPara>
                </a14:m>
                <a:endParaRPr lang="en-US"/>
              </a:p>
              <a:p>
                <a:r>
                  <a:rPr lang="en-US"/>
                  <a:t>The terms in red represent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(3)</m:t>
                            </m:r>
                          </m:sup>
                        </m:sSubSup>
                      </m:den>
                    </m:f>
                  </m:oMath>
                </a14:m>
                <a:endParaRPr lang="en-US"/>
              </a:p>
              <a:p>
                <a:pPr marL="0" indent="0">
                  <a:buNone/>
                </a:pPr>
                <a:r>
                  <a:rPr lang="en-US"/>
                  <a:t>Turns out, one can use the chain rule to help with this derivative:</a:t>
                </a: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11</m:t>
                            </m:r>
                          </m:sub>
                          <m:sup>
                            <m:r>
                              <a:rPr lang="en-US" b="0" i="1" smtClean="0">
                                <a:latin typeface="Cambria Math" panose="02040503050406030204" pitchFamily="18" charset="0"/>
                              </a:rPr>
                              <m:t>(3)</m:t>
                            </m:r>
                          </m:sup>
                        </m:sSub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num>
                      <m:den>
                        <m:r>
                          <a:rPr lang="en-US" i="1">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dirty="0" smtClean="0">
                                <a:latin typeface="Cambria Math" panose="02040503050406030204" pitchFamily="18" charset="0"/>
                              </a:rPr>
                              <m:t>1</m:t>
                            </m:r>
                          </m:sub>
                        </m:sSub>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3</m:t>
                            </m:r>
                          </m:sub>
                        </m:sSub>
                      </m:num>
                      <m:den>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i="1">
                                <a:latin typeface="Cambria Math" panose="02040503050406030204" pitchFamily="18" charset="0"/>
                              </a:rPr>
                              <m:t>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num>
                      <m:den>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(3)</m:t>
                            </m:r>
                          </m:sup>
                        </m:sSubSup>
                      </m:den>
                    </m:f>
                  </m:oMath>
                </a14:m>
                <a:r>
                  <a:rPr lang="en-US"/>
                  <a:t> </a:t>
                </a:r>
              </a:p>
              <a:p>
                <a:pPr marL="0" indent="0">
                  <a:buNone/>
                </a:pPr>
                <a:endParaRPr lang="en-US"/>
              </a:p>
              <a:p>
                <a:pPr marL="0" indent="0">
                  <a:buNone/>
                </a:pPr>
                <a:r>
                  <a:rPr lang="en-US"/>
                  <a:t>(and noting that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ℎ</m:t>
                        </m:r>
                      </m:e>
                      <m:sub>
                        <m:r>
                          <a:rPr lang="en-US" b="0" i="1" dirty="0" smtClean="0">
                            <a:latin typeface="Cambria Math" panose="02040503050406030204" pitchFamily="18" charset="0"/>
                          </a:rPr>
                          <m:t>3</m:t>
                        </m:r>
                      </m:sub>
                    </m:sSub>
                  </m:oMath>
                </a14:m>
                <a:r>
                  <a:rPr lang="en-US"/>
                  <a:t> so there is no need for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dirty="0" smtClean="0">
                                <a:latin typeface="Cambria Math" panose="02040503050406030204" pitchFamily="18" charset="0"/>
                              </a:rPr>
                              <m:t>1</m:t>
                            </m:r>
                          </m:sub>
                        </m:sSub>
                      </m:num>
                      <m:den>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ℎ</m:t>
                            </m:r>
                          </m:e>
                          <m:sub>
                            <m:r>
                              <a:rPr lang="en-US" b="0" i="1" dirty="0" smtClean="0">
                                <a:latin typeface="Cambria Math" panose="02040503050406030204" pitchFamily="18" charset="0"/>
                              </a:rPr>
                              <m:t>3</m:t>
                            </m:r>
                          </m:sub>
                        </m:sSub>
                      </m:den>
                    </m:f>
                  </m:oMath>
                </a14:m>
                <a:r>
                  <a:rPr lang="en-US"/>
                  <a:t>)</a:t>
                </a:r>
              </a:p>
            </p:txBody>
          </p:sp>
        </mc:Choice>
        <mc:Fallback>
          <p:sp>
            <p:nvSpPr>
              <p:cNvPr id="2" name="Content Placeholder 1">
                <a:extLst>
                  <a:ext uri="{FF2B5EF4-FFF2-40B4-BE49-F238E27FC236}">
                    <a16:creationId xmlns:a16="http://schemas.microsoft.com/office/drawing/2014/main" id="{AE6BAE17-C06E-4148-DFDA-EA3E20DF9E15}"/>
                  </a:ext>
                </a:extLst>
              </p:cNvPr>
              <p:cNvSpPr>
                <a:spLocks noGrp="1" noRot="1" noChangeAspect="1" noMove="1" noResize="1" noEditPoints="1" noAdjustHandles="1" noChangeArrowheads="1" noChangeShapeType="1" noTextEdit="1"/>
              </p:cNvSpPr>
              <p:nvPr>
                <p:ph idx="26"/>
              </p:nvPr>
            </p:nvSpPr>
            <p:spPr>
              <a:blipFill>
                <a:blip r:embed="rId2"/>
                <a:stretch>
                  <a:fillRect l="-762" t="-104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308D32F-C929-F313-FC6C-438EE1A85BF3}"/>
              </a:ext>
            </a:extLst>
          </p:cNvPr>
          <p:cNvSpPr>
            <a:spLocks noGrp="1"/>
          </p:cNvSpPr>
          <p:nvPr>
            <p:ph type="title"/>
          </p:nvPr>
        </p:nvSpPr>
        <p:spPr/>
        <p:txBody>
          <a:bodyPr/>
          <a:lstStyle/>
          <a:p>
            <a:r>
              <a:rPr lang="en-US"/>
              <a:t>Updating one weight</a:t>
            </a:r>
          </a:p>
        </p:txBody>
      </p:sp>
    </p:spTree>
    <p:extLst>
      <p:ext uri="{BB962C8B-B14F-4D97-AF65-F5344CB8AC3E}">
        <p14:creationId xmlns:p14="http://schemas.microsoft.com/office/powerpoint/2010/main" val="18306149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BF6E3AF-D7DA-57DC-00CA-5305793C9867}"/>
                  </a:ext>
                </a:extLst>
              </p:cNvPr>
              <p:cNvSpPr>
                <a:spLocks noGrp="1"/>
              </p:cNvSpPr>
              <p:nvPr>
                <p:ph idx="26"/>
              </p:nvPr>
            </p:nvSpPr>
            <p:spPr/>
            <p:txBody>
              <a:bodyPr/>
              <a:lstStyle/>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dirty="0">
                                <a:solidFill>
                                  <a:srgbClr val="FF0000"/>
                                </a:solidFill>
                                <a:latin typeface="Cambria Math" panose="02040503050406030204" pitchFamily="18" charset="0"/>
                              </a:rPr>
                              <m:t>1</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i="1" dirty="0">
                                <a:solidFill>
                                  <a:srgbClr val="FF0000"/>
                                </a:solidFill>
                                <a:latin typeface="Cambria Math" panose="02040503050406030204" pitchFamily="18" charset="0"/>
                              </a:rPr>
                              <m:t>1</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i="1">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(2)</m:t>
                        </m:r>
                      </m:sup>
                    </m:sSubSup>
                  </m:oMath>
                </a14:m>
                <a:endParaRPr lang="en-US" i="1">
                  <a:latin typeface="Cambria Math" panose="02040503050406030204" pitchFamily="18" charset="0"/>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dirty="0">
                                <a:solidFill>
                                  <a:srgbClr val="FF0000"/>
                                </a:solidFill>
                                <a:latin typeface="Cambria Math" panose="02040503050406030204" pitchFamily="18" charset="0"/>
                              </a:rPr>
                              <m:t>1</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i="1" dirty="0">
                                <a:solidFill>
                                  <a:srgbClr val="FF0000"/>
                                </a:solidFill>
                                <a:latin typeface="Cambria Math" panose="02040503050406030204" pitchFamily="18" charset="0"/>
                              </a:rPr>
                              <m:t>1</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2</m:t>
                        </m:r>
                      </m:sub>
                      <m:sup>
                        <m:r>
                          <a:rPr lang="en-US" i="1">
                            <a:solidFill>
                              <a:srgbClr val="FF0000"/>
                            </a:solidFill>
                            <a:latin typeface="Cambria Math" panose="02040503050406030204" pitchFamily="18" charset="0"/>
                          </a:rPr>
                          <m:t>(2)</m:t>
                        </m:r>
                      </m:sup>
                    </m:sSubSup>
                  </m:oMath>
                </a14:m>
                <a:endParaRPr lang="en-US"/>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dirty="0">
                                <a:solidFill>
                                  <a:srgbClr val="FF0000"/>
                                </a:solidFill>
                                <a:latin typeface="Cambria Math" panose="02040503050406030204" pitchFamily="18" charset="0"/>
                              </a:rPr>
                              <m:t>1</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i="1" dirty="0">
                                <a:solidFill>
                                  <a:srgbClr val="FF0000"/>
                                </a:solidFill>
                                <a:latin typeface="Cambria Math" panose="02040503050406030204" pitchFamily="18" charset="0"/>
                              </a:rPr>
                              <m:t>1</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i="1">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3</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m:t>
                            </m:r>
                          </m:e>
                        </m:d>
                      </m:sup>
                    </m:sSubSup>
                  </m:oMath>
                </a14:m>
                <a:endParaRPr lang="en-US">
                  <a:solidFill>
                    <a:srgbClr val="FF0000"/>
                  </a:solidFill>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2</m:t>
                            </m:r>
                            <m:r>
                              <a:rPr lang="en-US" b="0" i="1" smtClean="0">
                                <a:latin typeface="Cambria Math" panose="02040503050406030204" pitchFamily="18" charset="0"/>
                              </a:rPr>
                              <m:t>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2</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2</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m:t>
                            </m:r>
                          </m:e>
                        </m:d>
                      </m:sup>
                    </m:sSubSup>
                  </m:oMath>
                </a14:m>
                <a:endParaRPr lang="en-US">
                  <a:solidFill>
                    <a:srgbClr val="FF0000"/>
                  </a:solidFill>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2</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2</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i="1">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m:t>
                            </m:r>
                          </m:e>
                        </m:d>
                      </m:sup>
                    </m:sSubSup>
                  </m:oMath>
                </a14:m>
                <a:endParaRPr lang="en-US">
                  <a:solidFill>
                    <a:srgbClr val="FF0000"/>
                  </a:solidFill>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2</m:t>
                            </m:r>
                            <m:r>
                              <a:rPr lang="en-US" b="0" i="1" smtClean="0">
                                <a:latin typeface="Cambria Math" panose="02040503050406030204" pitchFamily="18" charset="0"/>
                              </a:rPr>
                              <m:t>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2</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2</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(2)</m:t>
                        </m:r>
                      </m:sup>
                    </m:sSubSup>
                  </m:oMath>
                </a14:m>
                <a:endParaRPr lang="en-US"/>
              </a:p>
            </p:txBody>
          </p:sp>
        </mc:Choice>
        <mc:Fallback>
          <p:sp>
            <p:nvSpPr>
              <p:cNvPr id="2" name="Content Placeholder 1">
                <a:extLst>
                  <a:ext uri="{FF2B5EF4-FFF2-40B4-BE49-F238E27FC236}">
                    <a16:creationId xmlns:a16="http://schemas.microsoft.com/office/drawing/2014/main" id="{FBF6E3AF-D7DA-57DC-00CA-5305793C9867}"/>
                  </a:ext>
                </a:extLst>
              </p:cNvPr>
              <p:cNvSpPr>
                <a:spLocks noGrp="1" noRot="1" noChangeAspect="1" noMove="1" noResize="1" noEditPoints="1" noAdjustHandles="1" noChangeArrowheads="1" noChangeShapeType="1" noTextEdit="1"/>
              </p:cNvSpPr>
              <p:nvPr>
                <p:ph idx="26"/>
              </p:nvPr>
            </p:nvSpPr>
            <p:spPr>
              <a:blipFill>
                <a:blip r:embed="rId2"/>
                <a:stretch>
                  <a:fillRect l="-61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3A8FC1B-0A36-A9A5-AD42-A0F352D7892C}"/>
              </a:ext>
            </a:extLst>
          </p:cNvPr>
          <p:cNvSpPr>
            <a:spLocks noGrp="1"/>
          </p:cNvSpPr>
          <p:nvPr>
            <p:ph type="title"/>
          </p:nvPr>
        </p:nvSpPr>
        <p:spPr/>
        <p:txBody>
          <a:bodyPr/>
          <a:lstStyle/>
          <a:p>
            <a:r>
              <a:rPr lang="en-US"/>
              <a:t>Updating other weights in the output layer</a:t>
            </a:r>
          </a:p>
        </p:txBody>
      </p:sp>
    </p:spTree>
    <p:extLst>
      <p:ext uri="{BB962C8B-B14F-4D97-AF65-F5344CB8AC3E}">
        <p14:creationId xmlns:p14="http://schemas.microsoft.com/office/powerpoint/2010/main" val="3865680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A707F376-B649-EC1D-3062-13BA80BEE3FC}"/>
                  </a:ext>
                </a:extLst>
              </p:cNvPr>
              <p:cNvSpPr>
                <a:spLocks noGrp="1"/>
              </p:cNvSpPr>
              <p:nvPr>
                <p:ph idx="26"/>
              </p:nvPr>
            </p:nvSpPr>
            <p:spPr/>
            <p:txBody>
              <a:bodyPr/>
              <a:lstStyle/>
              <a:p>
                <a:pPr marL="0" indent="0">
                  <a:buNone/>
                </a:pPr>
                <a14:m>
                  <m:oMathPara xmlns:m="http://schemas.openxmlformats.org/officeDocument/2006/math">
                    <m:oMath>
                      <m:d>
                        <m:dPr>
                          <m:begChr m:val="["/>
                          <m:endChr m:val="]"/>
                          <m:ctrlPr>
                            <a:rPr lang="en-US" sz="1400" i="1" smtClean="0">
                              <a:latin typeface="Cambria Math" panose="02040503050406030204" pitchFamily="18" charset="0"/>
                            </a:rPr>
                          </m:ctrlPr>
                        </m:dPr>
                        <m:e>
                          <m:m>
                            <m:mPr>
                              <m:mcs>
                                <m:mc>
                                  <m:mcPr>
                                    <m:count m:val="3"/>
                                    <m:mcJc m:val="center"/>
                                  </m:mcPr>
                                </m:mc>
                              </m:mcs>
                              <m:ctrlPr>
                                <a:rPr lang="en-US" sz="1400" i="1" smtClean="0">
                                  <a:latin typeface="Cambria Math" panose="02040503050406030204" pitchFamily="18" charset="0"/>
                                </a:rPr>
                              </m:ctrlPr>
                            </m:mP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m:t>
                                        </m:r>
                                        <m:r>
                                          <a:rPr lang="en-US" sz="1400" b="0" i="1" smtClean="0">
                                            <a:latin typeface="Cambria Math" panose="02040503050406030204" pitchFamily="18" charset="0"/>
                                          </a:rPr>
                                          <m:t>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m:t>
                                        </m:r>
                                        <m:r>
                                          <a:rPr lang="en-US" sz="1400" b="0" i="1" smtClean="0">
                                            <a:latin typeface="Cambria Math" panose="02040503050406030204" pitchFamily="18" charset="0"/>
                                          </a:rPr>
                                          <m:t>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m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b="0" i="1" smtClean="0">
                                            <a:latin typeface="Cambria Math" panose="02040503050406030204" pitchFamily="18" charset="0"/>
                                          </a:rPr>
                                          <m:t>2</m:t>
                                        </m:r>
                                        <m:r>
                                          <a:rPr lang="en-US" sz="1400" i="1">
                                            <a:latin typeface="Cambria Math" panose="02040503050406030204" pitchFamily="18" charset="0"/>
                                          </a:rPr>
                                          <m:t>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b="0" i="1" smtClean="0">
                                            <a:latin typeface="Cambria Math" panose="02040503050406030204" pitchFamily="18" charset="0"/>
                                          </a:rPr>
                                          <m:t>22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b="0" i="1" smtClean="0">
                                            <a:latin typeface="Cambria Math" panose="02040503050406030204" pitchFamily="18" charset="0"/>
                                          </a:rPr>
                                          <m:t>23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mr>
                          </m:m>
                        </m:e>
                      </m:d>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m>
                            <m:mPr>
                              <m:mcs>
                                <m:mc>
                                  <m:mcPr>
                                    <m:count m:val="3"/>
                                    <m:mcJc m:val="center"/>
                                  </m:mcPr>
                                </m:mc>
                              </m:mcs>
                              <m:ctrlPr>
                                <a:rPr lang="en-US" sz="1400" i="1">
                                  <a:latin typeface="Cambria Math" panose="02040503050406030204" pitchFamily="18" charset="0"/>
                                </a:rPr>
                              </m:ctrlPr>
                            </m:mP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m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21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22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23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mr>
                          </m:m>
                        </m:e>
                      </m:d>
                      <m:r>
                        <a:rPr lang="en-US" sz="1400" b="0" i="1" smtClean="0">
                          <a:latin typeface="Cambria Math" panose="02040503050406030204" pitchFamily="18" charset="0"/>
                        </a:rPr>
                        <m:t>−</m:t>
                      </m:r>
                      <m:r>
                        <a:rPr lang="en-US" sz="1400" b="0" i="1" smtClean="0">
                          <a:solidFill>
                            <a:srgbClr val="FF0000"/>
                          </a:solidFill>
                          <a:latin typeface="Cambria Math" panose="02040503050406030204" pitchFamily="18" charset="0"/>
                        </a:rPr>
                        <m:t>2</m:t>
                      </m:r>
                      <m:r>
                        <a:rPr lang="en-US" sz="1400" b="0" i="1" smtClean="0">
                          <a:latin typeface="Cambria Math" panose="02040503050406030204" pitchFamily="18" charset="0"/>
                        </a:rPr>
                        <m:t>𝛼</m:t>
                      </m:r>
                      <m:d>
                        <m:dPr>
                          <m:begChr m:val="["/>
                          <m:endChr m:val="]"/>
                          <m:ctrlPr>
                            <a:rPr lang="en-US" sz="1400" b="0" i="1" smtClean="0">
                              <a:solidFill>
                                <a:srgbClr val="FF0000"/>
                              </a:solidFill>
                              <a:latin typeface="Cambria Math" panose="02040503050406030204" pitchFamily="18" charset="0"/>
                            </a:rPr>
                          </m:ctrlPr>
                        </m:dPr>
                        <m:e>
                          <m:m>
                            <m:mPr>
                              <m:mcs>
                                <m:mc>
                                  <m:mcPr>
                                    <m:count m:val="1"/>
                                    <m:mcJc m:val="center"/>
                                  </m:mcPr>
                                </m:mc>
                              </m:mcs>
                              <m:ctrlPr>
                                <a:rPr lang="en-US" sz="1400" b="0" i="1" smtClean="0">
                                  <a:solidFill>
                                    <a:srgbClr val="FF0000"/>
                                  </a:solidFill>
                                  <a:latin typeface="Cambria Math" panose="02040503050406030204" pitchFamily="18" charset="0"/>
                                </a:rPr>
                              </m:ctrlPr>
                            </m:mPr>
                            <m:mr>
                              <m:e>
                                <m:d>
                                  <m:dPr>
                                    <m:ctrlPr>
                                      <a:rPr lang="en-US" sz="1400" b="0" i="1" smtClean="0">
                                        <a:solidFill>
                                          <a:srgbClr val="FF0000"/>
                                        </a:solidFill>
                                        <a:latin typeface="Cambria Math" panose="02040503050406030204" pitchFamily="18" charset="0"/>
                                      </a:rPr>
                                    </m:ctrlPr>
                                  </m:dPr>
                                  <m:e>
                                    <m:sSub>
                                      <m:sSubPr>
                                        <m:ctrlPr>
                                          <a:rPr lang="en-US" sz="1400" b="0" i="1" smtClean="0">
                                            <a:solidFill>
                                              <a:srgbClr val="FF0000"/>
                                            </a:solidFill>
                                            <a:latin typeface="Cambria Math" panose="02040503050406030204" pitchFamily="18" charset="0"/>
                                          </a:rPr>
                                        </m:ctrlPr>
                                      </m:sSubPr>
                                      <m:e>
                                        <m:acc>
                                          <m:accPr>
                                            <m:chr m:val="̂"/>
                                            <m:ctrlPr>
                                              <a:rPr lang="en-US" sz="1400" b="0" i="1" smtClean="0">
                                                <a:solidFill>
                                                  <a:srgbClr val="FF0000"/>
                                                </a:solidFill>
                                                <a:latin typeface="Cambria Math" panose="02040503050406030204" pitchFamily="18" charset="0"/>
                                              </a:rPr>
                                            </m:ctrlPr>
                                          </m:accPr>
                                          <m:e>
                                            <m:r>
                                              <m:rPr>
                                                <m:brk m:alnAt="7"/>
                                              </m:rPr>
                                              <a:rPr lang="en-US" sz="1400" b="0" i="1" smtClean="0">
                                                <a:solidFill>
                                                  <a:srgbClr val="FF0000"/>
                                                </a:solidFill>
                                                <a:latin typeface="Cambria Math" panose="02040503050406030204" pitchFamily="18" charset="0"/>
                                              </a:rPr>
                                              <m:t>𝑦</m:t>
                                            </m:r>
                                          </m:e>
                                        </m:acc>
                                      </m:e>
                                      <m:sub>
                                        <m:r>
                                          <m:rPr>
                                            <m:brk m:alnAt="7"/>
                                          </m:rPr>
                                          <a:rPr lang="en-US" sz="1400" b="0" i="1" smtClean="0">
                                            <a:solidFill>
                                              <a:srgbClr val="FF0000"/>
                                            </a:solidFill>
                                            <a:latin typeface="Cambria Math" panose="02040503050406030204" pitchFamily="18" charset="0"/>
                                          </a:rPr>
                                          <m:t>1</m:t>
                                        </m:r>
                                      </m:sub>
                                    </m:sSub>
                                    <m:r>
                                      <m:rPr>
                                        <m:brk m:alnAt="7"/>
                                      </m:rPr>
                                      <a:rPr lang="en-US" sz="1400" b="0" i="1" smtClean="0">
                                        <a:solidFill>
                                          <a:srgbClr val="FF0000"/>
                                        </a:solidFill>
                                        <a:latin typeface="Cambria Math" panose="02040503050406030204" pitchFamily="18" charset="0"/>
                                      </a:rPr>
                                      <m:t>−</m:t>
                                    </m:r>
                                    <m:sSub>
                                      <m:sSubPr>
                                        <m:ctrlPr>
                                          <a:rPr lang="en-US" sz="1400" b="0" i="1" smtClean="0">
                                            <a:solidFill>
                                              <a:srgbClr val="FF0000"/>
                                            </a:solidFill>
                                            <a:latin typeface="Cambria Math" panose="02040503050406030204" pitchFamily="18" charset="0"/>
                                          </a:rPr>
                                        </m:ctrlPr>
                                      </m:sSubPr>
                                      <m:e>
                                        <m:r>
                                          <m:rPr>
                                            <m:brk m:alnAt="7"/>
                                          </m:rPr>
                                          <a:rPr lang="en-US" sz="1400" b="0" i="1" smtClean="0">
                                            <a:solidFill>
                                              <a:srgbClr val="FF0000"/>
                                            </a:solidFill>
                                            <a:latin typeface="Cambria Math" panose="02040503050406030204" pitchFamily="18" charset="0"/>
                                          </a:rPr>
                                          <m:t>𝑦</m:t>
                                        </m:r>
                                      </m:e>
                                      <m:sub>
                                        <m:r>
                                          <m:rPr>
                                            <m:brk m:alnAt="7"/>
                                          </m:rPr>
                                          <a:rPr lang="en-US" sz="1400" b="0" i="1" smtClean="0">
                                            <a:solidFill>
                                              <a:srgbClr val="FF0000"/>
                                            </a:solidFill>
                                            <a:latin typeface="Cambria Math" panose="02040503050406030204" pitchFamily="18" charset="0"/>
                                          </a:rPr>
                                          <m:t>1</m:t>
                                        </m:r>
                                      </m:sub>
                                    </m:sSub>
                                  </m:e>
                                </m:d>
                                <m:sSubSup>
                                  <m:sSubSupPr>
                                    <m:ctrlPr>
                                      <a:rPr lang="en-US" sz="1400" b="0" i="1" smtClean="0">
                                        <a:solidFill>
                                          <a:srgbClr val="FF0000"/>
                                        </a:solidFill>
                                        <a:latin typeface="Cambria Math" panose="02040503050406030204" pitchFamily="18" charset="0"/>
                                      </a:rPr>
                                    </m:ctrlPr>
                                  </m:sSubSupPr>
                                  <m:e>
                                    <m:r>
                                      <m:rPr>
                                        <m:brk m:alnAt="7"/>
                                      </m:rPr>
                                      <a:rPr lang="en-US" sz="1400" b="0" i="1" smtClean="0">
                                        <a:solidFill>
                                          <a:srgbClr val="FF0000"/>
                                        </a:solidFill>
                                        <a:latin typeface="Cambria Math" panose="02040503050406030204" pitchFamily="18" charset="0"/>
                                      </a:rPr>
                                      <m:t>ℎ</m:t>
                                    </m:r>
                                  </m:e>
                                  <m:sub>
                                    <m:r>
                                      <m:rPr>
                                        <m:brk m:alnAt="7"/>
                                      </m:rPr>
                                      <a:rPr lang="en-US" sz="1400" b="0" i="1" smtClean="0">
                                        <a:solidFill>
                                          <a:srgbClr val="FF0000"/>
                                        </a:solidFill>
                                        <a:latin typeface="Cambria Math" panose="02040503050406030204" pitchFamily="18" charset="0"/>
                                      </a:rPr>
                                      <m:t>3</m:t>
                                    </m:r>
                                  </m:sub>
                                  <m:sup>
                                    <m:r>
                                      <a:rPr lang="en-US" sz="1400" b="0" i="1" smtClean="0">
                                        <a:solidFill>
                                          <a:srgbClr val="FF0000"/>
                                        </a:solidFill>
                                        <a:latin typeface="Cambria Math" panose="02040503050406030204" pitchFamily="18" charset="0"/>
                                      </a:rPr>
                                      <m:t>′</m:t>
                                    </m:r>
                                  </m:sup>
                                </m:sSubSup>
                                <m:d>
                                  <m:dPr>
                                    <m:ctrlPr>
                                      <a:rPr lang="en-US" sz="1400" b="0" i="1" smtClean="0">
                                        <a:solidFill>
                                          <a:srgbClr val="FF0000"/>
                                        </a:solidFill>
                                        <a:latin typeface="Cambria Math" panose="02040503050406030204" pitchFamily="18" charset="0"/>
                                      </a:rPr>
                                    </m:ctrlPr>
                                  </m:dPr>
                                  <m:e>
                                    <m:sSubSup>
                                      <m:sSubSupPr>
                                        <m:ctrlPr>
                                          <a:rPr lang="en-US" sz="1400" b="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𝑧</m:t>
                                        </m:r>
                                      </m:e>
                                      <m:sub>
                                        <m:r>
                                          <a:rPr lang="en-US" sz="1400" b="0" i="1" smtClean="0">
                                            <a:solidFill>
                                              <a:srgbClr val="FF0000"/>
                                            </a:solidFill>
                                            <a:latin typeface="Cambria Math" panose="02040503050406030204" pitchFamily="18" charset="0"/>
                                          </a:rPr>
                                          <m:t>1</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3</m:t>
                                            </m:r>
                                          </m:e>
                                        </m:d>
                                      </m:sup>
                                    </m:sSubSup>
                                  </m:e>
                                </m:d>
                              </m:e>
                            </m:mr>
                            <m:mr>
                              <m:e>
                                <m:d>
                                  <m:dPr>
                                    <m:ctrlPr>
                                      <a:rPr lang="en-US" sz="1400" i="1">
                                        <a:solidFill>
                                          <a:srgbClr val="FF0000"/>
                                        </a:solidFill>
                                        <a:latin typeface="Cambria Math" panose="02040503050406030204" pitchFamily="18" charset="0"/>
                                      </a:rPr>
                                    </m:ctrlPr>
                                  </m:dPr>
                                  <m:e>
                                    <m:sSub>
                                      <m:sSubPr>
                                        <m:ctrlPr>
                                          <a:rPr lang="en-US" sz="1400" i="1">
                                            <a:solidFill>
                                              <a:srgbClr val="FF0000"/>
                                            </a:solidFill>
                                            <a:latin typeface="Cambria Math" panose="02040503050406030204" pitchFamily="18" charset="0"/>
                                          </a:rPr>
                                        </m:ctrlPr>
                                      </m:sSubPr>
                                      <m:e>
                                        <m:acc>
                                          <m:accPr>
                                            <m:chr m:val="̂"/>
                                            <m:ctrlPr>
                                              <a:rPr lang="en-US" sz="1400" i="1">
                                                <a:solidFill>
                                                  <a:srgbClr val="FF0000"/>
                                                </a:solidFill>
                                                <a:latin typeface="Cambria Math" panose="02040503050406030204" pitchFamily="18" charset="0"/>
                                              </a:rPr>
                                            </m:ctrlPr>
                                          </m:accPr>
                                          <m:e>
                                            <m:r>
                                              <m:rPr>
                                                <m:brk m:alnAt="7"/>
                                              </m:rPr>
                                              <a:rPr lang="en-US" sz="1400" i="1">
                                                <a:solidFill>
                                                  <a:srgbClr val="FF0000"/>
                                                </a:solidFill>
                                                <a:latin typeface="Cambria Math" panose="02040503050406030204" pitchFamily="18" charset="0"/>
                                              </a:rPr>
                                              <m:t>𝑦</m:t>
                                            </m:r>
                                          </m:e>
                                        </m:acc>
                                      </m:e>
                                      <m:sub>
                                        <m:r>
                                          <a:rPr lang="en-US" sz="1400" b="0" i="1" smtClean="0">
                                            <a:solidFill>
                                              <a:srgbClr val="FF0000"/>
                                            </a:solidFill>
                                            <a:latin typeface="Cambria Math" panose="02040503050406030204" pitchFamily="18" charset="0"/>
                                          </a:rPr>
                                          <m:t>2</m:t>
                                        </m:r>
                                      </m:sub>
                                    </m:sSub>
                                    <m:r>
                                      <m:rPr>
                                        <m:brk m:alnAt="7"/>
                                      </m:rPr>
                                      <a:rPr lang="en-US" sz="1400" i="1">
                                        <a:solidFill>
                                          <a:srgbClr val="FF0000"/>
                                        </a:solidFill>
                                        <a:latin typeface="Cambria Math" panose="02040503050406030204" pitchFamily="18" charset="0"/>
                                      </a:rPr>
                                      <m:t>−</m:t>
                                    </m:r>
                                    <m:sSub>
                                      <m:sSubPr>
                                        <m:ctrlPr>
                                          <a:rPr lang="en-US" sz="1400" i="1">
                                            <a:solidFill>
                                              <a:srgbClr val="FF0000"/>
                                            </a:solidFill>
                                            <a:latin typeface="Cambria Math" panose="02040503050406030204" pitchFamily="18" charset="0"/>
                                          </a:rPr>
                                        </m:ctrlPr>
                                      </m:sSubPr>
                                      <m:e>
                                        <m:r>
                                          <m:rPr>
                                            <m:brk m:alnAt="7"/>
                                          </m:rPr>
                                          <a:rPr lang="en-US" sz="1400" i="1">
                                            <a:solidFill>
                                              <a:srgbClr val="FF0000"/>
                                            </a:solidFill>
                                            <a:latin typeface="Cambria Math" panose="02040503050406030204" pitchFamily="18" charset="0"/>
                                          </a:rPr>
                                          <m:t>𝑦</m:t>
                                        </m:r>
                                      </m:e>
                                      <m:sub>
                                        <m:r>
                                          <a:rPr lang="en-US" sz="1400" b="0" i="1" smtClean="0">
                                            <a:solidFill>
                                              <a:srgbClr val="FF0000"/>
                                            </a:solidFill>
                                            <a:latin typeface="Cambria Math" panose="02040503050406030204" pitchFamily="18" charset="0"/>
                                          </a:rPr>
                                          <m:t>2</m:t>
                                        </m:r>
                                      </m:sub>
                                    </m:sSub>
                                  </m:e>
                                </m:d>
                                <m:sSubSup>
                                  <m:sSubSupPr>
                                    <m:ctrlPr>
                                      <a:rPr lang="en-US" sz="1400" i="1">
                                        <a:solidFill>
                                          <a:srgbClr val="FF0000"/>
                                        </a:solidFill>
                                        <a:latin typeface="Cambria Math" panose="02040503050406030204" pitchFamily="18" charset="0"/>
                                      </a:rPr>
                                    </m:ctrlPr>
                                  </m:sSubSupPr>
                                  <m:e>
                                    <m:r>
                                      <m:rPr>
                                        <m:brk m:alnAt="7"/>
                                      </m:rPr>
                                      <a:rPr lang="en-US" sz="1400" i="1">
                                        <a:solidFill>
                                          <a:srgbClr val="FF0000"/>
                                        </a:solidFill>
                                        <a:latin typeface="Cambria Math" panose="02040503050406030204" pitchFamily="18" charset="0"/>
                                      </a:rPr>
                                      <m:t>ℎ</m:t>
                                    </m:r>
                                  </m:e>
                                  <m:sub>
                                    <m:r>
                                      <m:rPr>
                                        <m:brk m:alnAt="7"/>
                                      </m:rPr>
                                      <a:rPr lang="en-US" sz="1400" i="1">
                                        <a:solidFill>
                                          <a:srgbClr val="FF0000"/>
                                        </a:solidFill>
                                        <a:latin typeface="Cambria Math" panose="02040503050406030204" pitchFamily="18" charset="0"/>
                                      </a:rPr>
                                      <m:t>3</m:t>
                                    </m:r>
                                  </m:sub>
                                  <m:sup>
                                    <m:r>
                                      <a:rPr lang="en-US" sz="1400" i="1">
                                        <a:solidFill>
                                          <a:srgbClr val="FF0000"/>
                                        </a:solidFill>
                                        <a:latin typeface="Cambria Math" panose="02040503050406030204" pitchFamily="18" charset="0"/>
                                      </a:rPr>
                                      <m:t>′</m:t>
                                    </m:r>
                                  </m:sup>
                                </m:sSubSup>
                                <m:d>
                                  <m:dPr>
                                    <m:ctrlPr>
                                      <a:rPr lang="en-US" sz="1400" i="1">
                                        <a:solidFill>
                                          <a:srgbClr val="FF0000"/>
                                        </a:solidFill>
                                        <a:latin typeface="Cambria Math" panose="02040503050406030204" pitchFamily="18" charset="0"/>
                                      </a:rPr>
                                    </m:ctrlPr>
                                  </m:dPr>
                                  <m:e>
                                    <m:sSubSup>
                                      <m:sSubSupPr>
                                        <m:ctrlPr>
                                          <a:rPr lang="en-US" sz="1400" i="1">
                                            <a:solidFill>
                                              <a:srgbClr val="FF0000"/>
                                            </a:solidFill>
                                            <a:latin typeface="Cambria Math" panose="02040503050406030204" pitchFamily="18" charset="0"/>
                                          </a:rPr>
                                        </m:ctrlPr>
                                      </m:sSubSupPr>
                                      <m:e>
                                        <m:r>
                                          <a:rPr lang="en-US" sz="1400" i="1">
                                            <a:solidFill>
                                              <a:srgbClr val="FF0000"/>
                                            </a:solidFill>
                                            <a:latin typeface="Cambria Math" panose="02040503050406030204" pitchFamily="18" charset="0"/>
                                          </a:rPr>
                                          <m:t>𝑧</m:t>
                                        </m:r>
                                      </m:e>
                                      <m:sub>
                                        <m:r>
                                          <a:rPr lang="en-US" sz="1400" b="0" i="1" smtClean="0">
                                            <a:solidFill>
                                              <a:srgbClr val="FF0000"/>
                                            </a:solidFill>
                                            <a:latin typeface="Cambria Math" panose="02040503050406030204" pitchFamily="18" charset="0"/>
                                          </a:rPr>
                                          <m:t>2</m:t>
                                        </m:r>
                                      </m:sub>
                                      <m:sup>
                                        <m:d>
                                          <m:dPr>
                                            <m:ctrlPr>
                                              <a:rPr lang="en-US" sz="1400" i="1">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3</m:t>
                                            </m:r>
                                          </m:e>
                                        </m:d>
                                      </m:sup>
                                    </m:sSubSup>
                                  </m:e>
                                </m:d>
                              </m:e>
                            </m:mr>
                          </m:m>
                        </m:e>
                      </m:d>
                      <m:sSup>
                        <m:sSupPr>
                          <m:ctrlPr>
                            <a:rPr lang="en-US" sz="1400" b="0" i="1" smtClean="0">
                              <a:solidFill>
                                <a:srgbClr val="FF0000"/>
                              </a:solidFill>
                              <a:latin typeface="Cambria Math" panose="02040503050406030204" pitchFamily="18" charset="0"/>
                            </a:rPr>
                          </m:ctrlPr>
                        </m:sSupPr>
                        <m:e>
                          <m:d>
                            <m:dPr>
                              <m:begChr m:val="["/>
                              <m:endChr m:val="]"/>
                              <m:ctrlPr>
                                <a:rPr lang="en-US" sz="1400" b="0" i="1" smtClean="0">
                                  <a:solidFill>
                                    <a:srgbClr val="FF0000"/>
                                  </a:solidFill>
                                  <a:latin typeface="Cambria Math" panose="02040503050406030204" pitchFamily="18" charset="0"/>
                                </a:rPr>
                              </m:ctrlPr>
                            </m:dPr>
                            <m:e>
                              <m:m>
                                <m:mPr>
                                  <m:mcs>
                                    <m:mc>
                                      <m:mcPr>
                                        <m:count m:val="1"/>
                                        <m:mcJc m:val="center"/>
                                      </m:mcPr>
                                    </m:mc>
                                  </m:mcs>
                                  <m:ctrlPr>
                                    <a:rPr lang="en-US" sz="1400" b="0" i="1" smtClean="0">
                                      <a:solidFill>
                                        <a:srgbClr val="FF0000"/>
                                      </a:solidFill>
                                      <a:latin typeface="Cambria Math" panose="02040503050406030204" pitchFamily="18" charset="0"/>
                                    </a:rPr>
                                  </m:ctrlPr>
                                </m:mPr>
                                <m:mr>
                                  <m:e>
                                    <m:sSubSup>
                                      <m:sSubSupPr>
                                        <m:ctrlPr>
                                          <a:rPr lang="en-US" sz="1400" b="0" i="1" smtClean="0">
                                            <a:solidFill>
                                              <a:srgbClr val="FF0000"/>
                                            </a:solidFill>
                                            <a:latin typeface="Cambria Math" panose="02040503050406030204" pitchFamily="18" charset="0"/>
                                          </a:rPr>
                                        </m:ctrlPr>
                                      </m:sSubSupPr>
                                      <m:e>
                                        <m:r>
                                          <m:rPr>
                                            <m:brk m:alnAt="7"/>
                                          </m:rPr>
                                          <a:rPr lang="en-US" sz="1400" b="0" i="1" smtClean="0">
                                            <a:solidFill>
                                              <a:srgbClr val="FF0000"/>
                                            </a:solidFill>
                                            <a:latin typeface="Cambria Math" panose="02040503050406030204" pitchFamily="18" charset="0"/>
                                          </a:rPr>
                                          <m:t>𝑞</m:t>
                                        </m:r>
                                      </m:e>
                                      <m:sub>
                                        <m:r>
                                          <m:rPr>
                                            <m:brk m:alnAt="7"/>
                                          </m:rPr>
                                          <a:rPr lang="en-US" sz="1400" b="0" i="1" smtClean="0">
                                            <a:solidFill>
                                              <a:srgbClr val="FF0000"/>
                                            </a:solidFill>
                                            <a:latin typeface="Cambria Math" panose="02040503050406030204" pitchFamily="18" charset="0"/>
                                          </a:rPr>
                                          <m:t>1</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2</m:t>
                                            </m:r>
                                          </m:e>
                                        </m:d>
                                      </m:sup>
                                    </m:sSubSup>
                                  </m:e>
                                </m:mr>
                                <m:mr>
                                  <m:e>
                                    <m:sSubSup>
                                      <m:sSubSupPr>
                                        <m:ctrlPr>
                                          <a:rPr lang="en-US" sz="1400" b="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𝑞</m:t>
                                        </m:r>
                                      </m:e>
                                      <m:sub>
                                        <m:r>
                                          <a:rPr lang="en-US" sz="1400" b="0" i="1" smtClean="0">
                                            <a:solidFill>
                                              <a:srgbClr val="FF0000"/>
                                            </a:solidFill>
                                            <a:latin typeface="Cambria Math" panose="02040503050406030204" pitchFamily="18" charset="0"/>
                                          </a:rPr>
                                          <m:t>2</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2</m:t>
                                            </m:r>
                                          </m:e>
                                        </m:d>
                                      </m:sup>
                                    </m:sSubSup>
                                  </m:e>
                                </m:mr>
                                <m:mr>
                                  <m:e>
                                    <m:sSubSup>
                                      <m:sSubSupPr>
                                        <m:ctrlPr>
                                          <a:rPr lang="en-US" sz="1400" b="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𝑞</m:t>
                                        </m:r>
                                      </m:e>
                                      <m:sub>
                                        <m:r>
                                          <a:rPr lang="en-US" sz="1400" b="0" i="1" smtClean="0">
                                            <a:solidFill>
                                              <a:srgbClr val="FF0000"/>
                                            </a:solidFill>
                                            <a:latin typeface="Cambria Math" panose="02040503050406030204" pitchFamily="18" charset="0"/>
                                          </a:rPr>
                                          <m:t>3</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3</m:t>
                                            </m:r>
                                          </m:e>
                                        </m:d>
                                      </m:sup>
                                    </m:sSubSup>
                                  </m:e>
                                </m:mr>
                              </m:m>
                            </m:e>
                          </m:d>
                        </m:e>
                        <m:sup>
                          <m:r>
                            <a:rPr lang="en-US" sz="1400" b="0" i="1" smtClean="0">
                              <a:solidFill>
                                <a:srgbClr val="FF0000"/>
                              </a:solidFill>
                              <a:latin typeface="Cambria Math" panose="02040503050406030204" pitchFamily="18" charset="0"/>
                            </a:rPr>
                            <m:t>𝑇</m:t>
                          </m:r>
                        </m:sup>
                      </m:sSup>
                    </m:oMath>
                  </m:oMathPara>
                </a14:m>
                <a:endParaRPr lang="en-US"/>
              </a:p>
              <a:p>
                <a:endParaRPr lang="en-US"/>
              </a:p>
              <a:p>
                <a:pPr marL="0" indent="0">
                  <a:buNone/>
                </a:pPr>
                <a:r>
                  <a:rPr lang="en-US"/>
                  <a:t>OR:</a:t>
                </a:r>
              </a:p>
              <a:p>
                <a:pPr marL="0" indent="0">
                  <a:buNone/>
                </a:pPr>
                <a14:m>
                  <m:oMathPara xmlns:m="http://schemas.openxmlformats.org/officeDocument/2006/math">
                    <m:oMath>
                      <m:sSubSup>
                        <m:sSubSupPr>
                          <m:ctrlPr>
                            <a:rPr lang="en-US" sz="1600" i="1">
                              <a:latin typeface="Cambria Math" panose="02040503050406030204" pitchFamily="18" charset="0"/>
                            </a:rPr>
                          </m:ctrlPr>
                        </m:sSubSupPr>
                        <m:e>
                          <m:r>
                            <a:rPr lang="en-US" sz="1600" i="1">
                              <a:latin typeface="Cambria Math" panose="02040503050406030204" pitchFamily="18" charset="0"/>
                            </a:rPr>
                            <m:t>𝑊</m:t>
                          </m:r>
                        </m:e>
                        <m:sub>
                          <m:r>
                            <a:rPr lang="en-US" sz="1600" i="1">
                              <a:latin typeface="Cambria Math" panose="02040503050406030204" pitchFamily="18" charset="0"/>
                            </a:rPr>
                            <m:t>𝑁𝑒𝑤</m:t>
                          </m:r>
                        </m:sub>
                        <m:sup>
                          <m:d>
                            <m:dPr>
                              <m:ctrlPr>
                                <a:rPr lang="en-US" sz="1600" i="1">
                                  <a:latin typeface="Cambria Math" panose="02040503050406030204" pitchFamily="18" charset="0"/>
                                </a:rPr>
                              </m:ctrlPr>
                            </m:dPr>
                            <m:e>
                              <m:r>
                                <a:rPr lang="en-US" sz="1600" i="1">
                                  <a:latin typeface="Cambria Math" panose="02040503050406030204" pitchFamily="18" charset="0"/>
                                </a:rPr>
                                <m:t>3</m:t>
                              </m:r>
                            </m:e>
                          </m:d>
                        </m:sup>
                      </m:sSubSup>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US" sz="1600" i="1">
                              <a:latin typeface="Cambria Math" panose="02040503050406030204" pitchFamily="18" charset="0"/>
                            </a:rPr>
                            <m:t>𝑊</m:t>
                          </m:r>
                        </m:e>
                        <m:sub>
                          <m:r>
                            <a:rPr lang="en-US" sz="1600" i="1">
                              <a:latin typeface="Cambria Math" panose="02040503050406030204" pitchFamily="18" charset="0"/>
                            </a:rPr>
                            <m:t>𝑂𝑙𝑑</m:t>
                          </m:r>
                        </m:sub>
                        <m:sup>
                          <m:r>
                            <a:rPr lang="en-US" sz="1600" i="1">
                              <a:latin typeface="Cambria Math" panose="02040503050406030204" pitchFamily="18" charset="0"/>
                            </a:rPr>
                            <m:t>(3)</m:t>
                          </m:r>
                        </m:sup>
                      </m:sSubSup>
                      <m:r>
                        <a:rPr lang="en-US" sz="1600" i="1">
                          <a:latin typeface="Cambria Math" panose="02040503050406030204" pitchFamily="18" charset="0"/>
                        </a:rPr>
                        <m:t>−</m:t>
                      </m:r>
                      <m:r>
                        <a:rPr lang="en-US" sz="1600" i="1" smtClean="0">
                          <a:solidFill>
                            <a:srgbClr val="FF0000"/>
                          </a:solidFill>
                          <a:latin typeface="Cambria Math" panose="02040503050406030204" pitchFamily="18" charset="0"/>
                        </a:rPr>
                        <m:t>2</m:t>
                      </m:r>
                      <m:r>
                        <a:rPr lang="en-US" sz="1600" i="1">
                          <a:latin typeface="Cambria Math" panose="02040503050406030204" pitchFamily="18" charset="0"/>
                        </a:rPr>
                        <m:t>𝛼</m:t>
                      </m:r>
                      <m:d>
                        <m:dPr>
                          <m:begChr m:val="["/>
                          <m:endChr m:val="]"/>
                          <m:ctrlPr>
                            <a:rPr lang="en-US" sz="1600" i="1">
                              <a:solidFill>
                                <a:srgbClr val="FF0000"/>
                              </a:solidFill>
                              <a:latin typeface="Cambria Math" panose="02040503050406030204" pitchFamily="18" charset="0"/>
                            </a:rPr>
                          </m:ctrlPr>
                        </m:dPr>
                        <m:e>
                          <m:m>
                            <m:mPr>
                              <m:mcs>
                                <m:mc>
                                  <m:mcPr>
                                    <m:count m:val="1"/>
                                    <m:mcJc m:val="center"/>
                                  </m:mcPr>
                                </m:mc>
                              </m:mcs>
                              <m:ctrlPr>
                                <a:rPr lang="en-US" sz="1600" i="1">
                                  <a:solidFill>
                                    <a:srgbClr val="FF0000"/>
                                  </a:solidFill>
                                  <a:latin typeface="Cambria Math" panose="02040503050406030204" pitchFamily="18" charset="0"/>
                                </a:rPr>
                              </m:ctrlPr>
                            </m:mP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m:rPr>
                                            <m:brk m:alnAt="7"/>
                                          </m:rPr>
                                          <a:rPr lang="en-US" sz="1600" i="1">
                                            <a:solidFill>
                                              <a:srgbClr val="FF0000"/>
                                            </a:solidFill>
                                            <a:latin typeface="Cambria Math" panose="02040503050406030204" pitchFamily="18" charset="0"/>
                                          </a:rPr>
                                          <m:t>1</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m:rPr>
                                            <m:brk m:alnAt="7"/>
                                          </m:rPr>
                                          <a:rPr lang="en-US" sz="1600" i="1">
                                            <a:solidFill>
                                              <a:srgbClr val="FF0000"/>
                                            </a:solidFill>
                                            <a:latin typeface="Cambria Math" panose="02040503050406030204" pitchFamily="18" charset="0"/>
                                          </a:rPr>
                                          <m:t>1</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a:rPr lang="en-US" sz="1600" i="1">
                                            <a:solidFill>
                                              <a:srgbClr val="FF0000"/>
                                            </a:solidFill>
                                            <a:latin typeface="Cambria Math" panose="02040503050406030204" pitchFamily="18" charset="0"/>
                                          </a:rPr>
                                          <m:t>2</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a:rPr lang="en-US" sz="1600" i="1">
                                            <a:solidFill>
                                              <a:srgbClr val="FF0000"/>
                                            </a:solidFill>
                                            <a:latin typeface="Cambria Math" panose="02040503050406030204" pitchFamily="18" charset="0"/>
                                          </a:rPr>
                                          <m:t>2</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
                        </m:e>
                      </m:d>
                      <m:sSup>
                        <m:sSupPr>
                          <m:ctrlPr>
                            <a:rPr lang="en-US" sz="1600" i="1">
                              <a:solidFill>
                                <a:srgbClr val="FF0000"/>
                              </a:solidFill>
                              <a:latin typeface="Cambria Math" panose="02040503050406030204" pitchFamily="18" charset="0"/>
                            </a:rPr>
                          </m:ctrlPr>
                        </m:sSupPr>
                        <m:e>
                          <m:sSubSup>
                            <m:sSubSupPr>
                              <m:ctrlPr>
                                <a:rPr lang="en-US" sz="1600" i="1">
                                  <a:solidFill>
                                    <a:srgbClr val="FF0000"/>
                                  </a:solidFill>
                                  <a:latin typeface="Cambria Math" panose="02040503050406030204" pitchFamily="18" charset="0"/>
                                </a:rPr>
                              </m:ctrlPr>
                            </m:sSubSupPr>
                            <m:e>
                              <m:acc>
                                <m:accPr>
                                  <m:chr m:val="⃗"/>
                                  <m:ctrlPr>
                                    <a:rPr lang="en-US" sz="1600"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𝑞</m:t>
                                  </m:r>
                                </m:e>
                              </m:acc>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2</m:t>
                                  </m:r>
                                </m:e>
                              </m:d>
                            </m:sup>
                          </m:sSubSup>
                        </m:e>
                        <m:sup>
                          <m:r>
                            <a:rPr lang="en-US" sz="1600" i="1">
                              <a:solidFill>
                                <a:srgbClr val="FF0000"/>
                              </a:solidFill>
                              <a:latin typeface="Cambria Math" panose="02040503050406030204" pitchFamily="18" charset="0"/>
                            </a:rPr>
                            <m:t>𝑇</m:t>
                          </m:r>
                        </m:sup>
                      </m:sSup>
                    </m:oMath>
                  </m:oMathPara>
                </a14:m>
                <a:endParaRPr lang="en-US"/>
              </a:p>
              <a:p>
                <a:endParaRPr lang="en-US"/>
              </a:p>
              <a:p>
                <a:pPr marL="0" indent="0">
                  <a:buNone/>
                </a:pPr>
                <a:r>
                  <a:rPr lang="en-US"/>
                  <a:t>Think: How can this equation be used for both batch and stochastic gradient descent?</a:t>
                </a:r>
              </a:p>
              <a:p>
                <a:endParaRPr lang="en-US"/>
              </a:p>
            </p:txBody>
          </p:sp>
        </mc:Choice>
        <mc:Fallback>
          <p:sp>
            <p:nvSpPr>
              <p:cNvPr id="2" name="Content Placeholder 1">
                <a:extLst>
                  <a:ext uri="{FF2B5EF4-FFF2-40B4-BE49-F238E27FC236}">
                    <a16:creationId xmlns:a16="http://schemas.microsoft.com/office/drawing/2014/main" id="{A707F376-B649-EC1D-3062-13BA80BEE3FC}"/>
                  </a:ext>
                </a:extLst>
              </p:cNvPr>
              <p:cNvSpPr>
                <a:spLocks noGrp="1" noRot="1" noChangeAspect="1" noMove="1" noResize="1" noEditPoints="1" noAdjustHandles="1" noChangeArrowheads="1" noChangeShapeType="1" noTextEdit="1"/>
              </p:cNvSpPr>
              <p:nvPr>
                <p:ph idx="26"/>
              </p:nvPr>
            </p:nvSpPr>
            <p:spPr>
              <a:blipFill>
                <a:blip r:embed="rId3"/>
                <a:stretch>
                  <a:fillRect l="-76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59EDECF-4F49-8517-4077-7665B21BC312}"/>
              </a:ext>
            </a:extLst>
          </p:cNvPr>
          <p:cNvSpPr>
            <a:spLocks noGrp="1"/>
          </p:cNvSpPr>
          <p:nvPr>
            <p:ph type="title"/>
          </p:nvPr>
        </p:nvSpPr>
        <p:spPr/>
        <p:txBody>
          <a:bodyPr>
            <a:noAutofit/>
          </a:bodyPr>
          <a:lstStyle/>
          <a:p>
            <a:r>
              <a:rPr lang="en-US" sz="2000"/>
              <a:t>Matrix Form Equation (Updating weights in last layer)</a:t>
            </a:r>
          </a:p>
        </p:txBody>
      </p:sp>
    </p:spTree>
    <p:extLst>
      <p:ext uri="{BB962C8B-B14F-4D97-AF65-F5344CB8AC3E}">
        <p14:creationId xmlns:p14="http://schemas.microsoft.com/office/powerpoint/2010/main" val="48005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18BEF288-16C5-ACF1-8BD7-0EF4DDAE22BE}"/>
                  </a:ext>
                </a:extLst>
              </p:cNvPr>
              <p:cNvSpPr>
                <a:spLocks noGrp="1"/>
              </p:cNvSpPr>
              <p:nvPr>
                <p:ph idx="26"/>
              </p:nvPr>
            </p:nvSpPr>
            <p:spPr/>
            <p:txBody>
              <a:bodyPr/>
              <a:lstStyle/>
              <a:p>
                <a:pPr marL="0" indent="0">
                  <a:buNone/>
                </a:pPr>
                <a14:m>
                  <m:oMathPara xmlns:m="http://schemas.openxmlformats.org/officeDocument/2006/math">
                    <m:oMath>
                      <m:d>
                        <m:dPr>
                          <m:begChr m:val="["/>
                          <m:endChr m:val="]"/>
                          <m:ctrlPr>
                            <a:rPr lang="en-US" sz="1400" b="0" i="1" smtClean="0">
                              <a:latin typeface="Cambria Math" panose="02040503050406030204" pitchFamily="18" charset="0"/>
                            </a:rPr>
                          </m:ctrlPr>
                        </m:dPr>
                        <m:e>
                          <m:eqArr>
                            <m:eqArrPr>
                              <m:ctrlPr>
                                <a:rPr lang="en-US" sz="1400" b="0" i="1" smtClean="0">
                                  <a:latin typeface="Cambria Math" panose="02040503050406030204" pitchFamily="18" charset="0"/>
                                </a:rPr>
                              </m:ctrlPr>
                            </m:eqArrPr>
                            <m:e>
                              <m:sSub>
                                <m:sSubPr>
                                  <m:ctrlPr>
                                    <a:rPr lang="en-US" sz="1400" b="0" i="1" smtClean="0">
                                      <a:latin typeface="Cambria Math" panose="02040503050406030204" pitchFamily="18" charset="0"/>
                                    </a:rPr>
                                  </m:ctrlPr>
                                </m:sSubPr>
                                <m:e>
                                  <m:sSubSup>
                                    <m:sSubSupPr>
                                      <m:ctrlPr>
                                        <a:rPr lang="en-US" sz="1400" b="0" i="1" smtClean="0">
                                          <a:latin typeface="Cambria Math" panose="02040503050406030204" pitchFamily="18" charset="0"/>
                                        </a:rPr>
                                      </m:ctrlPr>
                                    </m:sSubSupPr>
                                    <m:e>
                                      <m:r>
                                        <a:rPr lang="en-US" sz="1400" b="0" i="1" smtClean="0">
                                          <a:latin typeface="Cambria Math" panose="02040503050406030204" pitchFamily="18" charset="0"/>
                                        </a:rPr>
                                        <m:t>𝑏</m:t>
                                      </m:r>
                                    </m:e>
                                    <m:sub>
                                      <m:r>
                                        <a:rPr lang="en-US" sz="1400" b="0" i="1" smtClean="0">
                                          <a:latin typeface="Cambria Math" panose="02040503050406030204" pitchFamily="18" charset="0"/>
                                        </a:rPr>
                                        <m:t>1</m:t>
                                      </m:r>
                                    </m:sub>
                                    <m: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e>
                                      </m:d>
                                    </m:sup>
                                  </m:sSubSup>
                                </m:e>
                                <m:sub>
                                  <m:r>
                                    <a:rPr lang="en-US" sz="1400" b="0" i="1" smtClean="0">
                                      <a:latin typeface="Cambria Math" panose="02040503050406030204" pitchFamily="18" charset="0"/>
                                    </a:rPr>
                                    <m:t>𝑛𝑒𝑤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𝑏</m:t>
                                      </m:r>
                                    </m:e>
                                    <m:sub>
                                      <m:r>
                                        <a:rPr lang="en-US" sz="1400" b="0" i="1" smtClean="0">
                                          <a:latin typeface="Cambria Math" panose="02040503050406030204" pitchFamily="18" charset="0"/>
                                        </a:rPr>
                                        <m:t>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𝑛𝑒𝑤</m:t>
                                  </m:r>
                                </m:sub>
                              </m:sSub>
                            </m:e>
                          </m:eqArr>
                        </m:e>
                      </m:d>
                      <m:r>
                        <a:rPr lang="en-US" sz="1400" i="1">
                          <a:latin typeface="Cambria Math" panose="02040503050406030204" pitchFamily="18" charset="0"/>
                        </a:rPr>
                        <m:t>=</m:t>
                      </m:r>
                      <m:d>
                        <m:dPr>
                          <m:begChr m:val="["/>
                          <m:endChr m:val="]"/>
                          <m:ctrlPr>
                            <a:rPr lang="en-US" sz="1400" i="1">
                              <a:latin typeface="Cambria Math" panose="02040503050406030204" pitchFamily="18" charset="0"/>
                            </a:rPr>
                          </m:ctrlPr>
                        </m:dPr>
                        <m:e>
                          <m:eqArr>
                            <m:eqArrPr>
                              <m:ctrlPr>
                                <a:rPr lang="en-US" sz="1400" i="1">
                                  <a:latin typeface="Cambria Math" panose="02040503050406030204" pitchFamily="18" charset="0"/>
                                </a:rPr>
                              </m:ctrlPr>
                            </m:eqArrP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𝑏</m:t>
                                      </m:r>
                                    </m:e>
                                    <m:sub>
                                      <m:r>
                                        <a:rPr lang="en-US" sz="1400" i="1">
                                          <a:latin typeface="Cambria Math" panose="02040503050406030204" pitchFamily="18" charset="0"/>
                                        </a:rPr>
                                        <m:t>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𝑜𝑙𝑑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𝑏</m:t>
                                      </m:r>
                                    </m:e>
                                    <m:sub>
                                      <m:r>
                                        <a:rPr lang="en-US" sz="1400" i="1">
                                          <a:latin typeface="Cambria Math" panose="02040503050406030204" pitchFamily="18" charset="0"/>
                                        </a:rPr>
                                        <m:t>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𝑜𝑙𝑑</m:t>
                                  </m:r>
                                </m:sub>
                              </m:sSub>
                            </m:e>
                          </m:eqArr>
                        </m:e>
                      </m:d>
                      <m:r>
                        <a:rPr lang="en-US" sz="1400" i="1">
                          <a:latin typeface="Cambria Math" panose="02040503050406030204" pitchFamily="18" charset="0"/>
                        </a:rPr>
                        <m:t>−</m:t>
                      </m:r>
                      <m:r>
                        <a:rPr lang="en-US" sz="1400" i="1">
                          <a:solidFill>
                            <a:srgbClr val="FF0000"/>
                          </a:solidFill>
                          <a:latin typeface="Cambria Math" panose="02040503050406030204" pitchFamily="18" charset="0"/>
                        </a:rPr>
                        <m:t>2</m:t>
                      </m:r>
                      <m:r>
                        <a:rPr lang="en-US" sz="1400" i="1">
                          <a:latin typeface="Cambria Math" panose="02040503050406030204" pitchFamily="18" charset="0"/>
                        </a:rPr>
                        <m:t>𝛼</m:t>
                      </m:r>
                      <m:d>
                        <m:dPr>
                          <m:begChr m:val="["/>
                          <m:endChr m:val="]"/>
                          <m:ctrlPr>
                            <a:rPr lang="en-US" sz="1400" i="1">
                              <a:solidFill>
                                <a:srgbClr val="FF0000"/>
                              </a:solidFill>
                              <a:latin typeface="Cambria Math" panose="02040503050406030204" pitchFamily="18" charset="0"/>
                            </a:rPr>
                          </m:ctrlPr>
                        </m:dPr>
                        <m:e>
                          <m:m>
                            <m:mPr>
                              <m:mcs>
                                <m:mc>
                                  <m:mcPr>
                                    <m:count m:val="1"/>
                                    <m:mcJc m:val="center"/>
                                  </m:mcPr>
                                </m:mc>
                              </m:mcs>
                              <m:ctrlPr>
                                <a:rPr lang="en-US" sz="1400" i="1">
                                  <a:solidFill>
                                    <a:srgbClr val="FF0000"/>
                                  </a:solidFill>
                                  <a:latin typeface="Cambria Math" panose="02040503050406030204" pitchFamily="18" charset="0"/>
                                </a:rPr>
                              </m:ctrlPr>
                            </m:mPr>
                            <m:mr>
                              <m:e>
                                <m:d>
                                  <m:dPr>
                                    <m:ctrlPr>
                                      <a:rPr lang="en-US" sz="1400" i="1">
                                        <a:solidFill>
                                          <a:srgbClr val="FF0000"/>
                                        </a:solidFill>
                                        <a:latin typeface="Cambria Math" panose="02040503050406030204" pitchFamily="18" charset="0"/>
                                      </a:rPr>
                                    </m:ctrlPr>
                                  </m:dPr>
                                  <m:e>
                                    <m:sSub>
                                      <m:sSubPr>
                                        <m:ctrlPr>
                                          <a:rPr lang="en-US" sz="1400" i="1">
                                            <a:solidFill>
                                              <a:srgbClr val="FF0000"/>
                                            </a:solidFill>
                                            <a:latin typeface="Cambria Math" panose="02040503050406030204" pitchFamily="18" charset="0"/>
                                          </a:rPr>
                                        </m:ctrlPr>
                                      </m:sSubPr>
                                      <m:e>
                                        <m:acc>
                                          <m:accPr>
                                            <m:chr m:val="̂"/>
                                            <m:ctrlPr>
                                              <a:rPr lang="en-US" sz="1400" i="1">
                                                <a:solidFill>
                                                  <a:srgbClr val="FF0000"/>
                                                </a:solidFill>
                                                <a:latin typeface="Cambria Math" panose="02040503050406030204" pitchFamily="18" charset="0"/>
                                              </a:rPr>
                                            </m:ctrlPr>
                                          </m:accPr>
                                          <m:e>
                                            <m:r>
                                              <m:rPr>
                                                <m:brk m:alnAt="7"/>
                                              </m:rPr>
                                              <a:rPr lang="en-US" sz="1400" i="1">
                                                <a:solidFill>
                                                  <a:srgbClr val="FF0000"/>
                                                </a:solidFill>
                                                <a:latin typeface="Cambria Math" panose="02040503050406030204" pitchFamily="18" charset="0"/>
                                              </a:rPr>
                                              <m:t>𝑦</m:t>
                                            </m:r>
                                          </m:e>
                                        </m:acc>
                                      </m:e>
                                      <m:sub>
                                        <m:r>
                                          <m:rPr>
                                            <m:brk m:alnAt="7"/>
                                          </m:rPr>
                                          <a:rPr lang="en-US" sz="1400" i="1">
                                            <a:solidFill>
                                              <a:srgbClr val="FF0000"/>
                                            </a:solidFill>
                                            <a:latin typeface="Cambria Math" panose="02040503050406030204" pitchFamily="18" charset="0"/>
                                          </a:rPr>
                                          <m:t>1</m:t>
                                        </m:r>
                                      </m:sub>
                                    </m:sSub>
                                    <m:r>
                                      <m:rPr>
                                        <m:brk m:alnAt="7"/>
                                      </m:rPr>
                                      <a:rPr lang="en-US" sz="1400" i="1">
                                        <a:solidFill>
                                          <a:srgbClr val="FF0000"/>
                                        </a:solidFill>
                                        <a:latin typeface="Cambria Math" panose="02040503050406030204" pitchFamily="18" charset="0"/>
                                      </a:rPr>
                                      <m:t>−</m:t>
                                    </m:r>
                                    <m:sSub>
                                      <m:sSubPr>
                                        <m:ctrlPr>
                                          <a:rPr lang="en-US" sz="1400" i="1">
                                            <a:solidFill>
                                              <a:srgbClr val="FF0000"/>
                                            </a:solidFill>
                                            <a:latin typeface="Cambria Math" panose="02040503050406030204" pitchFamily="18" charset="0"/>
                                          </a:rPr>
                                        </m:ctrlPr>
                                      </m:sSubPr>
                                      <m:e>
                                        <m:r>
                                          <m:rPr>
                                            <m:brk m:alnAt="7"/>
                                          </m:rPr>
                                          <a:rPr lang="en-US" sz="1400" i="1">
                                            <a:solidFill>
                                              <a:srgbClr val="FF0000"/>
                                            </a:solidFill>
                                            <a:latin typeface="Cambria Math" panose="02040503050406030204" pitchFamily="18" charset="0"/>
                                          </a:rPr>
                                          <m:t>𝑦</m:t>
                                        </m:r>
                                      </m:e>
                                      <m:sub>
                                        <m:r>
                                          <m:rPr>
                                            <m:brk m:alnAt="7"/>
                                          </m:rPr>
                                          <a:rPr lang="en-US" sz="1400" i="1">
                                            <a:solidFill>
                                              <a:srgbClr val="FF0000"/>
                                            </a:solidFill>
                                            <a:latin typeface="Cambria Math" panose="02040503050406030204" pitchFamily="18" charset="0"/>
                                          </a:rPr>
                                          <m:t>1</m:t>
                                        </m:r>
                                      </m:sub>
                                    </m:sSub>
                                  </m:e>
                                </m:d>
                                <m:sSubSup>
                                  <m:sSubSupPr>
                                    <m:ctrlPr>
                                      <a:rPr lang="en-US" sz="1400" i="1">
                                        <a:solidFill>
                                          <a:srgbClr val="FF0000"/>
                                        </a:solidFill>
                                        <a:latin typeface="Cambria Math" panose="02040503050406030204" pitchFamily="18" charset="0"/>
                                      </a:rPr>
                                    </m:ctrlPr>
                                  </m:sSubSupPr>
                                  <m:e>
                                    <m:r>
                                      <m:rPr>
                                        <m:brk m:alnAt="7"/>
                                      </m:rPr>
                                      <a:rPr lang="en-US" sz="1400" i="1">
                                        <a:solidFill>
                                          <a:srgbClr val="FF0000"/>
                                        </a:solidFill>
                                        <a:latin typeface="Cambria Math" panose="02040503050406030204" pitchFamily="18" charset="0"/>
                                      </a:rPr>
                                      <m:t>ℎ</m:t>
                                    </m:r>
                                  </m:e>
                                  <m:sub>
                                    <m:r>
                                      <m:rPr>
                                        <m:brk m:alnAt="7"/>
                                      </m:rPr>
                                      <a:rPr lang="en-US" sz="1400" i="1">
                                        <a:solidFill>
                                          <a:srgbClr val="FF0000"/>
                                        </a:solidFill>
                                        <a:latin typeface="Cambria Math" panose="02040503050406030204" pitchFamily="18" charset="0"/>
                                      </a:rPr>
                                      <m:t>3</m:t>
                                    </m:r>
                                  </m:sub>
                                  <m:sup>
                                    <m:r>
                                      <a:rPr lang="en-US" sz="1400" i="1">
                                        <a:solidFill>
                                          <a:srgbClr val="FF0000"/>
                                        </a:solidFill>
                                        <a:latin typeface="Cambria Math" panose="02040503050406030204" pitchFamily="18" charset="0"/>
                                      </a:rPr>
                                      <m:t>′</m:t>
                                    </m:r>
                                  </m:sup>
                                </m:sSubSup>
                                <m:d>
                                  <m:dPr>
                                    <m:ctrlPr>
                                      <a:rPr lang="en-US" sz="1400" i="1">
                                        <a:solidFill>
                                          <a:srgbClr val="FF0000"/>
                                        </a:solidFill>
                                        <a:latin typeface="Cambria Math" panose="02040503050406030204" pitchFamily="18" charset="0"/>
                                      </a:rPr>
                                    </m:ctrlPr>
                                  </m:dPr>
                                  <m:e>
                                    <m:sSubSup>
                                      <m:sSubSupPr>
                                        <m:ctrlPr>
                                          <a:rPr lang="en-US" sz="1400" i="1">
                                            <a:solidFill>
                                              <a:srgbClr val="FF0000"/>
                                            </a:solidFill>
                                            <a:latin typeface="Cambria Math" panose="02040503050406030204" pitchFamily="18" charset="0"/>
                                          </a:rPr>
                                        </m:ctrlPr>
                                      </m:sSubSupPr>
                                      <m:e>
                                        <m:r>
                                          <a:rPr lang="en-US" sz="1400" i="1">
                                            <a:solidFill>
                                              <a:srgbClr val="FF0000"/>
                                            </a:solidFill>
                                            <a:latin typeface="Cambria Math" panose="02040503050406030204" pitchFamily="18" charset="0"/>
                                          </a:rPr>
                                          <m:t>𝑧</m:t>
                                        </m:r>
                                      </m:e>
                                      <m:sub>
                                        <m:r>
                                          <a:rPr lang="en-US" sz="1400" i="1">
                                            <a:solidFill>
                                              <a:srgbClr val="FF0000"/>
                                            </a:solidFill>
                                            <a:latin typeface="Cambria Math" panose="02040503050406030204" pitchFamily="18" charset="0"/>
                                          </a:rPr>
                                          <m:t>1</m:t>
                                        </m:r>
                                      </m:sub>
                                      <m:sup>
                                        <m:d>
                                          <m:dPr>
                                            <m:ctrlPr>
                                              <a:rPr lang="en-US" sz="1400" i="1">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3</m:t>
                                            </m:r>
                                          </m:e>
                                        </m:d>
                                      </m:sup>
                                    </m:sSubSup>
                                  </m:e>
                                </m:d>
                              </m:e>
                            </m:mr>
                            <m:mr>
                              <m:e>
                                <m:d>
                                  <m:dPr>
                                    <m:ctrlPr>
                                      <a:rPr lang="en-US" sz="1400" i="1">
                                        <a:solidFill>
                                          <a:srgbClr val="FF0000"/>
                                        </a:solidFill>
                                        <a:latin typeface="Cambria Math" panose="02040503050406030204" pitchFamily="18" charset="0"/>
                                      </a:rPr>
                                    </m:ctrlPr>
                                  </m:dPr>
                                  <m:e>
                                    <m:sSub>
                                      <m:sSubPr>
                                        <m:ctrlPr>
                                          <a:rPr lang="en-US" sz="1400" i="1">
                                            <a:solidFill>
                                              <a:srgbClr val="FF0000"/>
                                            </a:solidFill>
                                            <a:latin typeface="Cambria Math" panose="02040503050406030204" pitchFamily="18" charset="0"/>
                                          </a:rPr>
                                        </m:ctrlPr>
                                      </m:sSubPr>
                                      <m:e>
                                        <m:acc>
                                          <m:accPr>
                                            <m:chr m:val="̂"/>
                                            <m:ctrlPr>
                                              <a:rPr lang="en-US" sz="1400" i="1">
                                                <a:solidFill>
                                                  <a:srgbClr val="FF0000"/>
                                                </a:solidFill>
                                                <a:latin typeface="Cambria Math" panose="02040503050406030204" pitchFamily="18" charset="0"/>
                                              </a:rPr>
                                            </m:ctrlPr>
                                          </m:accPr>
                                          <m:e>
                                            <m:r>
                                              <m:rPr>
                                                <m:brk m:alnAt="7"/>
                                              </m:rPr>
                                              <a:rPr lang="en-US" sz="1400" i="1">
                                                <a:solidFill>
                                                  <a:srgbClr val="FF0000"/>
                                                </a:solidFill>
                                                <a:latin typeface="Cambria Math" panose="02040503050406030204" pitchFamily="18" charset="0"/>
                                              </a:rPr>
                                              <m:t>𝑦</m:t>
                                            </m:r>
                                          </m:e>
                                        </m:acc>
                                      </m:e>
                                      <m:sub>
                                        <m:r>
                                          <a:rPr lang="en-US" sz="1400" i="1">
                                            <a:solidFill>
                                              <a:srgbClr val="FF0000"/>
                                            </a:solidFill>
                                            <a:latin typeface="Cambria Math" panose="02040503050406030204" pitchFamily="18" charset="0"/>
                                          </a:rPr>
                                          <m:t>2</m:t>
                                        </m:r>
                                      </m:sub>
                                    </m:sSub>
                                    <m:r>
                                      <m:rPr>
                                        <m:brk m:alnAt="7"/>
                                      </m:rPr>
                                      <a:rPr lang="en-US" sz="1400" i="1">
                                        <a:solidFill>
                                          <a:srgbClr val="FF0000"/>
                                        </a:solidFill>
                                        <a:latin typeface="Cambria Math" panose="02040503050406030204" pitchFamily="18" charset="0"/>
                                      </a:rPr>
                                      <m:t>−</m:t>
                                    </m:r>
                                    <m:sSub>
                                      <m:sSubPr>
                                        <m:ctrlPr>
                                          <a:rPr lang="en-US" sz="1400" i="1">
                                            <a:solidFill>
                                              <a:srgbClr val="FF0000"/>
                                            </a:solidFill>
                                            <a:latin typeface="Cambria Math" panose="02040503050406030204" pitchFamily="18" charset="0"/>
                                          </a:rPr>
                                        </m:ctrlPr>
                                      </m:sSubPr>
                                      <m:e>
                                        <m:r>
                                          <m:rPr>
                                            <m:brk m:alnAt="7"/>
                                          </m:rPr>
                                          <a:rPr lang="en-US" sz="1400" i="1">
                                            <a:solidFill>
                                              <a:srgbClr val="FF0000"/>
                                            </a:solidFill>
                                            <a:latin typeface="Cambria Math" panose="02040503050406030204" pitchFamily="18" charset="0"/>
                                          </a:rPr>
                                          <m:t>𝑦</m:t>
                                        </m:r>
                                      </m:e>
                                      <m:sub>
                                        <m:r>
                                          <a:rPr lang="en-US" sz="1400" i="1">
                                            <a:solidFill>
                                              <a:srgbClr val="FF0000"/>
                                            </a:solidFill>
                                            <a:latin typeface="Cambria Math" panose="02040503050406030204" pitchFamily="18" charset="0"/>
                                          </a:rPr>
                                          <m:t>2</m:t>
                                        </m:r>
                                      </m:sub>
                                    </m:sSub>
                                  </m:e>
                                </m:d>
                                <m:sSubSup>
                                  <m:sSubSupPr>
                                    <m:ctrlPr>
                                      <a:rPr lang="en-US" sz="1400" i="1">
                                        <a:solidFill>
                                          <a:srgbClr val="FF0000"/>
                                        </a:solidFill>
                                        <a:latin typeface="Cambria Math" panose="02040503050406030204" pitchFamily="18" charset="0"/>
                                      </a:rPr>
                                    </m:ctrlPr>
                                  </m:sSubSupPr>
                                  <m:e>
                                    <m:r>
                                      <m:rPr>
                                        <m:brk m:alnAt="7"/>
                                      </m:rPr>
                                      <a:rPr lang="en-US" sz="1400" i="1">
                                        <a:solidFill>
                                          <a:srgbClr val="FF0000"/>
                                        </a:solidFill>
                                        <a:latin typeface="Cambria Math" panose="02040503050406030204" pitchFamily="18" charset="0"/>
                                      </a:rPr>
                                      <m:t>ℎ</m:t>
                                    </m:r>
                                  </m:e>
                                  <m:sub>
                                    <m:r>
                                      <m:rPr>
                                        <m:brk m:alnAt="7"/>
                                      </m:rPr>
                                      <a:rPr lang="en-US" sz="1400" i="1">
                                        <a:solidFill>
                                          <a:srgbClr val="FF0000"/>
                                        </a:solidFill>
                                        <a:latin typeface="Cambria Math" panose="02040503050406030204" pitchFamily="18" charset="0"/>
                                      </a:rPr>
                                      <m:t>3</m:t>
                                    </m:r>
                                  </m:sub>
                                  <m:sup>
                                    <m:r>
                                      <a:rPr lang="en-US" sz="1400" i="1">
                                        <a:solidFill>
                                          <a:srgbClr val="FF0000"/>
                                        </a:solidFill>
                                        <a:latin typeface="Cambria Math" panose="02040503050406030204" pitchFamily="18" charset="0"/>
                                      </a:rPr>
                                      <m:t>′</m:t>
                                    </m:r>
                                  </m:sup>
                                </m:sSubSup>
                                <m:d>
                                  <m:dPr>
                                    <m:ctrlPr>
                                      <a:rPr lang="en-US" sz="1400" i="1">
                                        <a:solidFill>
                                          <a:srgbClr val="FF0000"/>
                                        </a:solidFill>
                                        <a:latin typeface="Cambria Math" panose="02040503050406030204" pitchFamily="18" charset="0"/>
                                      </a:rPr>
                                    </m:ctrlPr>
                                  </m:dPr>
                                  <m:e>
                                    <m:sSubSup>
                                      <m:sSubSupPr>
                                        <m:ctrlPr>
                                          <a:rPr lang="en-US" sz="1400" i="1">
                                            <a:solidFill>
                                              <a:srgbClr val="FF0000"/>
                                            </a:solidFill>
                                            <a:latin typeface="Cambria Math" panose="02040503050406030204" pitchFamily="18" charset="0"/>
                                          </a:rPr>
                                        </m:ctrlPr>
                                      </m:sSubSupPr>
                                      <m:e>
                                        <m:r>
                                          <a:rPr lang="en-US" sz="1400" i="1">
                                            <a:solidFill>
                                              <a:srgbClr val="FF0000"/>
                                            </a:solidFill>
                                            <a:latin typeface="Cambria Math" panose="02040503050406030204" pitchFamily="18" charset="0"/>
                                          </a:rPr>
                                          <m:t>𝑧</m:t>
                                        </m:r>
                                      </m:e>
                                      <m:sub>
                                        <m:r>
                                          <a:rPr lang="en-US" sz="1400" i="1">
                                            <a:solidFill>
                                              <a:srgbClr val="FF0000"/>
                                            </a:solidFill>
                                            <a:latin typeface="Cambria Math" panose="02040503050406030204" pitchFamily="18" charset="0"/>
                                          </a:rPr>
                                          <m:t>2</m:t>
                                        </m:r>
                                      </m:sub>
                                      <m:sup>
                                        <m:d>
                                          <m:dPr>
                                            <m:ctrlPr>
                                              <a:rPr lang="en-US" sz="1400" i="1">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3</m:t>
                                            </m:r>
                                          </m:e>
                                        </m:d>
                                      </m:sup>
                                    </m:sSubSup>
                                  </m:e>
                                </m:d>
                              </m:e>
                            </m:mr>
                          </m:m>
                        </m:e>
                      </m:d>
                    </m:oMath>
                  </m:oMathPara>
                </a14:m>
                <a:endParaRPr lang="en-US" dirty="0"/>
              </a:p>
              <a:p>
                <a:endParaRPr lang="en-US" dirty="0"/>
              </a:p>
              <a:p>
                <a:pPr marL="0" indent="0">
                  <a:buNone/>
                </a:pPr>
                <a:r>
                  <a:rPr lang="en-US" dirty="0"/>
                  <a:t>Or</a:t>
                </a:r>
              </a:p>
              <a:p>
                <a:pPr marL="0" indent="0">
                  <a:buNone/>
                </a:pPr>
                <a:endParaRPr lang="en-US" dirty="0"/>
              </a:p>
              <a:p>
                <a:pPr marL="0" indent="0">
                  <a:buNone/>
                </a:pPr>
                <a14:m>
                  <m:oMathPara xmlns:m="http://schemas.openxmlformats.org/officeDocument/2006/math">
                    <m:oMath>
                      <m:sSubSup>
                        <m:sSubSupPr>
                          <m:ctrlPr>
                            <a:rPr lang="en-US" sz="1600" i="1">
                              <a:latin typeface="Cambria Math" panose="02040503050406030204" pitchFamily="18" charset="0"/>
                            </a:rPr>
                          </m:ctrlPr>
                        </m:sSubSupPr>
                        <m:e>
                          <m:acc>
                            <m:accPr>
                              <m:chr m:val="⃗"/>
                              <m:ctrlPr>
                                <a:rPr lang="en-US" sz="1600" i="1">
                                  <a:latin typeface="Cambria Math" panose="02040503050406030204" pitchFamily="18" charset="0"/>
                                </a:rPr>
                              </m:ctrlPr>
                            </m:accPr>
                            <m:e>
                              <m:r>
                                <a:rPr lang="en-US" sz="1600" i="1">
                                  <a:latin typeface="Cambria Math" panose="02040503050406030204" pitchFamily="18" charset="0"/>
                                </a:rPr>
                                <m:t>𝑏</m:t>
                              </m:r>
                            </m:e>
                          </m:acc>
                        </m:e>
                        <m:sub>
                          <m:r>
                            <a:rPr lang="en-US" sz="1600" i="1">
                              <a:latin typeface="Cambria Math" panose="02040503050406030204" pitchFamily="18" charset="0"/>
                            </a:rPr>
                            <m:t>𝑁𝑒𝑤</m:t>
                          </m:r>
                        </m:sub>
                        <m:sup>
                          <m:d>
                            <m:dPr>
                              <m:ctrlPr>
                                <a:rPr lang="en-US" sz="1600" i="1">
                                  <a:latin typeface="Cambria Math" panose="02040503050406030204" pitchFamily="18" charset="0"/>
                                </a:rPr>
                              </m:ctrlPr>
                            </m:dPr>
                            <m:e>
                              <m:r>
                                <a:rPr lang="en-US" sz="1600" i="1">
                                  <a:latin typeface="Cambria Math" panose="02040503050406030204" pitchFamily="18" charset="0"/>
                                </a:rPr>
                                <m:t>3</m:t>
                              </m:r>
                            </m:e>
                          </m:d>
                        </m:sup>
                      </m:sSubSup>
                      <m:r>
                        <a:rPr lang="en-US" sz="1600" i="1">
                          <a:latin typeface="Cambria Math" panose="02040503050406030204" pitchFamily="18" charset="0"/>
                        </a:rPr>
                        <m:t>=</m:t>
                      </m:r>
                      <m:sSubSup>
                        <m:sSubSupPr>
                          <m:ctrlPr>
                            <a:rPr lang="en-US" sz="1600" i="1">
                              <a:latin typeface="Cambria Math" panose="02040503050406030204" pitchFamily="18" charset="0"/>
                            </a:rPr>
                          </m:ctrlPr>
                        </m:sSubSupPr>
                        <m:e>
                          <m:acc>
                            <m:accPr>
                              <m:chr m:val="⃗"/>
                              <m:ctrlPr>
                                <a:rPr lang="en-US" sz="1600" i="1">
                                  <a:latin typeface="Cambria Math" panose="02040503050406030204" pitchFamily="18" charset="0"/>
                                </a:rPr>
                              </m:ctrlPr>
                            </m:accPr>
                            <m:e>
                              <m:r>
                                <a:rPr lang="en-US" sz="1600" i="1">
                                  <a:latin typeface="Cambria Math" panose="02040503050406030204" pitchFamily="18" charset="0"/>
                                </a:rPr>
                                <m:t>𝑏</m:t>
                              </m:r>
                            </m:e>
                          </m:acc>
                        </m:e>
                        <m:sub>
                          <m:r>
                            <a:rPr lang="en-US" sz="1600" b="0" i="1" smtClean="0">
                              <a:latin typeface="Cambria Math" panose="02040503050406030204" pitchFamily="18" charset="0"/>
                            </a:rPr>
                            <m:t>𝑂𝑙𝑑</m:t>
                          </m:r>
                        </m:sub>
                        <m:sup>
                          <m:d>
                            <m:dPr>
                              <m:ctrlPr>
                                <a:rPr lang="en-US" sz="1600" i="1">
                                  <a:latin typeface="Cambria Math" panose="02040503050406030204" pitchFamily="18" charset="0"/>
                                </a:rPr>
                              </m:ctrlPr>
                            </m:dPr>
                            <m:e>
                              <m:r>
                                <a:rPr lang="en-US" sz="1600" i="1">
                                  <a:latin typeface="Cambria Math" panose="02040503050406030204" pitchFamily="18" charset="0"/>
                                </a:rPr>
                                <m:t>3</m:t>
                              </m:r>
                            </m:e>
                          </m:d>
                        </m:sup>
                      </m:sSubSup>
                      <m:r>
                        <a:rPr lang="en-US" sz="1600" i="1">
                          <a:latin typeface="Cambria Math" panose="02040503050406030204" pitchFamily="18" charset="0"/>
                        </a:rPr>
                        <m:t>−</m:t>
                      </m:r>
                      <m:r>
                        <a:rPr lang="en-US" sz="1600" i="1">
                          <a:solidFill>
                            <a:srgbClr val="FF0000"/>
                          </a:solidFill>
                          <a:latin typeface="Cambria Math" panose="02040503050406030204" pitchFamily="18" charset="0"/>
                        </a:rPr>
                        <m:t>2</m:t>
                      </m:r>
                      <m:r>
                        <a:rPr lang="en-US" sz="1600" i="1">
                          <a:latin typeface="Cambria Math" panose="02040503050406030204" pitchFamily="18" charset="0"/>
                        </a:rPr>
                        <m:t>𝛼</m:t>
                      </m:r>
                      <m:d>
                        <m:dPr>
                          <m:begChr m:val="["/>
                          <m:endChr m:val="]"/>
                          <m:ctrlPr>
                            <a:rPr lang="en-US" sz="1600" i="1">
                              <a:solidFill>
                                <a:srgbClr val="FF0000"/>
                              </a:solidFill>
                              <a:latin typeface="Cambria Math" panose="02040503050406030204" pitchFamily="18" charset="0"/>
                            </a:rPr>
                          </m:ctrlPr>
                        </m:dPr>
                        <m:e>
                          <m:m>
                            <m:mPr>
                              <m:mcs>
                                <m:mc>
                                  <m:mcPr>
                                    <m:count m:val="1"/>
                                    <m:mcJc m:val="center"/>
                                  </m:mcPr>
                                </m:mc>
                              </m:mcs>
                              <m:ctrlPr>
                                <a:rPr lang="en-US" sz="1600" i="1">
                                  <a:solidFill>
                                    <a:srgbClr val="FF0000"/>
                                  </a:solidFill>
                                  <a:latin typeface="Cambria Math" panose="02040503050406030204" pitchFamily="18" charset="0"/>
                                </a:rPr>
                              </m:ctrlPr>
                            </m:mP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m:rPr>
                                            <m:brk m:alnAt="7"/>
                                          </m:rPr>
                                          <a:rPr lang="en-US" sz="1600" i="1">
                                            <a:solidFill>
                                              <a:srgbClr val="FF0000"/>
                                            </a:solidFill>
                                            <a:latin typeface="Cambria Math" panose="02040503050406030204" pitchFamily="18" charset="0"/>
                                          </a:rPr>
                                          <m:t>1</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m:rPr>
                                            <m:brk m:alnAt="7"/>
                                          </m:rPr>
                                          <a:rPr lang="en-US" sz="1600" i="1">
                                            <a:solidFill>
                                              <a:srgbClr val="FF0000"/>
                                            </a:solidFill>
                                            <a:latin typeface="Cambria Math" panose="02040503050406030204" pitchFamily="18" charset="0"/>
                                          </a:rPr>
                                          <m:t>1</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a:rPr lang="en-US" sz="1600" i="1">
                                            <a:solidFill>
                                              <a:srgbClr val="FF0000"/>
                                            </a:solidFill>
                                            <a:latin typeface="Cambria Math" panose="02040503050406030204" pitchFamily="18" charset="0"/>
                                          </a:rPr>
                                          <m:t>2</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a:rPr lang="en-US" sz="1600" i="1">
                                            <a:solidFill>
                                              <a:srgbClr val="FF0000"/>
                                            </a:solidFill>
                                            <a:latin typeface="Cambria Math" panose="02040503050406030204" pitchFamily="18" charset="0"/>
                                          </a:rPr>
                                          <m:t>2</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
                        </m:e>
                      </m:d>
                    </m:oMath>
                  </m:oMathPara>
                </a14:m>
                <a:endParaRPr lang="en-US" dirty="0"/>
              </a:p>
            </p:txBody>
          </p:sp>
        </mc:Choice>
        <mc:Fallback>
          <p:sp>
            <p:nvSpPr>
              <p:cNvPr id="2" name="Content Placeholder 1">
                <a:extLst>
                  <a:ext uri="{FF2B5EF4-FFF2-40B4-BE49-F238E27FC236}">
                    <a16:creationId xmlns:a16="http://schemas.microsoft.com/office/drawing/2014/main" id="{18BEF288-16C5-ACF1-8BD7-0EF4DDAE22BE}"/>
                  </a:ext>
                </a:extLst>
              </p:cNvPr>
              <p:cNvSpPr>
                <a:spLocks noGrp="1" noRot="1" noChangeAspect="1" noMove="1" noResize="1" noEditPoints="1" noAdjustHandles="1" noChangeArrowheads="1" noChangeShapeType="1" noTextEdit="1"/>
              </p:cNvSpPr>
              <p:nvPr>
                <p:ph idx="26"/>
              </p:nvPr>
            </p:nvSpPr>
            <p:spPr>
              <a:blipFill>
                <a:blip r:embed="rId2"/>
                <a:stretch>
                  <a:fillRect l="-76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F839AB9-23E5-6EB2-DAC9-6BFF2D79BDF4}"/>
              </a:ext>
            </a:extLst>
          </p:cNvPr>
          <p:cNvSpPr>
            <a:spLocks noGrp="1"/>
          </p:cNvSpPr>
          <p:nvPr>
            <p:ph type="title"/>
          </p:nvPr>
        </p:nvSpPr>
        <p:spPr/>
        <p:txBody>
          <a:bodyPr>
            <a:noAutofit/>
          </a:bodyPr>
          <a:lstStyle/>
          <a:p>
            <a:r>
              <a:rPr lang="en-US" sz="2400"/>
              <a:t>Matrix Form Equation (Updating biases in last layer)</a:t>
            </a:r>
          </a:p>
        </p:txBody>
      </p:sp>
    </p:spTree>
    <p:extLst>
      <p:ext uri="{BB962C8B-B14F-4D97-AF65-F5344CB8AC3E}">
        <p14:creationId xmlns:p14="http://schemas.microsoft.com/office/powerpoint/2010/main" val="1061259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D9FFEFAD-88A5-726C-2474-B1ACD5647F29}"/>
                  </a:ext>
                </a:extLst>
              </p:cNvPr>
              <p:cNvSpPr>
                <a:spLocks noGrp="1"/>
              </p:cNvSpPr>
              <p:nvPr>
                <p:ph idx="26"/>
              </p:nvPr>
            </p:nvSpPr>
            <p:spPr/>
            <p:txBody>
              <a:bodyPr/>
              <a:lstStyle/>
              <a:p>
                <a:r>
                  <a:rPr lang="en-US"/>
                  <a:t>Supposing the weight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11</m:t>
                        </m:r>
                      </m:sub>
                      <m:sup>
                        <m:r>
                          <a:rPr lang="en-US" b="0" i="1" smtClean="0">
                            <a:latin typeface="Cambria Math" panose="02040503050406030204" pitchFamily="18" charset="0"/>
                          </a:rPr>
                          <m:t>(2)</m:t>
                        </m:r>
                      </m:sup>
                    </m:sSubSup>
                  </m:oMath>
                </a14:m>
                <a:r>
                  <a:rPr lang="en-US"/>
                  <a:t> is changed. Look at what it affects:</a:t>
                </a:r>
              </a:p>
            </p:txBody>
          </p:sp>
        </mc:Choice>
        <mc:Fallback>
          <p:sp>
            <p:nvSpPr>
              <p:cNvPr id="2" name="Content Placeholder 1">
                <a:extLst>
                  <a:ext uri="{FF2B5EF4-FFF2-40B4-BE49-F238E27FC236}">
                    <a16:creationId xmlns:a16="http://schemas.microsoft.com/office/drawing/2014/main" id="{D9FFEFAD-88A5-726C-2474-B1ACD5647F29}"/>
                  </a:ext>
                </a:extLst>
              </p:cNvPr>
              <p:cNvSpPr>
                <a:spLocks noGrp="1" noRot="1" noChangeAspect="1" noMove="1" noResize="1" noEditPoints="1" noAdjustHandles="1" noChangeArrowheads="1" noChangeShapeType="1" noTextEdit="1"/>
              </p:cNvSpPr>
              <p:nvPr>
                <p:ph idx="26"/>
              </p:nvPr>
            </p:nvSpPr>
            <p:spPr>
              <a:blipFill>
                <a:blip r:embed="rId3"/>
                <a:stretch>
                  <a:fillRect l="-61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145B7D3-2E9E-F239-8D2A-42B71EE8D6EC}"/>
              </a:ext>
            </a:extLst>
          </p:cNvPr>
          <p:cNvSpPr>
            <a:spLocks noGrp="1"/>
          </p:cNvSpPr>
          <p:nvPr>
            <p:ph type="title"/>
          </p:nvPr>
        </p:nvSpPr>
        <p:spPr/>
        <p:txBody>
          <a:bodyPr/>
          <a:lstStyle/>
          <a:p>
            <a:r>
              <a:rPr lang="en-US"/>
              <a:t>Propagating the Error Further Back</a:t>
            </a:r>
          </a:p>
        </p:txBody>
      </p:sp>
      <p:sp>
        <p:nvSpPr>
          <p:cNvPr id="40" name="Rectangle 39">
            <a:extLst>
              <a:ext uri="{FF2B5EF4-FFF2-40B4-BE49-F238E27FC236}">
                <a16:creationId xmlns:a16="http://schemas.microsoft.com/office/drawing/2014/main" id="{4CDEC79D-AAA0-4657-B8A0-CB0A68367BF8}"/>
              </a:ext>
            </a:extLst>
          </p:cNvPr>
          <p:cNvSpPr/>
          <p:nvPr/>
        </p:nvSpPr>
        <p:spPr>
          <a:xfrm>
            <a:off x="7087527" y="1886676"/>
            <a:ext cx="726389" cy="2668899"/>
          </a:xfrm>
          <a:prstGeom prst="rect">
            <a:avLst/>
          </a:prstGeom>
          <a:solidFill>
            <a:srgbClr val="FFA28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6345F33-4CF0-05C6-1F6A-676533C62824}"/>
              </a:ext>
            </a:extLst>
          </p:cNvPr>
          <p:cNvSpPr/>
          <p:nvPr/>
        </p:nvSpPr>
        <p:spPr>
          <a:xfrm>
            <a:off x="5215236" y="1687006"/>
            <a:ext cx="763325" cy="2844542"/>
          </a:xfrm>
          <a:prstGeom prst="rect">
            <a:avLst/>
          </a:prstGeom>
          <a:solidFill>
            <a:srgbClr val="92D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DD9BC3A-592C-3AAC-E00B-59F1AB468ADC}"/>
              </a:ext>
            </a:extLst>
          </p:cNvPr>
          <p:cNvSpPr/>
          <p:nvPr/>
        </p:nvSpPr>
        <p:spPr>
          <a:xfrm>
            <a:off x="3245268" y="1886676"/>
            <a:ext cx="763325" cy="2644872"/>
          </a:xfrm>
          <a:prstGeom prst="rect">
            <a:avLst/>
          </a:prstGeom>
          <a:solidFill>
            <a:srgbClr val="FFC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8A17DFD-240C-3AC7-6FC6-CC59FD3FC355}"/>
              </a:ext>
            </a:extLst>
          </p:cNvPr>
          <p:cNvSpPr/>
          <p:nvPr/>
        </p:nvSpPr>
        <p:spPr>
          <a:xfrm>
            <a:off x="3364050" y="2081253"/>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5E791F0-2928-C92F-8024-512055EC9D72}"/>
              </a:ext>
            </a:extLst>
          </p:cNvPr>
          <p:cNvSpPr/>
          <p:nvPr/>
        </p:nvSpPr>
        <p:spPr>
          <a:xfrm>
            <a:off x="3399325" y="390837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098CBBDA-AAF5-8BD0-3378-C51095ADD09B}"/>
              </a:ext>
            </a:extLst>
          </p:cNvPr>
          <p:cNvCxnSpPr>
            <a:cxnSpLocks/>
            <a:stCxn id="53" idx="3"/>
            <a:endCxn id="43" idx="2"/>
          </p:cNvCxnSpPr>
          <p:nvPr/>
        </p:nvCxnSpPr>
        <p:spPr>
          <a:xfrm>
            <a:off x="2133819" y="2301444"/>
            <a:ext cx="1230231" cy="1039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2BCDD70-1A1E-65D5-F626-9C0D8896FDFE}"/>
              </a:ext>
            </a:extLst>
          </p:cNvPr>
          <p:cNvCxnSpPr>
            <a:cxnSpLocks/>
            <a:stCxn id="54" idx="3"/>
            <a:endCxn id="44" idx="2"/>
          </p:cNvCxnSpPr>
          <p:nvPr/>
        </p:nvCxnSpPr>
        <p:spPr>
          <a:xfrm>
            <a:off x="2137307" y="4095228"/>
            <a:ext cx="1262018" cy="437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BFFB80D5-59A4-807F-60A4-F9DC6B4E7920}"/>
              </a:ext>
            </a:extLst>
          </p:cNvPr>
          <p:cNvCxnSpPr>
            <a:cxnSpLocks/>
            <a:stCxn id="54" idx="3"/>
            <a:endCxn id="43" idx="2"/>
          </p:cNvCxnSpPr>
          <p:nvPr/>
        </p:nvCxnSpPr>
        <p:spPr>
          <a:xfrm flipV="1">
            <a:off x="2137307" y="2311841"/>
            <a:ext cx="1226743" cy="17833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5E75AF8D-A989-839F-DADF-0A6A2D89A607}"/>
              </a:ext>
            </a:extLst>
          </p:cNvPr>
          <p:cNvCxnSpPr>
            <a:cxnSpLocks/>
            <a:stCxn id="53" idx="3"/>
            <a:endCxn id="44" idx="2"/>
          </p:cNvCxnSpPr>
          <p:nvPr/>
        </p:nvCxnSpPr>
        <p:spPr>
          <a:xfrm>
            <a:off x="2133819" y="2301444"/>
            <a:ext cx="1265506" cy="183751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8C68FA1A-929D-CECB-6526-0DE9B0CEBA50}"/>
              </a:ext>
            </a:extLst>
          </p:cNvPr>
          <p:cNvCxnSpPr>
            <a:cxnSpLocks/>
            <a:stCxn id="64" idx="6"/>
            <a:endCxn id="51" idx="1"/>
          </p:cNvCxnSpPr>
          <p:nvPr/>
        </p:nvCxnSpPr>
        <p:spPr>
          <a:xfrm flipV="1">
            <a:off x="7679321" y="2311842"/>
            <a:ext cx="748578" cy="529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2A2697A0-4140-EFBF-CC4B-DDB811D980E7}"/>
              </a:ext>
            </a:extLst>
          </p:cNvPr>
          <p:cNvCxnSpPr>
            <a:cxnSpLocks/>
            <a:stCxn id="65" idx="6"/>
            <a:endCxn id="52" idx="1"/>
          </p:cNvCxnSpPr>
          <p:nvPr/>
        </p:nvCxnSpPr>
        <p:spPr>
          <a:xfrm flipV="1">
            <a:off x="7747230" y="4116024"/>
            <a:ext cx="727328" cy="255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1" name="Rectangle 50">
                <a:extLst>
                  <a:ext uri="{FF2B5EF4-FFF2-40B4-BE49-F238E27FC236}">
                    <a16:creationId xmlns:a16="http://schemas.microsoft.com/office/drawing/2014/main" id="{31D9AC80-32D7-871C-786D-62DCC6BCCE6F}"/>
                  </a:ext>
                </a:extLst>
              </p:cNvPr>
              <p:cNvSpPr/>
              <p:nvPr/>
            </p:nvSpPr>
            <p:spPr>
              <a:xfrm>
                <a:off x="8427899" y="2124986"/>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acc>
                            <m:accPr>
                              <m:chr m:val="̂"/>
                              <m:ctrlPr>
                                <a:rPr lang="en-US" b="0" i="1" smtClean="0">
                                  <a:solidFill>
                                    <a:sysClr val="windowText" lastClr="000000"/>
                                  </a:solidFill>
                                  <a:latin typeface="Cambria Math" panose="02040503050406030204" pitchFamily="18" charset="0"/>
                                </a:rPr>
                              </m:ctrlPr>
                            </m:accPr>
                            <m:e>
                              <m:r>
                                <a:rPr lang="en-US" b="0" i="1" smtClean="0">
                                  <a:solidFill>
                                    <a:sysClr val="windowText" lastClr="000000"/>
                                  </a:solidFill>
                                  <a:latin typeface="Cambria Math" panose="02040503050406030204" pitchFamily="18" charset="0"/>
                                </a:rPr>
                                <m:t>𝑦</m:t>
                              </m:r>
                            </m:e>
                          </m:acc>
                        </m:e>
                        <m:sub>
                          <m:r>
                            <a:rPr lang="en-US" b="0" i="1" smtClean="0">
                              <a:solidFill>
                                <a:sysClr val="windowText" lastClr="000000"/>
                              </a:solidFill>
                              <a:latin typeface="Cambria Math" panose="02040503050406030204" pitchFamily="18" charset="0"/>
                            </a:rPr>
                            <m:t>1</m:t>
                          </m:r>
                        </m:sub>
                      </m:sSub>
                    </m:oMath>
                  </m:oMathPara>
                </a14:m>
                <a:endParaRPr lang="en-US">
                  <a:solidFill>
                    <a:sysClr val="windowText" lastClr="000000"/>
                  </a:solidFill>
                </a:endParaRPr>
              </a:p>
            </p:txBody>
          </p:sp>
        </mc:Choice>
        <mc:Fallback>
          <p:sp>
            <p:nvSpPr>
              <p:cNvPr id="51" name="Rectangle 50">
                <a:extLst>
                  <a:ext uri="{FF2B5EF4-FFF2-40B4-BE49-F238E27FC236}">
                    <a16:creationId xmlns:a16="http://schemas.microsoft.com/office/drawing/2014/main" id="{31D9AC80-32D7-871C-786D-62DCC6BCCE6F}"/>
                  </a:ext>
                </a:extLst>
              </p:cNvPr>
              <p:cNvSpPr>
                <a:spLocks noRot="1" noChangeAspect="1" noMove="1" noResize="1" noEditPoints="1" noAdjustHandles="1" noChangeArrowheads="1" noChangeShapeType="1" noTextEdit="1"/>
              </p:cNvSpPr>
              <p:nvPr/>
            </p:nvSpPr>
            <p:spPr>
              <a:xfrm>
                <a:off x="8427899" y="2124986"/>
                <a:ext cx="381663" cy="373711"/>
              </a:xfrm>
              <a:prstGeom prst="rect">
                <a:avLst/>
              </a:prstGeom>
              <a:blipFill>
                <a:blip r:embed="rId4"/>
                <a:stretch>
                  <a:fillRect l="-9677" b="-10000"/>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Rectangle 51">
                <a:extLst>
                  <a:ext uri="{FF2B5EF4-FFF2-40B4-BE49-F238E27FC236}">
                    <a16:creationId xmlns:a16="http://schemas.microsoft.com/office/drawing/2014/main" id="{7C2D7E19-0525-AEAB-12D2-BF79DD707F3F}"/>
                  </a:ext>
                </a:extLst>
              </p:cNvPr>
              <p:cNvSpPr/>
              <p:nvPr/>
            </p:nvSpPr>
            <p:spPr>
              <a:xfrm>
                <a:off x="8474558" y="3929168"/>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acc>
                            <m:accPr>
                              <m:chr m:val="̂"/>
                              <m:ctrlPr>
                                <a:rPr lang="en-US" b="0" i="1" smtClean="0">
                                  <a:solidFill>
                                    <a:sysClr val="windowText" lastClr="000000"/>
                                  </a:solidFill>
                                  <a:latin typeface="Cambria Math" panose="02040503050406030204" pitchFamily="18" charset="0"/>
                                </a:rPr>
                              </m:ctrlPr>
                            </m:accPr>
                            <m:e>
                              <m:r>
                                <a:rPr lang="en-US" b="0" i="1" smtClean="0">
                                  <a:solidFill>
                                    <a:sysClr val="windowText" lastClr="000000"/>
                                  </a:solidFill>
                                  <a:latin typeface="Cambria Math" panose="02040503050406030204" pitchFamily="18" charset="0"/>
                                </a:rPr>
                                <m:t>𝑦</m:t>
                              </m:r>
                            </m:e>
                          </m:acc>
                        </m:e>
                        <m:sub>
                          <m:r>
                            <a:rPr lang="en-US" b="0" i="1" smtClean="0">
                              <a:solidFill>
                                <a:sysClr val="windowText" lastClr="000000"/>
                              </a:solidFill>
                              <a:latin typeface="Cambria Math" panose="02040503050406030204" pitchFamily="18" charset="0"/>
                            </a:rPr>
                            <m:t>2</m:t>
                          </m:r>
                        </m:sub>
                      </m:sSub>
                    </m:oMath>
                  </m:oMathPara>
                </a14:m>
                <a:endParaRPr lang="en-US">
                  <a:solidFill>
                    <a:sysClr val="windowText" lastClr="000000"/>
                  </a:solidFill>
                </a:endParaRPr>
              </a:p>
            </p:txBody>
          </p:sp>
        </mc:Choice>
        <mc:Fallback>
          <p:sp>
            <p:nvSpPr>
              <p:cNvPr id="52" name="Rectangle 51">
                <a:extLst>
                  <a:ext uri="{FF2B5EF4-FFF2-40B4-BE49-F238E27FC236}">
                    <a16:creationId xmlns:a16="http://schemas.microsoft.com/office/drawing/2014/main" id="{7C2D7E19-0525-AEAB-12D2-BF79DD707F3F}"/>
                  </a:ext>
                </a:extLst>
              </p:cNvPr>
              <p:cNvSpPr>
                <a:spLocks noRot="1" noChangeAspect="1" noMove="1" noResize="1" noEditPoints="1" noAdjustHandles="1" noChangeArrowheads="1" noChangeShapeType="1" noTextEdit="1"/>
              </p:cNvSpPr>
              <p:nvPr/>
            </p:nvSpPr>
            <p:spPr>
              <a:xfrm>
                <a:off x="8474558" y="3929168"/>
                <a:ext cx="381663" cy="373711"/>
              </a:xfrm>
              <a:prstGeom prst="rect">
                <a:avLst/>
              </a:prstGeom>
              <a:blipFill>
                <a:blip r:embed="rId5"/>
                <a:stretch>
                  <a:fillRect l="-9677" b="-6667"/>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Rectangle 52">
                <a:extLst>
                  <a:ext uri="{FF2B5EF4-FFF2-40B4-BE49-F238E27FC236}">
                    <a16:creationId xmlns:a16="http://schemas.microsoft.com/office/drawing/2014/main" id="{CDF59005-F761-04E8-DD0E-D732418E222F}"/>
                  </a:ext>
                </a:extLst>
              </p:cNvPr>
              <p:cNvSpPr/>
              <p:nvPr/>
            </p:nvSpPr>
            <p:spPr>
              <a:xfrm>
                <a:off x="1752156" y="2114588"/>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a:solidFill>
                    <a:sysClr val="windowText" lastClr="000000"/>
                  </a:solidFill>
                </a:endParaRPr>
              </a:p>
            </p:txBody>
          </p:sp>
        </mc:Choice>
        <mc:Fallback>
          <p:sp>
            <p:nvSpPr>
              <p:cNvPr id="53" name="Rectangle 52">
                <a:extLst>
                  <a:ext uri="{FF2B5EF4-FFF2-40B4-BE49-F238E27FC236}">
                    <a16:creationId xmlns:a16="http://schemas.microsoft.com/office/drawing/2014/main" id="{CDF59005-F761-04E8-DD0E-D732418E222F}"/>
                  </a:ext>
                </a:extLst>
              </p:cNvPr>
              <p:cNvSpPr>
                <a:spLocks noRot="1" noChangeAspect="1" noMove="1" noResize="1" noEditPoints="1" noAdjustHandles="1" noChangeArrowheads="1" noChangeShapeType="1" noTextEdit="1"/>
              </p:cNvSpPr>
              <p:nvPr/>
            </p:nvSpPr>
            <p:spPr>
              <a:xfrm>
                <a:off x="1752156" y="2114588"/>
                <a:ext cx="381663" cy="373711"/>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Rectangle 53">
                <a:extLst>
                  <a:ext uri="{FF2B5EF4-FFF2-40B4-BE49-F238E27FC236}">
                    <a16:creationId xmlns:a16="http://schemas.microsoft.com/office/drawing/2014/main" id="{0C1F48FC-D403-1F26-B19A-034D61908511}"/>
                  </a:ext>
                </a:extLst>
              </p:cNvPr>
              <p:cNvSpPr/>
              <p:nvPr/>
            </p:nvSpPr>
            <p:spPr>
              <a:xfrm>
                <a:off x="1755644" y="390837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a:solidFill>
                    <a:sysClr val="windowText" lastClr="000000"/>
                  </a:solidFill>
                </a:endParaRPr>
              </a:p>
            </p:txBody>
          </p:sp>
        </mc:Choice>
        <mc:Fallback>
          <p:sp>
            <p:nvSpPr>
              <p:cNvPr id="54" name="Rectangle 53">
                <a:extLst>
                  <a:ext uri="{FF2B5EF4-FFF2-40B4-BE49-F238E27FC236}">
                    <a16:creationId xmlns:a16="http://schemas.microsoft.com/office/drawing/2014/main" id="{0C1F48FC-D403-1F26-B19A-034D61908511}"/>
                  </a:ext>
                </a:extLst>
              </p:cNvPr>
              <p:cNvSpPr>
                <a:spLocks noRot="1" noChangeAspect="1" noMove="1" noResize="1" noEditPoints="1" noAdjustHandles="1" noChangeArrowheads="1" noChangeShapeType="1" noTextEdit="1"/>
              </p:cNvSpPr>
              <p:nvPr/>
            </p:nvSpPr>
            <p:spPr>
              <a:xfrm>
                <a:off x="1755644" y="3908372"/>
                <a:ext cx="381663" cy="373711"/>
              </a:xfrm>
              <a:prstGeom prst="rect">
                <a:avLst/>
              </a:prstGeom>
              <a:blipFill>
                <a:blip r:embed="rId7"/>
                <a:stretch>
                  <a:fillRect l="-3226"/>
                </a:stretch>
              </a:blipFill>
              <a:ln>
                <a:noFill/>
              </a:ln>
              <a:effectLst/>
            </p:spPr>
            <p:txBody>
              <a:bodyPr/>
              <a:lstStyle/>
              <a:p>
                <a:r>
                  <a:rPr lang="en-US">
                    <a:noFill/>
                  </a:rPr>
                  <a:t> </a:t>
                </a:r>
              </a:p>
            </p:txBody>
          </p:sp>
        </mc:Fallback>
      </mc:AlternateContent>
      <p:sp>
        <p:nvSpPr>
          <p:cNvPr id="55" name="Oval 54">
            <a:extLst>
              <a:ext uri="{FF2B5EF4-FFF2-40B4-BE49-F238E27FC236}">
                <a16:creationId xmlns:a16="http://schemas.microsoft.com/office/drawing/2014/main" id="{37CFBD81-8088-DCDE-84AA-72DB4A8EB903}"/>
              </a:ext>
            </a:extLst>
          </p:cNvPr>
          <p:cNvSpPr/>
          <p:nvPr/>
        </p:nvSpPr>
        <p:spPr>
          <a:xfrm>
            <a:off x="5375372" y="187735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0FBC6148-174D-7BAB-DA98-6CAC5AC60764}"/>
              </a:ext>
            </a:extLst>
          </p:cNvPr>
          <p:cNvSpPr/>
          <p:nvPr/>
        </p:nvSpPr>
        <p:spPr>
          <a:xfrm>
            <a:off x="5368298" y="385370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FA529AF-8B49-70C1-9AA2-754015200E23}"/>
              </a:ext>
            </a:extLst>
          </p:cNvPr>
          <p:cNvSpPr/>
          <p:nvPr/>
        </p:nvSpPr>
        <p:spPr>
          <a:xfrm>
            <a:off x="5371835" y="284883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E469E0B0-7BBE-F899-5BD2-EE34F954E87D}"/>
              </a:ext>
            </a:extLst>
          </p:cNvPr>
          <p:cNvCxnSpPr>
            <a:cxnSpLocks/>
            <a:stCxn id="43" idx="6"/>
            <a:endCxn id="55" idx="2"/>
          </p:cNvCxnSpPr>
          <p:nvPr/>
        </p:nvCxnSpPr>
        <p:spPr>
          <a:xfrm flipV="1">
            <a:off x="3821250" y="2107938"/>
            <a:ext cx="1554122" cy="20390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2D3A7D48-61ED-47CE-F843-10E69DC33184}"/>
              </a:ext>
            </a:extLst>
          </p:cNvPr>
          <p:cNvCxnSpPr>
            <a:cxnSpLocks/>
            <a:stCxn id="43" idx="6"/>
            <a:endCxn id="57" idx="2"/>
          </p:cNvCxnSpPr>
          <p:nvPr/>
        </p:nvCxnSpPr>
        <p:spPr>
          <a:xfrm>
            <a:off x="3821250" y="2311841"/>
            <a:ext cx="1550585" cy="76757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19220E66-5605-8FA8-5D4A-F8A4D02B56EF}"/>
              </a:ext>
            </a:extLst>
          </p:cNvPr>
          <p:cNvCxnSpPr>
            <a:cxnSpLocks/>
            <a:stCxn id="43" idx="6"/>
            <a:endCxn id="56" idx="2"/>
          </p:cNvCxnSpPr>
          <p:nvPr/>
        </p:nvCxnSpPr>
        <p:spPr>
          <a:xfrm>
            <a:off x="3821250" y="2311841"/>
            <a:ext cx="1547048" cy="177245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DBB82EB0-932D-B054-072D-65665139AD98}"/>
              </a:ext>
            </a:extLst>
          </p:cNvPr>
          <p:cNvCxnSpPr>
            <a:cxnSpLocks/>
            <a:stCxn id="44" idx="6"/>
            <a:endCxn id="55" idx="2"/>
          </p:cNvCxnSpPr>
          <p:nvPr/>
        </p:nvCxnSpPr>
        <p:spPr>
          <a:xfrm flipV="1">
            <a:off x="3856525" y="2107938"/>
            <a:ext cx="1518847" cy="203102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56FADEA-4DC9-D95C-8145-A93F7F0BC74D}"/>
              </a:ext>
            </a:extLst>
          </p:cNvPr>
          <p:cNvCxnSpPr>
            <a:cxnSpLocks/>
            <a:stCxn id="44" idx="6"/>
            <a:endCxn id="57" idx="2"/>
          </p:cNvCxnSpPr>
          <p:nvPr/>
        </p:nvCxnSpPr>
        <p:spPr>
          <a:xfrm flipV="1">
            <a:off x="3856525" y="3079420"/>
            <a:ext cx="1515310" cy="105954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EEF27778-02B2-4D0A-0B2E-6234512359E9}"/>
              </a:ext>
            </a:extLst>
          </p:cNvPr>
          <p:cNvCxnSpPr>
            <a:cxnSpLocks/>
            <a:stCxn id="44" idx="6"/>
            <a:endCxn id="56" idx="2"/>
          </p:cNvCxnSpPr>
          <p:nvPr/>
        </p:nvCxnSpPr>
        <p:spPr>
          <a:xfrm flipV="1">
            <a:off x="3856525" y="4084292"/>
            <a:ext cx="1511773" cy="5466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372E34B6-F92F-241E-5263-B61F047DAE90}"/>
              </a:ext>
            </a:extLst>
          </p:cNvPr>
          <p:cNvSpPr/>
          <p:nvPr/>
        </p:nvSpPr>
        <p:spPr>
          <a:xfrm>
            <a:off x="7222121" y="2086548"/>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4950B16-3576-4E12-4985-2E21244286DC}"/>
              </a:ext>
            </a:extLst>
          </p:cNvPr>
          <p:cNvSpPr/>
          <p:nvPr/>
        </p:nvSpPr>
        <p:spPr>
          <a:xfrm>
            <a:off x="7290030" y="3887995"/>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680A208A-E282-DAFA-5CA1-0EB84D866010}"/>
              </a:ext>
            </a:extLst>
          </p:cNvPr>
          <p:cNvCxnSpPr>
            <a:cxnSpLocks/>
            <a:stCxn id="55" idx="6"/>
            <a:endCxn id="64" idx="2"/>
          </p:cNvCxnSpPr>
          <p:nvPr/>
        </p:nvCxnSpPr>
        <p:spPr>
          <a:xfrm>
            <a:off x="5832572" y="2107938"/>
            <a:ext cx="1389549" cy="20919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74CD3386-B854-ECC4-9288-282F366A30E1}"/>
              </a:ext>
            </a:extLst>
          </p:cNvPr>
          <p:cNvCxnSpPr>
            <a:cxnSpLocks/>
            <a:stCxn id="55" idx="6"/>
            <a:endCxn id="65" idx="2"/>
          </p:cNvCxnSpPr>
          <p:nvPr/>
        </p:nvCxnSpPr>
        <p:spPr>
          <a:xfrm>
            <a:off x="5832572" y="2107938"/>
            <a:ext cx="1457458" cy="20106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71E95EBD-67F5-0B91-28B5-64B335E853FF}"/>
              </a:ext>
            </a:extLst>
          </p:cNvPr>
          <p:cNvCxnSpPr>
            <a:cxnSpLocks/>
            <a:stCxn id="57" idx="6"/>
            <a:endCxn id="64" idx="2"/>
          </p:cNvCxnSpPr>
          <p:nvPr/>
        </p:nvCxnSpPr>
        <p:spPr>
          <a:xfrm flipV="1">
            <a:off x="5829035" y="2317136"/>
            <a:ext cx="1393086" cy="76228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B428BD75-AD74-9415-A487-247A0BD74791}"/>
              </a:ext>
            </a:extLst>
          </p:cNvPr>
          <p:cNvCxnSpPr>
            <a:cxnSpLocks/>
            <a:stCxn id="57" idx="6"/>
            <a:endCxn id="65" idx="2"/>
          </p:cNvCxnSpPr>
          <p:nvPr/>
        </p:nvCxnSpPr>
        <p:spPr>
          <a:xfrm>
            <a:off x="5829035" y="3079420"/>
            <a:ext cx="1460995" cy="103916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5D5DC0DA-4478-A072-36B9-954CB40176D5}"/>
              </a:ext>
            </a:extLst>
          </p:cNvPr>
          <p:cNvCxnSpPr>
            <a:cxnSpLocks/>
            <a:stCxn id="56" idx="6"/>
            <a:endCxn id="64" idx="2"/>
          </p:cNvCxnSpPr>
          <p:nvPr/>
        </p:nvCxnSpPr>
        <p:spPr>
          <a:xfrm flipV="1">
            <a:off x="5825498" y="2317136"/>
            <a:ext cx="1396623" cy="17671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5732E7A9-8EDA-E632-1850-129FB79B01C1}"/>
              </a:ext>
            </a:extLst>
          </p:cNvPr>
          <p:cNvCxnSpPr>
            <a:cxnSpLocks/>
            <a:stCxn id="56" idx="6"/>
            <a:endCxn id="65" idx="2"/>
          </p:cNvCxnSpPr>
          <p:nvPr/>
        </p:nvCxnSpPr>
        <p:spPr>
          <a:xfrm>
            <a:off x="5825498" y="4084292"/>
            <a:ext cx="1464532" cy="3429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8952D2BC-C21F-97B3-F134-BD3C6B04692E}"/>
              </a:ext>
            </a:extLst>
          </p:cNvPr>
          <p:cNvSpPr/>
          <p:nvPr/>
        </p:nvSpPr>
        <p:spPr>
          <a:xfrm>
            <a:off x="2907337" y="1582136"/>
            <a:ext cx="1523941"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ysClr val="windowText" lastClr="000000"/>
                </a:solidFill>
              </a:rPr>
              <a:t>Layer 1</a:t>
            </a:r>
          </a:p>
        </p:txBody>
      </p:sp>
      <p:sp>
        <p:nvSpPr>
          <p:cNvPr id="73" name="Rectangle 72">
            <a:extLst>
              <a:ext uri="{FF2B5EF4-FFF2-40B4-BE49-F238E27FC236}">
                <a16:creationId xmlns:a16="http://schemas.microsoft.com/office/drawing/2014/main" id="{07352142-0C5B-54B6-F939-C3D6145EC6C3}"/>
              </a:ext>
            </a:extLst>
          </p:cNvPr>
          <p:cNvSpPr/>
          <p:nvPr/>
        </p:nvSpPr>
        <p:spPr>
          <a:xfrm>
            <a:off x="4860209" y="1340359"/>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ysClr val="windowText" lastClr="000000"/>
                </a:solidFill>
              </a:rPr>
              <a:t>Layer 2</a:t>
            </a:r>
          </a:p>
        </p:txBody>
      </p:sp>
      <p:sp>
        <p:nvSpPr>
          <p:cNvPr id="74" name="Rectangle 73">
            <a:extLst>
              <a:ext uri="{FF2B5EF4-FFF2-40B4-BE49-F238E27FC236}">
                <a16:creationId xmlns:a16="http://schemas.microsoft.com/office/drawing/2014/main" id="{13300EB2-7593-F15B-BC49-08AA5FEB7365}"/>
              </a:ext>
            </a:extLst>
          </p:cNvPr>
          <p:cNvSpPr/>
          <p:nvPr/>
        </p:nvSpPr>
        <p:spPr>
          <a:xfrm>
            <a:off x="6702392" y="1580707"/>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ysClr val="windowText" lastClr="000000"/>
                </a:solidFill>
              </a:rPr>
              <a:t>Layer 3</a:t>
            </a:r>
          </a:p>
        </p:txBody>
      </p:sp>
      <mc:AlternateContent xmlns:mc="http://schemas.openxmlformats.org/markup-compatibility/2006">
        <mc:Choice xmlns:a14="http://schemas.microsoft.com/office/drawing/2010/main" Requires="a14">
          <p:sp>
            <p:nvSpPr>
              <p:cNvPr id="75" name="Rectangle 74">
                <a:extLst>
                  <a:ext uri="{FF2B5EF4-FFF2-40B4-BE49-F238E27FC236}">
                    <a16:creationId xmlns:a16="http://schemas.microsoft.com/office/drawing/2014/main" id="{7D5D355B-4A8C-C2D9-F3CE-EC7505C9293F}"/>
                  </a:ext>
                </a:extLst>
              </p:cNvPr>
              <p:cNvSpPr/>
              <p:nvPr/>
            </p:nvSpPr>
            <p:spPr>
              <a:xfrm>
                <a:off x="4502389" y="174119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11</m:t>
                          </m:r>
                        </m:sub>
                        <m:sup>
                          <m:r>
                            <a:rPr lang="en-US" b="0" i="1" smtClean="0">
                              <a:solidFill>
                                <a:srgbClr val="FF0000"/>
                              </a:solidFill>
                              <a:latin typeface="Cambria Math" panose="02040503050406030204" pitchFamily="18" charset="0"/>
                            </a:rPr>
                            <m:t>(2)</m:t>
                          </m:r>
                        </m:sup>
                      </m:sSubSup>
                    </m:oMath>
                  </m:oMathPara>
                </a14:m>
                <a:endParaRPr lang="en-US">
                  <a:solidFill>
                    <a:srgbClr val="FF0000"/>
                  </a:solidFill>
                </a:endParaRPr>
              </a:p>
            </p:txBody>
          </p:sp>
        </mc:Choice>
        <mc:Fallback>
          <p:sp>
            <p:nvSpPr>
              <p:cNvPr id="75" name="Rectangle 74">
                <a:extLst>
                  <a:ext uri="{FF2B5EF4-FFF2-40B4-BE49-F238E27FC236}">
                    <a16:creationId xmlns:a16="http://schemas.microsoft.com/office/drawing/2014/main" id="{7D5D355B-4A8C-C2D9-F3CE-EC7505C9293F}"/>
                  </a:ext>
                </a:extLst>
              </p:cNvPr>
              <p:cNvSpPr>
                <a:spLocks noRot="1" noChangeAspect="1" noMove="1" noResize="1" noEditPoints="1" noAdjustHandles="1" noChangeArrowheads="1" noChangeShapeType="1" noTextEdit="1"/>
              </p:cNvSpPr>
              <p:nvPr/>
            </p:nvSpPr>
            <p:spPr>
              <a:xfrm>
                <a:off x="4502389" y="1741196"/>
                <a:ext cx="381663" cy="373711"/>
              </a:xfrm>
              <a:prstGeom prst="rect">
                <a:avLst/>
              </a:prstGeom>
              <a:blipFill>
                <a:blip r:embed="rId8"/>
                <a:stretch>
                  <a:fillRect l="-25806" r="-19355" b="-13333"/>
                </a:stretch>
              </a:blipFill>
              <a:ln>
                <a:noFill/>
              </a:ln>
              <a:effectLst/>
            </p:spPr>
            <p:txBody>
              <a:bodyPr/>
              <a:lstStyle/>
              <a:p>
                <a:r>
                  <a:rPr lang="en-US">
                    <a:noFill/>
                  </a:rPr>
                  <a:t> </a:t>
                </a:r>
              </a:p>
            </p:txBody>
          </p:sp>
        </mc:Fallback>
      </mc:AlternateContent>
      <p:cxnSp>
        <p:nvCxnSpPr>
          <p:cNvPr id="76" name="Straight Arrow Connector 75">
            <a:extLst>
              <a:ext uri="{FF2B5EF4-FFF2-40B4-BE49-F238E27FC236}">
                <a16:creationId xmlns:a16="http://schemas.microsoft.com/office/drawing/2014/main" id="{7FB7B371-D21B-CC63-9A8A-22AB96178408}"/>
              </a:ext>
            </a:extLst>
          </p:cNvPr>
          <p:cNvCxnSpPr>
            <a:cxnSpLocks/>
          </p:cNvCxnSpPr>
          <p:nvPr/>
        </p:nvCxnSpPr>
        <p:spPr>
          <a:xfrm flipV="1">
            <a:off x="3824787" y="2107297"/>
            <a:ext cx="1554122" cy="203903"/>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8ABF421C-F2C1-E1A4-D555-E36AE3BF47B9}"/>
              </a:ext>
            </a:extLst>
          </p:cNvPr>
          <p:cNvCxnSpPr>
            <a:cxnSpLocks/>
            <a:stCxn id="55" idx="6"/>
            <a:endCxn id="64" idx="2"/>
          </p:cNvCxnSpPr>
          <p:nvPr/>
        </p:nvCxnSpPr>
        <p:spPr>
          <a:xfrm>
            <a:off x="5832572" y="2107938"/>
            <a:ext cx="1389549" cy="209198"/>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C6757111-5515-3E84-D58B-AE328F7B637D}"/>
              </a:ext>
            </a:extLst>
          </p:cNvPr>
          <p:cNvCxnSpPr>
            <a:cxnSpLocks/>
            <a:stCxn id="64" idx="6"/>
            <a:endCxn id="51" idx="1"/>
          </p:cNvCxnSpPr>
          <p:nvPr/>
        </p:nvCxnSpPr>
        <p:spPr>
          <a:xfrm flipV="1">
            <a:off x="7679321" y="2311842"/>
            <a:ext cx="748578" cy="5294"/>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C5A8D357-08DB-D65D-9A19-811A73414C0C}"/>
              </a:ext>
            </a:extLst>
          </p:cNvPr>
          <p:cNvCxnSpPr>
            <a:cxnSpLocks/>
            <a:stCxn id="55" idx="6"/>
            <a:endCxn id="65" idx="2"/>
          </p:cNvCxnSpPr>
          <p:nvPr/>
        </p:nvCxnSpPr>
        <p:spPr>
          <a:xfrm>
            <a:off x="5832572" y="2107938"/>
            <a:ext cx="1457458" cy="2010645"/>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C85C14B2-3617-2FFD-D65D-F420E30EB6BE}"/>
              </a:ext>
            </a:extLst>
          </p:cNvPr>
          <p:cNvCxnSpPr>
            <a:cxnSpLocks/>
            <a:stCxn id="65" idx="6"/>
            <a:endCxn id="52" idx="1"/>
          </p:cNvCxnSpPr>
          <p:nvPr/>
        </p:nvCxnSpPr>
        <p:spPr>
          <a:xfrm flipV="1">
            <a:off x="7747230" y="4116024"/>
            <a:ext cx="727328" cy="2559"/>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92" name="Rectangle 91">
                <a:extLst>
                  <a:ext uri="{FF2B5EF4-FFF2-40B4-BE49-F238E27FC236}">
                    <a16:creationId xmlns:a16="http://schemas.microsoft.com/office/drawing/2014/main" id="{60FFC461-F7D4-E700-E896-46E333746BF5}"/>
                  </a:ext>
                </a:extLst>
              </p:cNvPr>
              <p:cNvSpPr/>
              <p:nvPr/>
            </p:nvSpPr>
            <p:spPr>
              <a:xfrm>
                <a:off x="311598" y="2031680"/>
                <a:ext cx="1238131" cy="2031022"/>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Changing </a:t>
                </a:r>
                <a14:m>
                  <m:oMath xmlns:m="http://schemas.openxmlformats.org/officeDocument/2006/math">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𝑤</m:t>
                        </m:r>
                      </m:e>
                      <m:sub>
                        <m:r>
                          <a:rPr lang="en-US" i="1">
                            <a:solidFill>
                              <a:schemeClr val="tx1"/>
                            </a:solidFill>
                            <a:latin typeface="Cambria Math" panose="02040503050406030204" pitchFamily="18" charset="0"/>
                          </a:rPr>
                          <m:t>11</m:t>
                        </m:r>
                      </m:sub>
                      <m:sup>
                        <m:r>
                          <a:rPr lang="en-US" i="1">
                            <a:solidFill>
                              <a:schemeClr val="tx1"/>
                            </a:solidFill>
                            <a:latin typeface="Cambria Math" panose="02040503050406030204" pitchFamily="18" charset="0"/>
                          </a:rPr>
                          <m:t>(2)</m:t>
                        </m:r>
                      </m:sup>
                    </m:sSubSup>
                  </m:oMath>
                </a14:m>
                <a:r>
                  <a:rPr lang="en-US">
                    <a:solidFill>
                      <a:schemeClr val="tx1"/>
                    </a:solidFill>
                  </a:rPr>
                  <a:t> changes the outputs both </a:t>
                </a:r>
                <a14:m>
                  <m:oMath xmlns:m="http://schemas.openxmlformats.org/officeDocument/2006/math">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𝑦</m:t>
                            </m:r>
                          </m:e>
                        </m:acc>
                      </m:e>
                      <m:sub>
                        <m:r>
                          <a:rPr lang="en-US" b="0" i="1" dirty="0" smtClean="0">
                            <a:solidFill>
                              <a:schemeClr val="tx1"/>
                            </a:solidFill>
                            <a:latin typeface="Cambria Math" panose="02040503050406030204" pitchFamily="18" charset="0"/>
                          </a:rPr>
                          <m:t>1</m:t>
                        </m:r>
                      </m:sub>
                    </m:sSub>
                  </m:oMath>
                </a14:m>
                <a:r>
                  <a:rPr lang="en-US">
                    <a:solidFill>
                      <a:schemeClr val="tx1"/>
                    </a:solidFill>
                  </a:rPr>
                  <a:t> and </a:t>
                </a:r>
                <a14:m>
                  <m:oMath xmlns:m="http://schemas.openxmlformats.org/officeDocument/2006/math">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𝑦</m:t>
                            </m:r>
                          </m:e>
                        </m:acc>
                      </m:e>
                      <m:sub>
                        <m:r>
                          <a:rPr lang="en-US" b="0" i="1" dirty="0" smtClean="0">
                            <a:solidFill>
                              <a:schemeClr val="tx1"/>
                            </a:solidFill>
                            <a:latin typeface="Cambria Math" panose="02040503050406030204" pitchFamily="18" charset="0"/>
                          </a:rPr>
                          <m:t>2</m:t>
                        </m:r>
                      </m:sub>
                    </m:sSub>
                  </m:oMath>
                </a14:m>
                <a:r>
                  <a:rPr lang="en-US">
                    <a:solidFill>
                      <a:schemeClr val="tx1"/>
                    </a:solidFill>
                  </a:rPr>
                  <a:t> </a:t>
                </a:r>
              </a:p>
            </p:txBody>
          </p:sp>
        </mc:Choice>
        <mc:Fallback>
          <p:sp>
            <p:nvSpPr>
              <p:cNvPr id="92" name="Rectangle 91">
                <a:extLst>
                  <a:ext uri="{FF2B5EF4-FFF2-40B4-BE49-F238E27FC236}">
                    <a16:creationId xmlns:a16="http://schemas.microsoft.com/office/drawing/2014/main" id="{60FFC461-F7D4-E700-E896-46E333746BF5}"/>
                  </a:ext>
                </a:extLst>
              </p:cNvPr>
              <p:cNvSpPr>
                <a:spLocks noRot="1" noChangeAspect="1" noMove="1" noResize="1" noEditPoints="1" noAdjustHandles="1" noChangeArrowheads="1" noChangeShapeType="1" noTextEdit="1"/>
              </p:cNvSpPr>
              <p:nvPr/>
            </p:nvSpPr>
            <p:spPr>
              <a:xfrm>
                <a:off x="311598" y="2031680"/>
                <a:ext cx="1238131" cy="2031022"/>
              </a:xfrm>
              <a:prstGeom prst="rect">
                <a:avLst/>
              </a:prstGeom>
              <a:blipFill>
                <a:blip r:embed="rId9"/>
                <a:stretch>
                  <a:fillRect l="-2020" t="-1852" r="-6061" b="-5556"/>
                </a:stretch>
              </a:blipFill>
              <a:effectLst/>
            </p:spPr>
            <p:txBody>
              <a:bodyPr/>
              <a:lstStyle/>
              <a:p>
                <a:r>
                  <a:rPr lang="en-US">
                    <a:noFill/>
                  </a:rPr>
                  <a:t> </a:t>
                </a:r>
              </a:p>
            </p:txBody>
          </p:sp>
        </mc:Fallback>
      </mc:AlternateContent>
    </p:spTree>
    <p:extLst>
      <p:ext uri="{BB962C8B-B14F-4D97-AF65-F5344CB8AC3E}">
        <p14:creationId xmlns:p14="http://schemas.microsoft.com/office/powerpoint/2010/main" val="28258477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7B1CB3F1-AB44-EBC7-054C-045881946151}"/>
                  </a:ext>
                </a:extLst>
              </p:cNvPr>
              <p:cNvSpPr>
                <a:spLocks noGrp="1"/>
              </p:cNvSpPr>
              <p:nvPr>
                <p:ph idx="26"/>
              </p:nvPr>
            </p:nvSpPr>
            <p:spPr>
              <a:xfrm>
                <a:off x="423600" y="905398"/>
                <a:ext cx="8318119" cy="684863"/>
              </a:xfrm>
            </p:spPr>
            <p:txBody>
              <a:bodyPr/>
              <a:lstStyle/>
              <a:p>
                <a:r>
                  <a:rPr lang="en-US"/>
                  <a:t>Therefore, looking at how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(2)</m:t>
                        </m:r>
                      </m:sup>
                    </m:sSubSup>
                  </m:oMath>
                </a14:m>
                <a:r>
                  <a:rPr lang="en-US"/>
                  <a:t> changes the loss: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(2)</m:t>
                            </m:r>
                          </m:sup>
                        </m:sSubSup>
                      </m:den>
                    </m:f>
                  </m:oMath>
                </a14:m>
                <a:r>
                  <a:rPr lang="en-US"/>
                  <a:t> :</a:t>
                </a:r>
              </a:p>
            </p:txBody>
          </p:sp>
        </mc:Choice>
        <mc:Fallback>
          <p:sp>
            <p:nvSpPr>
              <p:cNvPr id="2" name="Content Placeholder 1">
                <a:extLst>
                  <a:ext uri="{FF2B5EF4-FFF2-40B4-BE49-F238E27FC236}">
                    <a16:creationId xmlns:a16="http://schemas.microsoft.com/office/drawing/2014/main" id="{7B1CB3F1-AB44-EBC7-054C-045881946151}"/>
                  </a:ext>
                </a:extLst>
              </p:cNvPr>
              <p:cNvSpPr>
                <a:spLocks noGrp="1" noRot="1" noChangeAspect="1" noMove="1" noResize="1" noEditPoints="1" noAdjustHandles="1" noChangeArrowheads="1" noChangeShapeType="1" noTextEdit="1"/>
              </p:cNvSpPr>
              <p:nvPr>
                <p:ph idx="26"/>
              </p:nvPr>
            </p:nvSpPr>
            <p:spPr>
              <a:xfrm>
                <a:off x="423600" y="905398"/>
                <a:ext cx="8318119" cy="684863"/>
              </a:xfrm>
              <a:blipFill>
                <a:blip r:embed="rId2"/>
                <a:stretch>
                  <a:fillRect l="-61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4B10D29-E2DE-8A69-2FB8-F759D8EECCC8}"/>
              </a:ext>
            </a:extLst>
          </p:cNvPr>
          <p:cNvSpPr>
            <a:spLocks noGrp="1"/>
          </p:cNvSpPr>
          <p:nvPr>
            <p:ph type="title"/>
          </p:nvPr>
        </p:nvSpPr>
        <p:spPr/>
        <p:txBody>
          <a:bodyPr/>
          <a:lstStyle/>
          <a:p>
            <a:r>
              <a:rPr lang="en-US"/>
              <a:t>Propagating the Error Further Back</a:t>
            </a:r>
          </a:p>
        </p:txBody>
      </p:sp>
      <p:grpSp>
        <p:nvGrpSpPr>
          <p:cNvPr id="4" name="Group 3">
            <a:extLst>
              <a:ext uri="{FF2B5EF4-FFF2-40B4-BE49-F238E27FC236}">
                <a16:creationId xmlns:a16="http://schemas.microsoft.com/office/drawing/2014/main" id="{2558639D-820C-56DA-1373-C0EF69B17D11}"/>
              </a:ext>
            </a:extLst>
          </p:cNvPr>
          <p:cNvGrpSpPr/>
          <p:nvPr/>
        </p:nvGrpSpPr>
        <p:grpSpPr>
          <a:xfrm>
            <a:off x="403189" y="2029104"/>
            <a:ext cx="8070574" cy="2631882"/>
            <a:chOff x="403189" y="1608814"/>
            <a:chExt cx="8070574" cy="2631882"/>
          </a:xfrm>
        </p:grpSpPr>
        <p:cxnSp>
          <p:nvCxnSpPr>
            <p:cNvPr id="6" name="Straight Connector 5">
              <a:extLst>
                <a:ext uri="{FF2B5EF4-FFF2-40B4-BE49-F238E27FC236}">
                  <a16:creationId xmlns:a16="http://schemas.microsoft.com/office/drawing/2014/main" id="{FCFCD053-A43C-E8C0-3997-115C3408079F}"/>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AC72CE4-B651-CA7B-3A20-A191F38B48AD}"/>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05274C-53E4-73F8-442E-03A270A7ABED}"/>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DBD7C58-AA40-6B82-187F-DE279EA8A4A4}"/>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8825C93-4663-BF88-21D4-B209BDDFAE0D}"/>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197CC2E-D17A-BFCC-6C60-D0AA02C24959}"/>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20896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0253C9-5BA8-8ACC-86FC-7C7F1D7443E9}"/>
              </a:ext>
            </a:extLst>
          </p:cNvPr>
          <p:cNvSpPr>
            <a:spLocks noGrp="1"/>
          </p:cNvSpPr>
          <p:nvPr>
            <p:ph type="title"/>
          </p:nvPr>
        </p:nvSpPr>
        <p:spPr/>
        <p:txBody>
          <a:bodyPr/>
          <a:lstStyle/>
          <a:p>
            <a:r>
              <a:rPr lang="en-US"/>
              <a:t>Propagating the Error Further Back</a:t>
            </a:r>
          </a:p>
        </p:txBody>
      </p:sp>
      <p:grpSp>
        <p:nvGrpSpPr>
          <p:cNvPr id="4" name="Group 3">
            <a:extLst>
              <a:ext uri="{FF2B5EF4-FFF2-40B4-BE49-F238E27FC236}">
                <a16:creationId xmlns:a16="http://schemas.microsoft.com/office/drawing/2014/main" id="{63F6FA21-5BAD-0550-96A0-271B368E9240}"/>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98ACBBA3-0467-524C-56DE-443E202AAFB9}"/>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398B140-FD1A-EBBE-6897-6C1EA41700FB}"/>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68CBC5C-6716-A45D-F47A-EE306C38B77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9CA46DB-1C74-EE30-EEB2-5C77B936F4C3}"/>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3D43A48-6F41-504D-CD2A-E6B39B2E1D35}"/>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FF512FE-265D-3D78-DC20-DE7B9EF56CE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756023A-332D-ADE5-6D4F-667EA715E4A4}"/>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770510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08B32996-8A56-CD70-DE9A-55DDE60A9223}"/>
                  </a:ext>
                </a:extLst>
              </p:cNvPr>
              <p:cNvSpPr>
                <a:spLocks noGrp="1"/>
              </p:cNvSpPr>
              <p:nvPr>
                <p:ph idx="26"/>
              </p:nvPr>
            </p:nvSpPr>
            <p:spPr>
              <a:xfrm>
                <a:off x="423600" y="905399"/>
                <a:ext cx="8318119" cy="3272464"/>
              </a:xfrm>
            </p:spPr>
            <p:txBody>
              <a:bodyPr/>
              <a:lstStyle/>
              <a:p>
                <a:r>
                  <a:rPr lang="en-US" dirty="0"/>
                  <a:t>A lot of the computations are carried on from updating weights for layer 3.</a:t>
                </a:r>
              </a:p>
              <a:p>
                <a:endParaRPr lang="en-US" dirty="0"/>
              </a:p>
              <a:p>
                <a:r>
                  <a:rPr lang="en-US" dirty="0"/>
                  <a:t>The process is done equation by equation in parallel. For us, we can also condense the update equation in matrix form:</a:t>
                </a:r>
              </a:p>
              <a:p>
                <a:pPr marL="0" indent="0">
                  <a:buNone/>
                </a:pPr>
                <a:endParaRPr lang="en-US" dirty="0"/>
              </a:p>
              <a:p>
                <a:pPr marL="0" indent="0">
                  <a:buNone/>
                </a:pPr>
                <a14:m>
                  <m:oMathPara xmlns:m="http://schemas.openxmlformats.org/officeDocument/2006/math">
                    <m:oMath>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𝑊</m:t>
                          </m:r>
                        </m:e>
                        <m:sub>
                          <m:r>
                            <a:rPr lang="en-US" sz="1600" b="0" i="1" smtClean="0">
                              <a:latin typeface="Cambria Math" panose="02040503050406030204" pitchFamily="18" charset="0"/>
                            </a:rPr>
                            <m:t>𝑁𝑒𝑤</m:t>
                          </m:r>
                        </m:sub>
                        <m: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2</m:t>
                              </m:r>
                            </m:e>
                          </m:d>
                        </m:sup>
                      </m:sSubSup>
                      <m:r>
                        <a:rPr lang="en-US" sz="1600" b="0" i="1" smtClean="0">
                          <a:latin typeface="Cambria Math" panose="02040503050406030204" pitchFamily="18" charset="0"/>
                        </a:rPr>
                        <m:t>=</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𝑊</m:t>
                          </m:r>
                        </m:e>
                        <m:sub>
                          <m:r>
                            <a:rPr lang="en-US" sz="1600" b="0" i="1" smtClean="0">
                              <a:latin typeface="Cambria Math" panose="02040503050406030204" pitchFamily="18" charset="0"/>
                            </a:rPr>
                            <m:t>𝑂𝑙𝑑</m:t>
                          </m:r>
                        </m:sub>
                        <m: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2</m:t>
                              </m:r>
                            </m:e>
                          </m:d>
                        </m:sup>
                      </m:sSubSup>
                      <m:r>
                        <a:rPr lang="en-US" sz="1600" b="0" i="1" smtClean="0">
                          <a:latin typeface="Cambria Math" panose="02040503050406030204" pitchFamily="18" charset="0"/>
                        </a:rPr>
                        <m:t>−2</m:t>
                      </m:r>
                      <m:r>
                        <a:rPr lang="en-US" sz="1600" b="0" i="1" smtClean="0">
                          <a:latin typeface="Cambria Math" panose="02040503050406030204" pitchFamily="18" charset="0"/>
                        </a:rPr>
                        <m:t>𝛼</m:t>
                      </m:r>
                      <m:d>
                        <m:dPr>
                          <m:begChr m:val="["/>
                          <m:endChr m:val="]"/>
                          <m:ctrlPr>
                            <a:rPr lang="en-US" sz="1600" b="0" i="1" smtClean="0">
                              <a:latin typeface="Cambria Math" panose="02040503050406030204" pitchFamily="18" charset="0"/>
                            </a:rPr>
                          </m:ctrlPr>
                        </m:dPr>
                        <m:e>
                          <m:m>
                            <m:mPr>
                              <m:mcs>
                                <m:mc>
                                  <m:mcPr>
                                    <m:count m:val="3"/>
                                    <m:mcJc m:val="center"/>
                                  </m:mcPr>
                                </m:mc>
                              </m:mcs>
                              <m:ctrlPr>
                                <a:rPr lang="en-US" sz="1600" b="0" i="1" smtClean="0">
                                  <a:latin typeface="Cambria Math" panose="02040503050406030204" pitchFamily="18" charset="0"/>
                                </a:rPr>
                              </m:ctrlPr>
                            </m:mPr>
                            <m:mr>
                              <m:e>
                                <m:sSubSup>
                                  <m:sSubSupPr>
                                    <m:ctrlPr>
                                      <a:rPr lang="en-US" sz="1600" b="0" i="1" smtClean="0">
                                        <a:latin typeface="Cambria Math" panose="02040503050406030204" pitchFamily="18" charset="0"/>
                                      </a:rPr>
                                    </m:ctrlPr>
                                  </m:sSubSupPr>
                                  <m:e>
                                    <m:r>
                                      <m:rPr>
                                        <m:brk m:alnAt="7"/>
                                      </m:rPr>
                                      <a:rPr lang="en-US" sz="1600" b="0" i="1" smtClean="0">
                                        <a:latin typeface="Cambria Math" panose="02040503050406030204" pitchFamily="18" charset="0"/>
                                      </a:rPr>
                                      <m:t>ℎ</m:t>
                                    </m:r>
                                  </m:e>
                                  <m:sub>
                                    <m:r>
                                      <m:rPr>
                                        <m:brk m:alnAt="7"/>
                                      </m:rPr>
                                      <a:rPr lang="en-US" sz="1600" b="0" i="1" smtClean="0">
                                        <a:latin typeface="Cambria Math" panose="02040503050406030204" pitchFamily="18" charset="0"/>
                                      </a:rPr>
                                      <m:t>2</m:t>
                                    </m:r>
                                  </m:sub>
                                  <m:sup>
                                    <m:r>
                                      <a:rPr lang="en-US" sz="1600" b="0" i="1" smtClean="0">
                                        <a:latin typeface="Cambria Math" panose="02040503050406030204" pitchFamily="18" charset="0"/>
                                      </a:rPr>
                                      <m:t>′</m:t>
                                    </m:r>
                                  </m:sup>
                                </m:sSubSup>
                                <m:d>
                                  <m:dPr>
                                    <m:ctrlPr>
                                      <a:rPr lang="en-US" sz="1600" b="0" i="1" smtClean="0">
                                        <a:latin typeface="Cambria Math" panose="02040503050406030204" pitchFamily="18" charset="0"/>
                                      </a:rPr>
                                    </m:ctrlPr>
                                  </m:dPr>
                                  <m:e>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𝑧</m:t>
                                        </m:r>
                                      </m:e>
                                      <m:sub>
                                        <m:r>
                                          <a:rPr lang="en-US" sz="1600" b="0" i="1" smtClean="0">
                                            <a:latin typeface="Cambria Math" panose="02040503050406030204" pitchFamily="18" charset="0"/>
                                          </a:rPr>
                                          <m:t>1</m:t>
                                        </m:r>
                                      </m:sub>
                                      <m: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2</m:t>
                                            </m:r>
                                          </m:e>
                                        </m:d>
                                      </m:sup>
                                    </m:sSubSup>
                                  </m:e>
                                </m:d>
                              </m:e>
                              <m:e>
                                <m:r>
                                  <a:rPr lang="en-US" sz="1600" b="0" i="1" smtClean="0">
                                    <a:latin typeface="Cambria Math" panose="02040503050406030204" pitchFamily="18" charset="0"/>
                                  </a:rPr>
                                  <m:t>0</m:t>
                                </m:r>
                              </m:e>
                              <m:e>
                                <m:r>
                                  <a:rPr lang="en-US" sz="1600" b="0" i="1" smtClean="0">
                                    <a:latin typeface="Cambria Math" panose="02040503050406030204" pitchFamily="18" charset="0"/>
                                  </a:rPr>
                                  <m:t>0</m:t>
                                </m:r>
                              </m:e>
                            </m:mr>
                            <m:mr>
                              <m:e>
                                <m:r>
                                  <a:rPr lang="en-US" sz="1600" b="0" i="1" smtClean="0">
                                    <a:latin typeface="Cambria Math" panose="02040503050406030204" pitchFamily="18" charset="0"/>
                                  </a:rPr>
                                  <m:t>0</m:t>
                                </m:r>
                              </m:e>
                              <m:e>
                                <m:sSubSup>
                                  <m:sSubSupPr>
                                    <m:ctrlPr>
                                      <a:rPr lang="en-US" sz="1600" i="1">
                                        <a:latin typeface="Cambria Math" panose="02040503050406030204" pitchFamily="18" charset="0"/>
                                      </a:rPr>
                                    </m:ctrlPr>
                                  </m:sSubSupPr>
                                  <m:e>
                                    <m:r>
                                      <m:rPr>
                                        <m:brk m:alnAt="7"/>
                                      </m:rPr>
                                      <a:rPr lang="en-US" sz="1600" i="1">
                                        <a:latin typeface="Cambria Math" panose="02040503050406030204" pitchFamily="18" charset="0"/>
                                      </a:rPr>
                                      <m:t>ℎ</m:t>
                                    </m:r>
                                  </m:e>
                                  <m:sub>
                                    <m:r>
                                      <m:rPr>
                                        <m:brk m:alnAt="7"/>
                                      </m:rPr>
                                      <a:rPr lang="en-US" sz="1600" i="1">
                                        <a:latin typeface="Cambria Math" panose="02040503050406030204" pitchFamily="18" charset="0"/>
                                      </a:rPr>
                                      <m:t>2</m:t>
                                    </m:r>
                                  </m:sub>
                                  <m:sup>
                                    <m:r>
                                      <a:rPr lang="en-US" sz="1600" i="1">
                                        <a:latin typeface="Cambria Math" panose="02040503050406030204" pitchFamily="18" charset="0"/>
                                      </a:rPr>
                                      <m:t>′</m:t>
                                    </m:r>
                                  </m:sup>
                                </m:sSubSup>
                                <m:d>
                                  <m:dPr>
                                    <m:ctrlPr>
                                      <a:rPr lang="en-US" sz="1600" i="1">
                                        <a:latin typeface="Cambria Math" panose="02040503050406030204" pitchFamily="18" charset="0"/>
                                      </a:rPr>
                                    </m:ctrlPr>
                                  </m:dPr>
                                  <m:e>
                                    <m:sSubSup>
                                      <m:sSubSupPr>
                                        <m:ctrlPr>
                                          <a:rPr lang="en-US" sz="1600" i="1">
                                            <a:latin typeface="Cambria Math" panose="02040503050406030204" pitchFamily="18" charset="0"/>
                                          </a:rPr>
                                        </m:ctrlPr>
                                      </m:sSubSupPr>
                                      <m:e>
                                        <m:r>
                                          <a:rPr lang="en-US" sz="1600" i="1">
                                            <a:latin typeface="Cambria Math" panose="02040503050406030204" pitchFamily="18" charset="0"/>
                                          </a:rPr>
                                          <m:t>𝑧</m:t>
                                        </m:r>
                                      </m:e>
                                      <m:sub>
                                        <m:r>
                                          <a:rPr lang="en-US" sz="1600" b="0" i="1" smtClean="0">
                                            <a:latin typeface="Cambria Math" panose="02040503050406030204" pitchFamily="18" charset="0"/>
                                          </a:rPr>
                                          <m:t>2</m:t>
                                        </m:r>
                                      </m:sub>
                                      <m:sup>
                                        <m:d>
                                          <m:dPr>
                                            <m:ctrlPr>
                                              <a:rPr lang="en-US" sz="1600" i="1">
                                                <a:latin typeface="Cambria Math" panose="02040503050406030204" pitchFamily="18" charset="0"/>
                                              </a:rPr>
                                            </m:ctrlPr>
                                          </m:dPr>
                                          <m:e>
                                            <m:r>
                                              <a:rPr lang="en-US" sz="1600" i="1">
                                                <a:latin typeface="Cambria Math" panose="02040503050406030204" pitchFamily="18" charset="0"/>
                                              </a:rPr>
                                              <m:t>2</m:t>
                                            </m:r>
                                          </m:e>
                                        </m:d>
                                      </m:sup>
                                    </m:sSubSup>
                                  </m:e>
                                </m:d>
                              </m:e>
                              <m:e>
                                <m:r>
                                  <a:rPr lang="en-US" sz="1600" b="0" i="1" smtClean="0">
                                    <a:latin typeface="Cambria Math" panose="02040503050406030204" pitchFamily="18" charset="0"/>
                                  </a:rPr>
                                  <m:t>0</m:t>
                                </m:r>
                              </m:e>
                            </m:mr>
                            <m:mr>
                              <m:e>
                                <m:r>
                                  <a:rPr lang="en-US" sz="1600" b="0" i="1" smtClean="0">
                                    <a:latin typeface="Cambria Math" panose="02040503050406030204" pitchFamily="18" charset="0"/>
                                  </a:rPr>
                                  <m:t>0</m:t>
                                </m:r>
                              </m:e>
                              <m:e>
                                <m:r>
                                  <a:rPr lang="en-US" sz="1600" b="0" i="1" smtClean="0">
                                    <a:latin typeface="Cambria Math" panose="02040503050406030204" pitchFamily="18" charset="0"/>
                                  </a:rPr>
                                  <m:t>0</m:t>
                                </m:r>
                              </m:e>
                              <m:e>
                                <m:sSubSup>
                                  <m:sSubSupPr>
                                    <m:ctrlPr>
                                      <a:rPr lang="en-US" sz="1600" i="1">
                                        <a:latin typeface="Cambria Math" panose="02040503050406030204" pitchFamily="18" charset="0"/>
                                      </a:rPr>
                                    </m:ctrlPr>
                                  </m:sSubSupPr>
                                  <m:e>
                                    <m:r>
                                      <m:rPr>
                                        <m:brk m:alnAt="7"/>
                                      </m:rPr>
                                      <a:rPr lang="en-US" sz="1600" i="1">
                                        <a:latin typeface="Cambria Math" panose="02040503050406030204" pitchFamily="18" charset="0"/>
                                      </a:rPr>
                                      <m:t>ℎ</m:t>
                                    </m:r>
                                  </m:e>
                                  <m:sub>
                                    <m:r>
                                      <m:rPr>
                                        <m:brk m:alnAt="7"/>
                                      </m:rPr>
                                      <a:rPr lang="en-US" sz="1600" i="1">
                                        <a:latin typeface="Cambria Math" panose="02040503050406030204" pitchFamily="18" charset="0"/>
                                      </a:rPr>
                                      <m:t>2</m:t>
                                    </m:r>
                                  </m:sub>
                                  <m:sup>
                                    <m:r>
                                      <a:rPr lang="en-US" sz="1600" i="1">
                                        <a:latin typeface="Cambria Math" panose="02040503050406030204" pitchFamily="18" charset="0"/>
                                      </a:rPr>
                                      <m:t>′</m:t>
                                    </m:r>
                                  </m:sup>
                                </m:sSubSup>
                                <m:d>
                                  <m:dPr>
                                    <m:ctrlPr>
                                      <a:rPr lang="en-US" sz="1600" i="1">
                                        <a:latin typeface="Cambria Math" panose="02040503050406030204" pitchFamily="18" charset="0"/>
                                      </a:rPr>
                                    </m:ctrlPr>
                                  </m:dPr>
                                  <m:e>
                                    <m:sSubSup>
                                      <m:sSubSupPr>
                                        <m:ctrlPr>
                                          <a:rPr lang="en-US" sz="1600" i="1">
                                            <a:latin typeface="Cambria Math" panose="02040503050406030204" pitchFamily="18" charset="0"/>
                                          </a:rPr>
                                        </m:ctrlPr>
                                      </m:sSubSupPr>
                                      <m:e>
                                        <m:r>
                                          <a:rPr lang="en-US" sz="1600" i="1">
                                            <a:latin typeface="Cambria Math" panose="02040503050406030204" pitchFamily="18" charset="0"/>
                                          </a:rPr>
                                          <m:t>𝑧</m:t>
                                        </m:r>
                                      </m:e>
                                      <m:sub>
                                        <m:r>
                                          <a:rPr lang="en-US" sz="1600" b="0" i="1" smtClean="0">
                                            <a:latin typeface="Cambria Math" panose="02040503050406030204" pitchFamily="18" charset="0"/>
                                          </a:rPr>
                                          <m:t>3</m:t>
                                        </m:r>
                                      </m:sub>
                                      <m:sup>
                                        <m:d>
                                          <m:dPr>
                                            <m:ctrlPr>
                                              <a:rPr lang="en-US" sz="1600" i="1">
                                                <a:latin typeface="Cambria Math" panose="02040503050406030204" pitchFamily="18" charset="0"/>
                                              </a:rPr>
                                            </m:ctrlPr>
                                          </m:dPr>
                                          <m:e>
                                            <m:r>
                                              <a:rPr lang="en-US" sz="1600" i="1">
                                                <a:latin typeface="Cambria Math" panose="02040503050406030204" pitchFamily="18" charset="0"/>
                                              </a:rPr>
                                              <m:t>2</m:t>
                                            </m:r>
                                          </m:e>
                                        </m:d>
                                      </m:sup>
                                    </m:sSubSup>
                                  </m:e>
                                </m:d>
                              </m:e>
                            </m:mr>
                          </m:m>
                        </m:e>
                      </m:d>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𝑊</m:t>
                          </m:r>
                        </m:e>
                        <m:sub>
                          <m:r>
                            <a:rPr lang="en-US" sz="1600" b="0" i="1" smtClean="0">
                              <a:latin typeface="Cambria Math" panose="02040503050406030204" pitchFamily="18" charset="0"/>
                            </a:rPr>
                            <m:t>𝑜𝑙𝑑</m:t>
                          </m:r>
                        </m:sub>
                        <m:sup>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3</m:t>
                                  </m:r>
                                </m:e>
                              </m:d>
                            </m:e>
                            <m:sup>
                              <m:r>
                                <a:rPr lang="en-US" sz="1600" b="0" i="1" smtClean="0">
                                  <a:latin typeface="Cambria Math" panose="02040503050406030204" pitchFamily="18" charset="0"/>
                                </a:rPr>
                                <m:t>𝑇</m:t>
                              </m:r>
                            </m:sup>
                          </m:sSup>
                        </m:sup>
                      </m:sSubSup>
                      <m:d>
                        <m:dPr>
                          <m:begChr m:val="["/>
                          <m:endChr m:val="]"/>
                          <m:ctrlPr>
                            <a:rPr lang="en-US" sz="1600" i="1">
                              <a:solidFill>
                                <a:schemeClr val="tx1"/>
                              </a:solidFill>
                              <a:latin typeface="Cambria Math" panose="02040503050406030204" pitchFamily="18" charset="0"/>
                            </a:rPr>
                          </m:ctrlPr>
                        </m:dPr>
                        <m:e>
                          <m:m>
                            <m:mPr>
                              <m:mcs>
                                <m:mc>
                                  <m:mcPr>
                                    <m:count m:val="1"/>
                                    <m:mcJc m:val="center"/>
                                  </m:mcPr>
                                </m:mc>
                              </m:mcs>
                              <m:ctrlPr>
                                <a:rPr lang="en-US" sz="1600" i="1">
                                  <a:solidFill>
                                    <a:schemeClr val="tx1"/>
                                  </a:solidFill>
                                  <a:latin typeface="Cambria Math" panose="02040503050406030204" pitchFamily="18" charset="0"/>
                                </a:rPr>
                              </m:ctrlPr>
                            </m:mPr>
                            <m:mr>
                              <m:e>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acc>
                                          <m:accPr>
                                            <m:chr m:val="̂"/>
                                            <m:ctrlPr>
                                              <a:rPr lang="en-US" sz="1600" i="1">
                                                <a:solidFill>
                                                  <a:schemeClr val="tx1"/>
                                                </a:solidFill>
                                                <a:latin typeface="Cambria Math" panose="02040503050406030204" pitchFamily="18" charset="0"/>
                                              </a:rPr>
                                            </m:ctrlPr>
                                          </m:accPr>
                                          <m:e>
                                            <m:r>
                                              <m:rPr>
                                                <m:brk m:alnAt="7"/>
                                              </m:rPr>
                                              <a:rPr lang="en-US" sz="1600" i="1">
                                                <a:solidFill>
                                                  <a:schemeClr val="tx1"/>
                                                </a:solidFill>
                                                <a:latin typeface="Cambria Math" panose="02040503050406030204" pitchFamily="18" charset="0"/>
                                              </a:rPr>
                                              <m:t>𝑦</m:t>
                                            </m:r>
                                          </m:e>
                                        </m:acc>
                                      </m:e>
                                      <m:sub>
                                        <m:r>
                                          <m:rPr>
                                            <m:brk m:alnAt="7"/>
                                          </m:rPr>
                                          <a:rPr lang="en-US" sz="1600" i="1">
                                            <a:solidFill>
                                              <a:schemeClr val="tx1"/>
                                            </a:solidFill>
                                            <a:latin typeface="Cambria Math" panose="02040503050406030204" pitchFamily="18" charset="0"/>
                                          </a:rPr>
                                          <m:t>1</m:t>
                                        </m:r>
                                      </m:sub>
                                    </m:sSub>
                                    <m:r>
                                      <m:rPr>
                                        <m:brk m:alnAt="7"/>
                                      </m:rP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m:rPr>
                                            <m:brk m:alnAt="7"/>
                                          </m:rPr>
                                          <a:rPr lang="en-US" sz="1600" i="1">
                                            <a:solidFill>
                                              <a:schemeClr val="tx1"/>
                                            </a:solidFill>
                                            <a:latin typeface="Cambria Math" panose="02040503050406030204" pitchFamily="18" charset="0"/>
                                          </a:rPr>
                                          <m:t>𝑦</m:t>
                                        </m:r>
                                      </m:e>
                                      <m:sub>
                                        <m:r>
                                          <m:rPr>
                                            <m:brk m:alnAt="7"/>
                                          </m:rPr>
                                          <a:rPr lang="en-US" sz="1600" i="1">
                                            <a:solidFill>
                                              <a:schemeClr val="tx1"/>
                                            </a:solidFill>
                                            <a:latin typeface="Cambria Math" panose="02040503050406030204" pitchFamily="18" charset="0"/>
                                          </a:rPr>
                                          <m:t>1</m:t>
                                        </m:r>
                                      </m:sub>
                                    </m:sSub>
                                  </m:e>
                                </m:d>
                                <m:sSubSup>
                                  <m:sSubSupPr>
                                    <m:ctrlPr>
                                      <a:rPr lang="en-US" sz="1600" i="1">
                                        <a:solidFill>
                                          <a:schemeClr val="tx1"/>
                                        </a:solidFill>
                                        <a:latin typeface="Cambria Math" panose="02040503050406030204" pitchFamily="18" charset="0"/>
                                      </a:rPr>
                                    </m:ctrlPr>
                                  </m:sSubSupPr>
                                  <m:e>
                                    <m:r>
                                      <m:rPr>
                                        <m:brk m:alnAt="7"/>
                                      </m:rPr>
                                      <a:rPr lang="en-US" sz="1600" i="1">
                                        <a:solidFill>
                                          <a:schemeClr val="tx1"/>
                                        </a:solidFill>
                                        <a:latin typeface="Cambria Math" panose="02040503050406030204" pitchFamily="18" charset="0"/>
                                      </a:rPr>
                                      <m:t>ℎ</m:t>
                                    </m:r>
                                  </m:e>
                                  <m:sub>
                                    <m:r>
                                      <m:rPr>
                                        <m:brk m:alnAt="7"/>
                                      </m:rPr>
                                      <a:rPr lang="en-US" sz="1600" i="1">
                                        <a:solidFill>
                                          <a:schemeClr val="tx1"/>
                                        </a:solidFill>
                                        <a:latin typeface="Cambria Math" panose="02040503050406030204" pitchFamily="18" charset="0"/>
                                      </a:rPr>
                                      <m:t>3</m:t>
                                    </m:r>
                                  </m:sub>
                                  <m:sup>
                                    <m:r>
                                      <a:rPr lang="en-US" sz="1600" i="1">
                                        <a:solidFill>
                                          <a:schemeClr val="tx1"/>
                                        </a:solidFill>
                                        <a:latin typeface="Cambria Math" panose="02040503050406030204" pitchFamily="18" charset="0"/>
                                      </a:rPr>
                                      <m:t>′</m:t>
                                    </m:r>
                                  </m:sup>
                                </m:sSubSup>
                                <m:d>
                                  <m:dPr>
                                    <m:ctrlPr>
                                      <a:rPr lang="en-US" sz="1600" i="1">
                                        <a:solidFill>
                                          <a:schemeClr val="tx1"/>
                                        </a:solidFill>
                                        <a:latin typeface="Cambria Math" panose="02040503050406030204" pitchFamily="18" charset="0"/>
                                      </a:rPr>
                                    </m:ctrlPr>
                                  </m:dPr>
                                  <m:e>
                                    <m:sSubSup>
                                      <m:sSubSupPr>
                                        <m:ctrlPr>
                                          <a:rPr lang="en-US" sz="1600" i="1">
                                            <a:solidFill>
                                              <a:schemeClr val="tx1"/>
                                            </a:solidFill>
                                            <a:latin typeface="Cambria Math" panose="02040503050406030204" pitchFamily="18" charset="0"/>
                                          </a:rPr>
                                        </m:ctrlPr>
                                      </m:sSubSupPr>
                                      <m:e>
                                        <m:r>
                                          <a:rPr lang="en-US" sz="1600" i="1">
                                            <a:solidFill>
                                              <a:schemeClr val="tx1"/>
                                            </a:solidFill>
                                            <a:latin typeface="Cambria Math" panose="02040503050406030204" pitchFamily="18" charset="0"/>
                                          </a:rPr>
                                          <m:t>𝑧</m:t>
                                        </m:r>
                                      </m:e>
                                      <m:sub>
                                        <m:r>
                                          <a:rPr lang="en-US" sz="1600" i="1">
                                            <a:solidFill>
                                              <a:schemeClr val="tx1"/>
                                            </a:solidFill>
                                            <a:latin typeface="Cambria Math" panose="02040503050406030204" pitchFamily="18" charset="0"/>
                                          </a:rPr>
                                          <m:t>1</m:t>
                                        </m:r>
                                      </m:sub>
                                      <m:sup>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3</m:t>
                                            </m:r>
                                          </m:e>
                                        </m:d>
                                      </m:sup>
                                    </m:sSubSup>
                                  </m:e>
                                </m:d>
                              </m:e>
                            </m:mr>
                            <m:mr>
                              <m:e>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acc>
                                          <m:accPr>
                                            <m:chr m:val="̂"/>
                                            <m:ctrlPr>
                                              <a:rPr lang="en-US" sz="1600" i="1">
                                                <a:solidFill>
                                                  <a:schemeClr val="tx1"/>
                                                </a:solidFill>
                                                <a:latin typeface="Cambria Math" panose="02040503050406030204" pitchFamily="18" charset="0"/>
                                              </a:rPr>
                                            </m:ctrlPr>
                                          </m:accPr>
                                          <m:e>
                                            <m:r>
                                              <m:rPr>
                                                <m:brk m:alnAt="7"/>
                                              </m:rPr>
                                              <a:rPr lang="en-US" sz="1600" i="1">
                                                <a:solidFill>
                                                  <a:schemeClr val="tx1"/>
                                                </a:solidFill>
                                                <a:latin typeface="Cambria Math" panose="02040503050406030204" pitchFamily="18" charset="0"/>
                                              </a:rPr>
                                              <m:t>𝑦</m:t>
                                            </m:r>
                                          </m:e>
                                        </m:acc>
                                      </m:e>
                                      <m:sub>
                                        <m:r>
                                          <a:rPr lang="en-US" sz="1600" i="1">
                                            <a:solidFill>
                                              <a:schemeClr val="tx1"/>
                                            </a:solidFill>
                                            <a:latin typeface="Cambria Math" panose="02040503050406030204" pitchFamily="18" charset="0"/>
                                          </a:rPr>
                                          <m:t>2</m:t>
                                        </m:r>
                                      </m:sub>
                                    </m:sSub>
                                    <m:r>
                                      <m:rPr>
                                        <m:brk m:alnAt="7"/>
                                      </m:rP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m:rPr>
                                            <m:brk m:alnAt="7"/>
                                          </m:rP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2</m:t>
                                        </m:r>
                                      </m:sub>
                                    </m:sSub>
                                  </m:e>
                                </m:d>
                                <m:sSubSup>
                                  <m:sSubSupPr>
                                    <m:ctrlPr>
                                      <a:rPr lang="en-US" sz="1600" i="1">
                                        <a:solidFill>
                                          <a:schemeClr val="tx1"/>
                                        </a:solidFill>
                                        <a:latin typeface="Cambria Math" panose="02040503050406030204" pitchFamily="18" charset="0"/>
                                      </a:rPr>
                                    </m:ctrlPr>
                                  </m:sSubSupPr>
                                  <m:e>
                                    <m:r>
                                      <m:rPr>
                                        <m:brk m:alnAt="7"/>
                                      </m:rPr>
                                      <a:rPr lang="en-US" sz="1600" i="1">
                                        <a:solidFill>
                                          <a:schemeClr val="tx1"/>
                                        </a:solidFill>
                                        <a:latin typeface="Cambria Math" panose="02040503050406030204" pitchFamily="18" charset="0"/>
                                      </a:rPr>
                                      <m:t>ℎ</m:t>
                                    </m:r>
                                  </m:e>
                                  <m:sub>
                                    <m:r>
                                      <m:rPr>
                                        <m:brk m:alnAt="7"/>
                                      </m:rPr>
                                      <a:rPr lang="en-US" sz="1600" i="1">
                                        <a:solidFill>
                                          <a:schemeClr val="tx1"/>
                                        </a:solidFill>
                                        <a:latin typeface="Cambria Math" panose="02040503050406030204" pitchFamily="18" charset="0"/>
                                      </a:rPr>
                                      <m:t>3</m:t>
                                    </m:r>
                                  </m:sub>
                                  <m:sup>
                                    <m:r>
                                      <a:rPr lang="en-US" sz="1600" i="1">
                                        <a:solidFill>
                                          <a:schemeClr val="tx1"/>
                                        </a:solidFill>
                                        <a:latin typeface="Cambria Math" panose="02040503050406030204" pitchFamily="18" charset="0"/>
                                      </a:rPr>
                                      <m:t>′</m:t>
                                    </m:r>
                                  </m:sup>
                                </m:sSubSup>
                                <m:d>
                                  <m:dPr>
                                    <m:ctrlPr>
                                      <a:rPr lang="en-US" sz="1600" i="1">
                                        <a:solidFill>
                                          <a:schemeClr val="tx1"/>
                                        </a:solidFill>
                                        <a:latin typeface="Cambria Math" panose="02040503050406030204" pitchFamily="18" charset="0"/>
                                      </a:rPr>
                                    </m:ctrlPr>
                                  </m:dPr>
                                  <m:e>
                                    <m:sSubSup>
                                      <m:sSubSupPr>
                                        <m:ctrlPr>
                                          <a:rPr lang="en-US" sz="1600" i="1">
                                            <a:solidFill>
                                              <a:schemeClr val="tx1"/>
                                            </a:solidFill>
                                            <a:latin typeface="Cambria Math" panose="02040503050406030204" pitchFamily="18" charset="0"/>
                                          </a:rPr>
                                        </m:ctrlPr>
                                      </m:sSubSupPr>
                                      <m:e>
                                        <m:r>
                                          <a:rPr lang="en-US" sz="1600" i="1">
                                            <a:solidFill>
                                              <a:schemeClr val="tx1"/>
                                            </a:solidFill>
                                            <a:latin typeface="Cambria Math" panose="02040503050406030204" pitchFamily="18" charset="0"/>
                                          </a:rPr>
                                          <m:t>𝑧</m:t>
                                        </m:r>
                                      </m:e>
                                      <m:sub>
                                        <m:r>
                                          <a:rPr lang="en-US" sz="1600" i="1">
                                            <a:solidFill>
                                              <a:schemeClr val="tx1"/>
                                            </a:solidFill>
                                            <a:latin typeface="Cambria Math" panose="02040503050406030204" pitchFamily="18" charset="0"/>
                                          </a:rPr>
                                          <m:t>2</m:t>
                                        </m:r>
                                      </m:sub>
                                      <m:sup>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3</m:t>
                                            </m:r>
                                          </m:e>
                                        </m:d>
                                      </m:sup>
                                    </m:sSubSup>
                                  </m:e>
                                </m:d>
                              </m:e>
                            </m:mr>
                          </m:m>
                        </m:e>
                      </m:d>
                      <m:sSup>
                        <m:sSupPr>
                          <m:ctrlPr>
                            <a:rPr lang="en-US" sz="1600" b="0" i="1" smtClean="0">
                              <a:solidFill>
                                <a:schemeClr val="tx1"/>
                              </a:solidFill>
                              <a:latin typeface="Cambria Math" panose="02040503050406030204" pitchFamily="18" charset="0"/>
                            </a:rPr>
                          </m:ctrlPr>
                        </m:sSupPr>
                        <m:e>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𝑞</m:t>
                              </m:r>
                            </m:e>
                          </m:acc>
                        </m:e>
                        <m:sup>
                          <m:sSup>
                            <m:sSupPr>
                              <m:ctrlPr>
                                <a:rPr lang="en-US" sz="1600" b="0" i="1" smtClean="0">
                                  <a:solidFill>
                                    <a:schemeClr val="tx1"/>
                                  </a:solidFill>
                                  <a:latin typeface="Cambria Math" panose="02040503050406030204" pitchFamily="18" charset="0"/>
                                </a:rPr>
                              </m:ctrlPr>
                            </m:sSupPr>
                            <m:e>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e>
                              </m:d>
                            </m:e>
                            <m:sup>
                              <m:r>
                                <a:rPr lang="en-US" sz="1600" b="0" i="1" smtClean="0">
                                  <a:solidFill>
                                    <a:schemeClr val="tx1"/>
                                  </a:solidFill>
                                  <a:latin typeface="Cambria Math" panose="02040503050406030204" pitchFamily="18" charset="0"/>
                                </a:rPr>
                                <m:t>𝑇</m:t>
                              </m:r>
                            </m:sup>
                          </m:sSup>
                        </m:sup>
                      </m:sSup>
                    </m:oMath>
                  </m:oMathPara>
                </a14:m>
                <a:endParaRPr lang="en-US" dirty="0"/>
              </a:p>
            </p:txBody>
          </p:sp>
        </mc:Choice>
        <mc:Fallback>
          <p:sp>
            <p:nvSpPr>
              <p:cNvPr id="2" name="Content Placeholder 1">
                <a:extLst>
                  <a:ext uri="{FF2B5EF4-FFF2-40B4-BE49-F238E27FC236}">
                    <a16:creationId xmlns:a16="http://schemas.microsoft.com/office/drawing/2014/main" id="{08B32996-8A56-CD70-DE9A-55DDE60A9223}"/>
                  </a:ext>
                </a:extLst>
              </p:cNvPr>
              <p:cNvSpPr>
                <a:spLocks noGrp="1" noRot="1" noChangeAspect="1" noMove="1" noResize="1" noEditPoints="1" noAdjustHandles="1" noChangeArrowheads="1" noChangeShapeType="1" noTextEdit="1"/>
              </p:cNvSpPr>
              <p:nvPr>
                <p:ph idx="26"/>
              </p:nvPr>
            </p:nvSpPr>
            <p:spPr>
              <a:xfrm>
                <a:off x="423600" y="905399"/>
                <a:ext cx="8318119" cy="3272464"/>
              </a:xfrm>
              <a:blipFill>
                <a:blip r:embed="rId2"/>
                <a:stretch>
                  <a:fillRect l="-610" t="-1163" r="-15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AD94DB7-F3CC-DBC8-7EE9-3EE8F43FE9A8}"/>
              </a:ext>
            </a:extLst>
          </p:cNvPr>
          <p:cNvSpPr>
            <a:spLocks noGrp="1"/>
          </p:cNvSpPr>
          <p:nvPr>
            <p:ph type="title"/>
          </p:nvPr>
        </p:nvSpPr>
        <p:spPr/>
        <p:txBody>
          <a:bodyPr/>
          <a:lstStyle/>
          <a:p>
            <a:r>
              <a:rPr lang="en-US"/>
              <a:t>Updating all weights in Layer 2 </a:t>
            </a:r>
          </a:p>
        </p:txBody>
      </p:sp>
      <p:sp>
        <p:nvSpPr>
          <p:cNvPr id="4" name="TextBox 3">
            <a:extLst>
              <a:ext uri="{FF2B5EF4-FFF2-40B4-BE49-F238E27FC236}">
                <a16:creationId xmlns:a16="http://schemas.microsoft.com/office/drawing/2014/main" id="{E0E388B8-045A-21BB-290A-0FC266C8ADD2}"/>
              </a:ext>
            </a:extLst>
          </p:cNvPr>
          <p:cNvSpPr txBox="1"/>
          <p:nvPr/>
        </p:nvSpPr>
        <p:spPr bwMode="auto">
          <a:xfrm>
            <a:off x="94593" y="4823054"/>
            <a:ext cx="3993931" cy="232422"/>
          </a:xfrm>
          <a:prstGeom prst="rect">
            <a:avLst/>
          </a:prstGeom>
          <a:solidFill>
            <a:schemeClr val="bg1"/>
          </a:solidFill>
          <a:ln>
            <a:noFill/>
          </a:ln>
          <a:extLst>
            <a:ext uri="{FAA26D3D-D897-4be2-8F04-BA451C77F1D7}">
              <ma14:placeholderFlag xmlns="" xmlns:ma14="http://schemas.microsoft.com/office/mac/drawingml/2011/main" val="1"/>
            </a:ext>
          </a:extLst>
        </p:spPr>
        <p:txBody>
          <a:bodyPr vert="horz" wrap="none" lIns="91440" tIns="45720" rIns="91440" bIns="45720" numCol="1" rtlCol="0" anchor="t" anchorCtr="0" compatLnSpc="1">
            <a:prstTxWarp prst="textNoShape">
              <a:avLst/>
            </a:prstTxWarp>
            <a:normAutofit fontScale="25000" lnSpcReduction="20000"/>
          </a:bodyPr>
          <a:lstStyle/>
          <a:p>
            <a:r>
              <a:rPr lang="en-US" sz="5600"/>
              <a:t>*Updates for weights of layer 1 are left for you to try.</a:t>
            </a:r>
          </a:p>
          <a:p>
            <a:endParaRPr lang="en-US" sz="2800">
              <a:solidFill>
                <a:srgbClr val="29551A"/>
              </a:solidFill>
            </a:endParaRPr>
          </a:p>
        </p:txBody>
      </p:sp>
    </p:spTree>
    <p:extLst>
      <p:ext uri="{BB962C8B-B14F-4D97-AF65-F5344CB8AC3E}">
        <p14:creationId xmlns:p14="http://schemas.microsoft.com/office/powerpoint/2010/main" val="1586520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621D1DD7-CE1F-EDA4-8AAB-2FD40B47F2EB}"/>
                  </a:ext>
                </a:extLst>
              </p:cNvPr>
              <p:cNvSpPr>
                <a:spLocks noGrp="1"/>
              </p:cNvSpPr>
              <p:nvPr>
                <p:ph idx="26"/>
              </p:nvPr>
            </p:nvSpPr>
            <p:spPr/>
            <p:txBody>
              <a:bodyPr/>
              <a:lstStyle/>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2</m:t>
                                </m:r>
                              </m:e>
                            </m:d>
                          </m:sup>
                        </m:sSubSup>
                      </m:e>
                      <m:sub>
                        <m:r>
                          <a:rPr lang="en-US" b="0" i="1" smtClean="0">
                            <a:latin typeface="Cambria Math" panose="02040503050406030204" pitchFamily="18" charset="0"/>
                          </a:rPr>
                          <m:t>𝑁𝑒𝑤</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2</m:t>
                                </m:r>
                              </m:e>
                            </m:d>
                          </m:sup>
                        </m:sSubSup>
                      </m:e>
                      <m:sub>
                        <m:r>
                          <a:rPr lang="en-US" b="0" i="1" smtClean="0">
                            <a:latin typeface="Cambria Math" panose="02040503050406030204" pitchFamily="18" charset="0"/>
                          </a:rPr>
                          <m:t>𝑜𝑙𝑑</m:t>
                        </m:r>
                      </m:sub>
                    </m:sSub>
                    <m:r>
                      <a:rPr lang="en-US" b="0" i="1" smtClean="0">
                        <a:latin typeface="Cambria Math" panose="02040503050406030204" pitchFamily="18" charset="0"/>
                      </a:rPr>
                      <m:t>−</m:t>
                    </m:r>
                    <m:r>
                      <a:rPr lang="en-US" b="0" i="1" smtClean="0">
                        <a:latin typeface="Cambria Math" panose="02040503050406030204" pitchFamily="18" charset="0"/>
                      </a:rPr>
                      <m:t>𝛼</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𝐿</m:t>
                        </m:r>
                      </m:num>
                      <m:den>
                        <m:r>
                          <a:rPr lang="en-US" b="0" i="1" smtClean="0">
                            <a:solidFill>
                              <a:srgbClr val="FF0000"/>
                            </a:solidFill>
                            <a:latin typeface="Cambria Math" panose="02040503050406030204" pitchFamily="18" charset="0"/>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𝑤</m:t>
                            </m:r>
                          </m:e>
                          <m:sub>
                            <m:r>
                              <a:rPr lang="en-US" i="1">
                                <a:solidFill>
                                  <a:srgbClr val="FF0000"/>
                                </a:solidFill>
                                <a:latin typeface="Cambria Math" panose="02040503050406030204" pitchFamily="18" charset="0"/>
                              </a:rPr>
                              <m:t>11</m:t>
                            </m:r>
                          </m:sub>
                          <m:sup>
                            <m:r>
                              <a:rPr lang="en-US" i="1">
                                <a:solidFill>
                                  <a:srgbClr val="FF0000"/>
                                </a:solidFill>
                                <a:latin typeface="Cambria Math" panose="02040503050406030204" pitchFamily="18" charset="0"/>
                              </a:rPr>
                              <m:t>(2)</m:t>
                            </m:r>
                          </m:sup>
                        </m:sSubSup>
                      </m:den>
                    </m:f>
                  </m:oMath>
                </a14:m>
                <a:endParaRPr lang="en-US"/>
              </a:p>
              <a:p>
                <a:pPr marL="0" indent="0">
                  <a:buNone/>
                </a:pPr>
                <a:r>
                  <a:rPr lang="en-US"/>
                  <a:t>Where:</a:t>
                </a:r>
              </a:p>
              <a:p>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𝐿</m:t>
                        </m:r>
                      </m:num>
                      <m:den>
                        <m:r>
                          <a:rPr lang="en-US" sz="1600" b="0" i="1" smtClean="0">
                            <a:latin typeface="Cambria Math" panose="02040503050406030204" pitchFamily="18" charset="0"/>
                          </a:rPr>
                          <m:t>𝜕</m:t>
                        </m:r>
                        <m:sSubSup>
                          <m:sSubSupPr>
                            <m:ctrlPr>
                              <a:rPr lang="en-US" sz="1600" i="1">
                                <a:latin typeface="Cambria Math" panose="02040503050406030204" pitchFamily="18" charset="0"/>
                              </a:rPr>
                            </m:ctrlPr>
                          </m:sSubSupPr>
                          <m:e>
                            <m:r>
                              <a:rPr lang="en-US" sz="1600" i="1">
                                <a:latin typeface="Cambria Math" panose="02040503050406030204" pitchFamily="18" charset="0"/>
                              </a:rPr>
                              <m:t>𝑤</m:t>
                            </m:r>
                          </m:e>
                          <m:sub>
                            <m:r>
                              <a:rPr lang="en-US" sz="1600" i="1">
                                <a:latin typeface="Cambria Math" panose="02040503050406030204" pitchFamily="18" charset="0"/>
                              </a:rPr>
                              <m:t>11</m:t>
                            </m:r>
                          </m:sub>
                          <m:sup>
                            <m:d>
                              <m:dPr>
                                <m:ctrlPr>
                                  <a:rPr lang="en-US" sz="1600" i="1">
                                    <a:latin typeface="Cambria Math" panose="02040503050406030204" pitchFamily="18" charset="0"/>
                                  </a:rPr>
                                </m:ctrlPr>
                              </m:dPr>
                              <m:e>
                                <m:r>
                                  <a:rPr lang="en-US" sz="1600" i="1">
                                    <a:latin typeface="Cambria Math" panose="02040503050406030204" pitchFamily="18" charset="0"/>
                                  </a:rPr>
                                  <m:t>2</m:t>
                                </m:r>
                              </m:e>
                            </m:d>
                          </m:sup>
                        </m:sSubSup>
                      </m:den>
                    </m:f>
                    <m:r>
                      <a:rPr lang="en-US" sz="1600" b="0" i="1" smtClean="0">
                        <a:latin typeface="Cambria Math" panose="02040503050406030204" pitchFamily="18" charset="0"/>
                      </a:rPr>
                      <m:t>=</m:t>
                    </m:r>
                    <m:r>
                      <a:rPr lang="en-US" sz="1600" b="0" i="1" smtClean="0">
                        <a:solidFill>
                          <a:srgbClr val="FF0000"/>
                        </a:solidFill>
                        <a:latin typeface="Cambria Math" panose="02040503050406030204" pitchFamily="18" charset="0"/>
                      </a:rPr>
                      <m:t>2</m:t>
                    </m:r>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𝑦</m:t>
                                </m:r>
                              </m:e>
                            </m:acc>
                          </m:e>
                          <m:sub>
                            <m:r>
                              <a:rPr lang="en-US" sz="1600" b="0" i="1" smtClean="0">
                                <a:solidFill>
                                  <a:srgbClr val="FF0000"/>
                                </a:solidFill>
                                <a:latin typeface="Cambria Math" panose="02040503050406030204" pitchFamily="18" charset="0"/>
                              </a:rPr>
                              <m:t>1</m:t>
                            </m:r>
                          </m:sub>
                        </m:sSub>
                        <m:r>
                          <a:rPr lang="en-US" sz="1600" b="0" i="1" smtClean="0">
                            <a:solidFill>
                              <a:srgbClr val="FF0000"/>
                            </a:solidFill>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𝑦</m:t>
                            </m:r>
                          </m:e>
                          <m:sub>
                            <m:r>
                              <a:rPr lang="en-US" sz="1600" b="0" i="1" smtClean="0">
                                <a:solidFill>
                                  <a:srgbClr val="FF0000"/>
                                </a:solidFill>
                                <a:latin typeface="Cambria Math" panose="02040503050406030204" pitchFamily="18" charset="0"/>
                              </a:rPr>
                              <m:t>1</m:t>
                            </m:r>
                          </m:sub>
                        </m:sSub>
                      </m:e>
                    </m:d>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ℎ</m:t>
                        </m:r>
                      </m:e>
                      <m:sub>
                        <m:r>
                          <a:rPr lang="en-US" sz="1600" b="0" i="1" smtClean="0">
                            <a:solidFill>
                              <a:srgbClr val="FF0000"/>
                            </a:solidFill>
                            <a:latin typeface="Cambria Math" panose="02040503050406030204" pitchFamily="18" charset="0"/>
                          </a:rPr>
                          <m:t>3</m:t>
                        </m:r>
                      </m:sub>
                      <m:sup>
                        <m:r>
                          <a:rPr lang="en-US" sz="1600" b="0" i="1" smtClean="0">
                            <a:solidFill>
                              <a:srgbClr val="FF0000"/>
                            </a:solidFill>
                            <a:latin typeface="Cambria Math" panose="02040503050406030204" pitchFamily="18" charset="0"/>
                          </a:rPr>
                          <m:t>′</m:t>
                        </m:r>
                      </m:sup>
                    </m:sSubSup>
                    <m:d>
                      <m:dPr>
                        <m:ctrlPr>
                          <a:rPr lang="en-US" sz="1600" b="0" i="1" smtClean="0">
                            <a:solidFill>
                              <a:srgbClr val="FF0000"/>
                            </a:solidFill>
                            <a:latin typeface="Cambria Math" panose="02040503050406030204" pitchFamily="18" charset="0"/>
                          </a:rPr>
                        </m:ctrlPr>
                      </m:dPr>
                      <m:e>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𝑧</m:t>
                            </m:r>
                          </m:e>
                          <m:sub>
                            <m:r>
                              <a:rPr lang="en-US" sz="1600" b="0" i="1" smtClean="0">
                                <a:solidFill>
                                  <a:srgbClr val="FF0000"/>
                                </a:solidFill>
                                <a:latin typeface="Cambria Math" panose="02040503050406030204" pitchFamily="18" charset="0"/>
                              </a:rPr>
                              <m:t>1</m:t>
                            </m:r>
                          </m:sub>
                          <m:sup>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3</m:t>
                                </m:r>
                              </m:e>
                            </m:d>
                          </m:sup>
                        </m:sSubSup>
                      </m:e>
                    </m:d>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11</m:t>
                        </m:r>
                      </m:sub>
                      <m:sup>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3</m:t>
                            </m:r>
                          </m:e>
                        </m:d>
                      </m:sup>
                    </m:sSubSup>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ℎ</m:t>
                        </m:r>
                      </m:e>
                      <m:sub>
                        <m:r>
                          <a:rPr lang="en-US" sz="1600" b="0" i="1" smtClean="0">
                            <a:solidFill>
                              <a:srgbClr val="FF0000"/>
                            </a:solidFill>
                            <a:latin typeface="Cambria Math" panose="02040503050406030204" pitchFamily="18" charset="0"/>
                          </a:rPr>
                          <m:t>2</m:t>
                        </m:r>
                      </m:sub>
                      <m:sup>
                        <m:r>
                          <a:rPr lang="en-US" sz="1600" b="0" i="1" smtClean="0">
                            <a:solidFill>
                              <a:srgbClr val="FF0000"/>
                            </a:solidFill>
                            <a:latin typeface="Cambria Math" panose="02040503050406030204" pitchFamily="18" charset="0"/>
                          </a:rPr>
                          <m:t>′</m:t>
                        </m:r>
                      </m:sup>
                    </m:sSubSup>
                    <m:d>
                      <m:dPr>
                        <m:ctrlPr>
                          <a:rPr lang="en-US" sz="1600" b="0" i="1" smtClean="0">
                            <a:solidFill>
                              <a:srgbClr val="FF0000"/>
                            </a:solidFill>
                            <a:latin typeface="Cambria Math" panose="02040503050406030204" pitchFamily="18" charset="0"/>
                          </a:rPr>
                        </m:ctrlPr>
                      </m:dPr>
                      <m:e>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𝑧</m:t>
                            </m:r>
                          </m:e>
                          <m:sub>
                            <m:r>
                              <a:rPr lang="en-US" sz="1600" b="0" i="1" smtClean="0">
                                <a:solidFill>
                                  <a:srgbClr val="FF0000"/>
                                </a:solidFill>
                                <a:latin typeface="Cambria Math" panose="02040503050406030204" pitchFamily="18" charset="0"/>
                              </a:rPr>
                              <m:t>1</m:t>
                            </m:r>
                          </m:sub>
                          <m:sup>
                            <m:r>
                              <a:rPr lang="en-US" sz="1600" b="0" i="1" smtClean="0">
                                <a:solidFill>
                                  <a:srgbClr val="FF0000"/>
                                </a:solidFill>
                                <a:latin typeface="Cambria Math" panose="02040503050406030204" pitchFamily="18" charset="0"/>
                              </a:rPr>
                              <m:t>(2)</m:t>
                            </m:r>
                          </m:sup>
                        </m:sSubSup>
                      </m:e>
                    </m:d>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𝑞</m:t>
                        </m:r>
                      </m:e>
                      <m:sub>
                        <m:r>
                          <a:rPr lang="en-US" sz="1600" b="0" i="1" smtClean="0">
                            <a:solidFill>
                              <a:srgbClr val="FF0000"/>
                            </a:solidFill>
                            <a:latin typeface="Cambria Math" panose="02040503050406030204" pitchFamily="18" charset="0"/>
                          </a:rPr>
                          <m:t>1</m:t>
                        </m:r>
                      </m:sub>
                      <m:sup>
                        <m:r>
                          <a:rPr lang="en-US" sz="1600" b="0" i="1" smtClean="0">
                            <a:solidFill>
                              <a:srgbClr val="FF0000"/>
                            </a:solidFill>
                            <a:latin typeface="Cambria Math" panose="02040503050406030204" pitchFamily="18" charset="0"/>
                          </a:rPr>
                          <m:t>(2)</m:t>
                        </m:r>
                      </m:sup>
                    </m:sSubSup>
                    <m:r>
                      <a:rPr lang="en-US" sz="1600" b="0" i="1" smtClean="0">
                        <a:solidFill>
                          <a:srgbClr val="FF0000"/>
                        </a:solidFill>
                        <a:latin typeface="Cambria Math" panose="02040503050406030204" pitchFamily="18" charset="0"/>
                      </a:rPr>
                      <m:t>+</m:t>
                    </m:r>
                    <m:r>
                      <a:rPr lang="en-US" sz="1600" i="1">
                        <a:solidFill>
                          <a:srgbClr val="FF0000"/>
                        </a:solidFill>
                        <a:latin typeface="Cambria Math" panose="02040503050406030204" pitchFamily="18" charset="0"/>
                      </a:rPr>
                      <m:t>2</m:t>
                    </m:r>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𝑦</m:t>
                                </m:r>
                              </m:e>
                            </m:acc>
                          </m:e>
                          <m:sub>
                            <m:r>
                              <a:rPr lang="en-US" sz="1600" b="0" i="1" smtClean="0">
                                <a:solidFill>
                                  <a:srgbClr val="FF0000"/>
                                </a:solidFill>
                                <a:latin typeface="Cambria Math" panose="02040503050406030204" pitchFamily="18" charset="0"/>
                              </a:rPr>
                              <m:t>2</m:t>
                            </m:r>
                          </m:sub>
                        </m:sSub>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𝑦</m:t>
                            </m:r>
                          </m:e>
                          <m:sub>
                            <m:r>
                              <a:rPr lang="en-US" sz="1600" b="0" i="1" smtClean="0">
                                <a:solidFill>
                                  <a:srgbClr val="FF0000"/>
                                </a:solidFill>
                                <a:latin typeface="Cambria Math" panose="02040503050406030204" pitchFamily="18" charset="0"/>
                              </a:rPr>
                              <m:t>2</m:t>
                            </m:r>
                          </m:sub>
                        </m:sSub>
                      </m:e>
                    </m:d>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b="0" i="1" smtClean="0">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2</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1</m:t>
                            </m:r>
                          </m:sub>
                          <m:sup>
                            <m:r>
                              <a:rPr lang="en-US" sz="1600" i="1">
                                <a:solidFill>
                                  <a:srgbClr val="FF0000"/>
                                </a:solidFill>
                                <a:latin typeface="Cambria Math" panose="02040503050406030204" pitchFamily="18" charset="0"/>
                              </a:rPr>
                              <m:t>(2)</m:t>
                            </m:r>
                          </m:sup>
                        </m:sSubSup>
                      </m:e>
                    </m:d>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𝑞</m:t>
                        </m:r>
                      </m:e>
                      <m:sub>
                        <m:r>
                          <a:rPr lang="en-US" sz="1600" i="1">
                            <a:solidFill>
                              <a:srgbClr val="FF0000"/>
                            </a:solidFill>
                            <a:latin typeface="Cambria Math" panose="02040503050406030204" pitchFamily="18" charset="0"/>
                          </a:rPr>
                          <m:t>1</m:t>
                        </m:r>
                      </m:sub>
                      <m:sup>
                        <m:r>
                          <a:rPr lang="en-US" sz="1600" i="1">
                            <a:solidFill>
                              <a:srgbClr val="FF0000"/>
                            </a:solidFill>
                            <a:latin typeface="Cambria Math" panose="02040503050406030204" pitchFamily="18" charset="0"/>
                          </a:rPr>
                          <m:t>(2)</m:t>
                        </m:r>
                      </m:sup>
                    </m:sSubSup>
                  </m:oMath>
                </a14:m>
                <a:endParaRPr lang="en-US" sz="1600"/>
              </a:p>
              <a:p>
                <a:pPr marL="0" indent="0">
                  <a:buNone/>
                </a:pPr>
                <a:endParaRPr lang="en-US" sz="1600"/>
              </a:p>
              <a:p>
                <a:pPr marL="0" indent="0">
                  <a:buNone/>
                </a:pPr>
                <a:r>
                  <a:rPr lang="en-US" sz="1600"/>
                  <a:t>As is before, this is one equation to change the weight of one weight for layer 2. Similar equations need to be derived for all other weights and biases.</a:t>
                </a:r>
              </a:p>
            </p:txBody>
          </p:sp>
        </mc:Choice>
        <mc:Fallback>
          <p:sp>
            <p:nvSpPr>
              <p:cNvPr id="2" name="Content Placeholder 1">
                <a:extLst>
                  <a:ext uri="{FF2B5EF4-FFF2-40B4-BE49-F238E27FC236}">
                    <a16:creationId xmlns:a16="http://schemas.microsoft.com/office/drawing/2014/main" id="{621D1DD7-CE1F-EDA4-8AAB-2FD40B47F2EB}"/>
                  </a:ext>
                </a:extLst>
              </p:cNvPr>
              <p:cNvSpPr>
                <a:spLocks noGrp="1" noRot="1" noChangeAspect="1" noMove="1" noResize="1" noEditPoints="1" noAdjustHandles="1" noChangeArrowheads="1" noChangeShapeType="1" noTextEdit="1"/>
              </p:cNvSpPr>
              <p:nvPr>
                <p:ph idx="26"/>
              </p:nvPr>
            </p:nvSpPr>
            <p:spPr>
              <a:blipFill>
                <a:blip r:embed="rId2"/>
                <a:stretch>
                  <a:fillRect l="-76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EA13CD5-7CA6-CAAB-2BE2-655DF92AA49B}"/>
              </a:ext>
            </a:extLst>
          </p:cNvPr>
          <p:cNvSpPr>
            <a:spLocks noGrp="1"/>
          </p:cNvSpPr>
          <p:nvPr>
            <p:ph type="title"/>
          </p:nvPr>
        </p:nvSpPr>
        <p:spPr/>
        <p:txBody>
          <a:bodyPr>
            <a:normAutofit/>
          </a:bodyPr>
          <a:lstStyle/>
          <a:p>
            <a:r>
              <a:rPr lang="en-US" dirty="0"/>
              <a:t>Problems with Gradient Descent </a:t>
            </a:r>
          </a:p>
        </p:txBody>
      </p:sp>
      <p:sp>
        <p:nvSpPr>
          <p:cNvPr id="4" name="Rectangle 3">
            <a:extLst>
              <a:ext uri="{FF2B5EF4-FFF2-40B4-BE49-F238E27FC236}">
                <a16:creationId xmlns:a16="http://schemas.microsoft.com/office/drawing/2014/main" id="{9BCC94A3-5CFC-5463-6858-F4DC47E09DE9}"/>
              </a:ext>
            </a:extLst>
          </p:cNvPr>
          <p:cNvSpPr/>
          <p:nvPr/>
        </p:nvSpPr>
        <p:spPr>
          <a:xfrm>
            <a:off x="2425148" y="1913993"/>
            <a:ext cx="789451" cy="4543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48C679C-A5E5-7C84-E937-8969FE42CB42}"/>
              </a:ext>
            </a:extLst>
          </p:cNvPr>
          <p:cNvSpPr/>
          <p:nvPr/>
        </p:nvSpPr>
        <p:spPr>
          <a:xfrm>
            <a:off x="3605538" y="1913993"/>
            <a:ext cx="789451" cy="4543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8A2E3E-694F-57A0-1A15-CA167AEF46A8}"/>
              </a:ext>
            </a:extLst>
          </p:cNvPr>
          <p:cNvSpPr/>
          <p:nvPr/>
        </p:nvSpPr>
        <p:spPr>
          <a:xfrm>
            <a:off x="311598" y="3483392"/>
            <a:ext cx="8430121" cy="94723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Notice that, as we go further back in the network, the change in weight is proportional to multiples of derivatives of the neuronal activation function. The further you are from the output layer, the more multiples you get.</a:t>
            </a:r>
          </a:p>
        </p:txBody>
      </p:sp>
    </p:spTree>
    <p:extLst>
      <p:ext uri="{BB962C8B-B14F-4D97-AF65-F5344CB8AC3E}">
        <p14:creationId xmlns:p14="http://schemas.microsoft.com/office/powerpoint/2010/main" val="3872698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BE2C8999-86CC-98F7-504C-197E3550B926}"/>
                  </a:ext>
                </a:extLst>
              </p:cNvPr>
              <p:cNvSpPr>
                <a:spLocks noGrp="1"/>
              </p:cNvSpPr>
              <p:nvPr>
                <p:ph idx="26"/>
              </p:nvPr>
            </p:nvSpPr>
            <p:spPr>
              <a:xfrm>
                <a:off x="423600" y="905398"/>
                <a:ext cx="5732981" cy="2076341"/>
              </a:xfrm>
            </p:spPr>
            <p:txBody>
              <a:bodyPr/>
              <a:lstStyle/>
              <a:p>
                <a:r>
                  <a:rPr lang="en-US"/>
                  <a:t>As you propagate the error back to change weights at the start of the network, you multiply by more derivatives of activation functions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a:t>.</a:t>
                </a:r>
              </a:p>
              <a:p>
                <a:endParaRPr lang="en-US"/>
              </a:p>
              <a:p>
                <a:r>
                  <a:rPr lang="en-US"/>
                  <a:t>Two issues may occur:</a:t>
                </a:r>
              </a:p>
            </p:txBody>
          </p:sp>
        </mc:Choice>
        <mc:Fallback>
          <p:sp>
            <p:nvSpPr>
              <p:cNvPr id="2" name="Content Placeholder 1">
                <a:extLst>
                  <a:ext uri="{FF2B5EF4-FFF2-40B4-BE49-F238E27FC236}">
                    <a16:creationId xmlns:a16="http://schemas.microsoft.com/office/drawing/2014/main" id="{BE2C8999-86CC-98F7-504C-197E3550B926}"/>
                  </a:ext>
                </a:extLst>
              </p:cNvPr>
              <p:cNvSpPr>
                <a:spLocks noGrp="1" noRot="1" noChangeAspect="1" noMove="1" noResize="1" noEditPoints="1" noAdjustHandles="1" noChangeArrowheads="1" noChangeShapeType="1" noTextEdit="1"/>
              </p:cNvSpPr>
              <p:nvPr>
                <p:ph idx="26"/>
              </p:nvPr>
            </p:nvSpPr>
            <p:spPr>
              <a:xfrm>
                <a:off x="423600" y="905398"/>
                <a:ext cx="5732981" cy="2076341"/>
              </a:xfrm>
              <a:blipFill>
                <a:blip r:embed="rId2"/>
                <a:stretch>
                  <a:fillRect l="-885" t="-1829" b="-3659"/>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BFAEEF5-C9C4-6EB9-A756-C4EF8555175C}"/>
              </a:ext>
            </a:extLst>
          </p:cNvPr>
          <p:cNvSpPr>
            <a:spLocks noGrp="1"/>
          </p:cNvSpPr>
          <p:nvPr>
            <p:ph type="title"/>
          </p:nvPr>
        </p:nvSpPr>
        <p:spPr/>
        <p:txBody>
          <a:bodyPr/>
          <a:lstStyle/>
          <a:p>
            <a:r>
              <a:rPr lang="en-US"/>
              <a:t>The Vanishing Gradient Problem</a:t>
            </a:r>
          </a:p>
        </p:txBody>
      </p:sp>
      <p:pic>
        <p:nvPicPr>
          <p:cNvPr id="5" name="Picture 4" descr="Vanishing Gradient Problem in Deep Learning: Understanding, Intuition, and  Solutions | by Amanatullah | Medium">
            <a:extLst>
              <a:ext uri="{FF2B5EF4-FFF2-40B4-BE49-F238E27FC236}">
                <a16:creationId xmlns:a16="http://schemas.microsoft.com/office/drawing/2014/main" id="{FA01D80C-73EF-FEDC-D8CE-F95BB92CAD86}"/>
              </a:ext>
            </a:extLst>
          </p:cNvPr>
          <p:cNvPicPr>
            <a:picLocks noChangeAspect="1"/>
          </p:cNvPicPr>
          <p:nvPr/>
        </p:nvPicPr>
        <p:blipFill>
          <a:blip r:embed="rId3"/>
          <a:stretch>
            <a:fillRect/>
          </a:stretch>
        </p:blipFill>
        <p:spPr>
          <a:xfrm>
            <a:off x="6156581" y="756720"/>
            <a:ext cx="2862470" cy="1815030"/>
          </a:xfrm>
          <a:prstGeom prst="rect">
            <a:avLst/>
          </a:prstGeom>
        </p:spPr>
      </p:pic>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295C9404-FAE5-053E-4D44-5BFAEB01C616}"/>
                  </a:ext>
                </a:extLst>
              </p:cNvPr>
              <p:cNvSpPr/>
              <p:nvPr/>
            </p:nvSpPr>
            <p:spPr>
              <a:xfrm>
                <a:off x="423600" y="3188058"/>
                <a:ext cx="8430121" cy="9472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itchFamily="2" charset="2"/>
                  <a:buChar char="v"/>
                </a:pPr>
                <a:r>
                  <a:rPr lang="en-US" dirty="0">
                    <a:solidFill>
                      <a:schemeClr val="tx1"/>
                    </a:solidFill>
                  </a:rPr>
                  <a:t>If most </a:t>
                </a:r>
                <a14:m>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ℎ</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𝑧</m:t>
                        </m:r>
                      </m:e>
                    </m:d>
                    <m:r>
                      <a:rPr lang="en-US" b="0" i="1" smtClean="0">
                        <a:solidFill>
                          <a:schemeClr val="tx1"/>
                        </a:solidFill>
                        <a:latin typeface="Cambria Math" panose="02040503050406030204" pitchFamily="18" charset="0"/>
                      </a:rPr>
                      <m:t>|</m:t>
                    </m:r>
                    <m:r>
                      <a:rPr lang="en-US" b="0" i="0" smtClean="0">
                        <a:solidFill>
                          <a:schemeClr val="tx1"/>
                        </a:solidFill>
                        <a:latin typeface="Cambria Math" panose="02040503050406030204" pitchFamily="18" charset="0"/>
                      </a:rPr>
                      <m:t>&lt;1</m:t>
                    </m:r>
                  </m:oMath>
                </a14:m>
                <a:r>
                  <a:rPr lang="en-US" dirty="0">
                    <a:solidFill>
                      <a:schemeClr val="tx1"/>
                    </a:solidFill>
                  </a:rPr>
                  <a:t>: You get a vanishing gradient (update rate is too small)</a:t>
                </a:r>
              </a:p>
              <a:p>
                <a:pPr marL="285750" indent="-285750" algn="ctr">
                  <a:buFont typeface="Wingdings" pitchFamily="2" charset="2"/>
                  <a:buChar char="v"/>
                </a:pPr>
                <a:r>
                  <a:rPr lang="en-US" dirty="0">
                    <a:solidFill>
                      <a:schemeClr val="tx1"/>
                    </a:solidFill>
                  </a:rPr>
                  <a:t>If most </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ℎ</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𝑧</m:t>
                        </m:r>
                      </m:e>
                    </m:d>
                    <m:r>
                      <a:rPr lang="en-US" i="1">
                        <a:solidFill>
                          <a:schemeClr val="tx1"/>
                        </a:solidFill>
                        <a:latin typeface="Cambria Math" panose="02040503050406030204" pitchFamily="18" charset="0"/>
                      </a:rPr>
                      <m:t>|</m:t>
                    </m:r>
                    <m:r>
                      <a:rPr lang="en-US" b="0" i="0" smtClean="0">
                        <a:solidFill>
                          <a:schemeClr val="tx1"/>
                        </a:solidFill>
                        <a:latin typeface="Cambria Math" panose="02040503050406030204" pitchFamily="18" charset="0"/>
                      </a:rPr>
                      <m:t>&gt;</m:t>
                    </m:r>
                    <m:r>
                      <a:rPr lang="en-US">
                        <a:solidFill>
                          <a:schemeClr val="tx1"/>
                        </a:solidFill>
                        <a:latin typeface="Cambria Math" panose="02040503050406030204" pitchFamily="18" charset="0"/>
                      </a:rPr>
                      <m:t>1</m:t>
                    </m:r>
                  </m:oMath>
                </a14:m>
                <a:r>
                  <a:rPr lang="en-US" dirty="0">
                    <a:solidFill>
                      <a:schemeClr val="tx1"/>
                    </a:solidFill>
                  </a:rPr>
                  <a:t>: You get an exploding gradient (update rate is too large). Large initial weights can also lead to exploding gradient.</a:t>
                </a:r>
              </a:p>
              <a:p>
                <a:pPr algn="ctr"/>
                <a:r>
                  <a:rPr lang="en-US" dirty="0">
                    <a:solidFill>
                      <a:schemeClr val="tx1"/>
                    </a:solidFill>
                  </a:rPr>
                  <a:t> </a:t>
                </a:r>
              </a:p>
            </p:txBody>
          </p:sp>
        </mc:Choice>
        <mc:Fallback>
          <p:sp>
            <p:nvSpPr>
              <p:cNvPr id="6" name="Rectangle 5">
                <a:extLst>
                  <a:ext uri="{FF2B5EF4-FFF2-40B4-BE49-F238E27FC236}">
                    <a16:creationId xmlns:a16="http://schemas.microsoft.com/office/drawing/2014/main" id="{295C9404-FAE5-053E-4D44-5BFAEB01C616}"/>
                  </a:ext>
                </a:extLst>
              </p:cNvPr>
              <p:cNvSpPr>
                <a:spLocks noRot="1" noChangeAspect="1" noMove="1" noResize="1" noEditPoints="1" noAdjustHandles="1" noChangeArrowheads="1" noChangeShapeType="1" noTextEdit="1"/>
              </p:cNvSpPr>
              <p:nvPr/>
            </p:nvSpPr>
            <p:spPr>
              <a:xfrm>
                <a:off x="423600" y="3188058"/>
                <a:ext cx="8430121" cy="947233"/>
              </a:xfrm>
              <a:prstGeom prst="rect">
                <a:avLst/>
              </a:prstGeom>
              <a:blipFill>
                <a:blip r:embed="rId4"/>
                <a:stretch>
                  <a:fillRect t="-16000"/>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41163550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8FC8E443-16EC-0E70-77A4-0988D1925E26}"/>
                  </a:ext>
                </a:extLst>
              </p:cNvPr>
              <p:cNvSpPr>
                <a:spLocks noGrp="1"/>
              </p:cNvSpPr>
              <p:nvPr>
                <p:ph idx="26"/>
              </p:nvPr>
            </p:nvSpPr>
            <p:spPr>
              <a:xfrm>
                <a:off x="231228" y="905398"/>
                <a:ext cx="5658417" cy="3650177"/>
              </a:xfrm>
            </p:spPr>
            <p:txBody>
              <a:bodyPr/>
              <a:lstStyle/>
              <a:p>
                <a:r>
                  <a:rPr lang="en-US" dirty="0"/>
                  <a:t>If the activation function is a step function: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=0</m:t>
                    </m:r>
                  </m:oMath>
                </a14:m>
                <a:r>
                  <a:rPr lang="en-US" dirty="0"/>
                  <a:t>. We can’t use gradient descent </a:t>
                </a:r>
                <a:r>
                  <a:rPr lang="en-US" dirty="0">
                    <a:sym typeface="Wingdings" pitchFamily="2" charset="2"/>
                  </a:rPr>
                  <a:t></a:t>
                </a:r>
              </a:p>
              <a:p>
                <a:endParaRPr lang="en-US" dirty="0">
                  <a:sym typeface="Wingdings" pitchFamily="2" charset="2"/>
                </a:endParaRPr>
              </a:p>
              <a:p>
                <a:r>
                  <a:rPr lang="en-US" dirty="0">
                    <a:sym typeface="Wingdings" pitchFamily="2" charset="2"/>
                  </a:rPr>
                  <a:t>If the activation function is sigmoidal, </a:t>
                </a:r>
                <a14:m>
                  <m:oMath xmlns:m="http://schemas.openxmlformats.org/officeDocument/2006/math">
                    <m:r>
                      <a:rPr lang="en-US" dirty="0">
                        <a:latin typeface="Cambria Math" panose="02040503050406030204" pitchFamily="18" charset="0"/>
                        <a:sym typeface="Wingdings" pitchFamily="2" charset="2"/>
                      </a:rPr>
                      <m:t>|</m:t>
                    </m:r>
                    <m:sSup>
                      <m:sSupPr>
                        <m:ctrlPr>
                          <a:rPr lang="en-US" i="1">
                            <a:latin typeface="Cambria Math" panose="02040503050406030204" pitchFamily="18" charset="0"/>
                          </a:rPr>
                        </m:ctrlPr>
                      </m:sSupPr>
                      <m:e>
                        <m:r>
                          <a:rPr lang="en-US" i="1">
                            <a:latin typeface="Cambria Math" panose="02040503050406030204" pitchFamily="18" charset="0"/>
                          </a:rPr>
                          <m:t>ℎ</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𝑧</m:t>
                        </m:r>
                      </m:e>
                    </m:d>
                    <m:r>
                      <a:rPr lang="en-US" b="0" i="1" smtClean="0">
                        <a:latin typeface="Cambria Math" panose="02040503050406030204" pitchFamily="18" charset="0"/>
                      </a:rPr>
                      <m:t>|&lt;1</m:t>
                    </m:r>
                  </m:oMath>
                </a14:m>
                <a:r>
                  <a:rPr lang="en-US" dirty="0"/>
                  <a:t> and we get diminishing gradient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can’t use sigmoidal activations for very deep neural networks.</a:t>
                </a:r>
              </a:p>
              <a:p>
                <a:endParaRPr lang="en-US" dirty="0"/>
              </a:p>
              <a:p>
                <a:r>
                  <a:rPr lang="en-US" dirty="0"/>
                  <a:t>If the activation function is </a:t>
                </a:r>
                <a:r>
                  <a:rPr lang="en-US" dirty="0" err="1"/>
                  <a:t>ReLU</a:t>
                </a:r>
                <a:r>
                  <a:rPr lang="en-US" dirty="0"/>
                  <a:t>, its derivative is either 0 or 1 (discontinuous at z = 0). </a:t>
                </a:r>
                <a14:m>
                  <m:oMath xmlns:m="http://schemas.openxmlformats.org/officeDocument/2006/math">
                    <m:r>
                      <a:rPr lang="en-US" i="1">
                        <a:latin typeface="Cambria Math" panose="02040503050406030204" pitchFamily="18" charset="0"/>
                        <a:ea typeface="Cambria Math" panose="02040503050406030204" pitchFamily="18" charset="0"/>
                      </a:rPr>
                      <m:t>→ </m:t>
                    </m:r>
                  </m:oMath>
                </a14:m>
                <a:r>
                  <a:rPr lang="en-US" dirty="0"/>
                  <a:t>Potentially no vanishing or explosion!</a:t>
                </a:r>
              </a:p>
            </p:txBody>
          </p:sp>
        </mc:Choice>
        <mc:Fallback>
          <p:sp>
            <p:nvSpPr>
              <p:cNvPr id="2" name="Content Placeholder 1">
                <a:extLst>
                  <a:ext uri="{FF2B5EF4-FFF2-40B4-BE49-F238E27FC236}">
                    <a16:creationId xmlns:a16="http://schemas.microsoft.com/office/drawing/2014/main" id="{8FC8E443-16EC-0E70-77A4-0988D1925E26}"/>
                  </a:ext>
                </a:extLst>
              </p:cNvPr>
              <p:cNvSpPr>
                <a:spLocks noGrp="1" noRot="1" noChangeAspect="1" noMove="1" noResize="1" noEditPoints="1" noAdjustHandles="1" noChangeArrowheads="1" noChangeShapeType="1" noTextEdit="1"/>
              </p:cNvSpPr>
              <p:nvPr>
                <p:ph idx="26"/>
              </p:nvPr>
            </p:nvSpPr>
            <p:spPr>
              <a:xfrm>
                <a:off x="231228" y="905398"/>
                <a:ext cx="5658417" cy="3650177"/>
              </a:xfrm>
              <a:blipFill>
                <a:blip r:embed="rId2"/>
                <a:stretch>
                  <a:fillRect l="-897" t="-1042" b="-451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0DE4F2C-3DD9-E600-55FE-23019D1849CE}"/>
              </a:ext>
            </a:extLst>
          </p:cNvPr>
          <p:cNvSpPr>
            <a:spLocks noGrp="1"/>
          </p:cNvSpPr>
          <p:nvPr>
            <p:ph type="title"/>
          </p:nvPr>
        </p:nvSpPr>
        <p:spPr/>
        <p:txBody>
          <a:bodyPr/>
          <a:lstStyle/>
          <a:p>
            <a:r>
              <a:rPr lang="en-US"/>
              <a:t>The Vanishing Gradient Problem</a:t>
            </a:r>
          </a:p>
        </p:txBody>
      </p:sp>
      <p:pic>
        <p:nvPicPr>
          <p:cNvPr id="4" name="Picture 3" descr="Understanding the Vanishing Gradient Problem and the Role of Activation  Functions | by İlyurek Kılıç | Medium">
            <a:extLst>
              <a:ext uri="{FF2B5EF4-FFF2-40B4-BE49-F238E27FC236}">
                <a16:creationId xmlns:a16="http://schemas.microsoft.com/office/drawing/2014/main" id="{D7CE6460-6891-564F-F13A-6D95F97350FE}"/>
              </a:ext>
            </a:extLst>
          </p:cNvPr>
          <p:cNvPicPr>
            <a:picLocks noChangeAspect="1"/>
          </p:cNvPicPr>
          <p:nvPr/>
        </p:nvPicPr>
        <p:blipFill>
          <a:blip r:embed="rId3"/>
          <a:stretch>
            <a:fillRect/>
          </a:stretch>
        </p:blipFill>
        <p:spPr>
          <a:xfrm>
            <a:off x="6112071" y="1714834"/>
            <a:ext cx="2348462" cy="1488406"/>
          </a:xfrm>
          <a:prstGeom prst="rect">
            <a:avLst/>
          </a:prstGeom>
        </p:spPr>
      </p:pic>
      <p:pic>
        <p:nvPicPr>
          <p:cNvPr id="5" name="Picture 4" descr="relu derivative | kawahara.ca">
            <a:extLst>
              <a:ext uri="{FF2B5EF4-FFF2-40B4-BE49-F238E27FC236}">
                <a16:creationId xmlns:a16="http://schemas.microsoft.com/office/drawing/2014/main" id="{9C01BCA2-9296-880C-E63F-97A380A4BCB2}"/>
              </a:ext>
            </a:extLst>
          </p:cNvPr>
          <p:cNvPicPr>
            <a:picLocks noChangeAspect="1"/>
          </p:cNvPicPr>
          <p:nvPr/>
        </p:nvPicPr>
        <p:blipFill>
          <a:blip r:embed="rId4"/>
          <a:stretch>
            <a:fillRect/>
          </a:stretch>
        </p:blipFill>
        <p:spPr>
          <a:xfrm>
            <a:off x="6406480" y="3217793"/>
            <a:ext cx="1740877" cy="1393549"/>
          </a:xfrm>
          <a:prstGeom prst="rect">
            <a:avLst/>
          </a:prstGeom>
        </p:spPr>
      </p:pic>
    </p:spTree>
    <p:extLst>
      <p:ext uri="{BB962C8B-B14F-4D97-AF65-F5344CB8AC3E}">
        <p14:creationId xmlns:p14="http://schemas.microsoft.com/office/powerpoint/2010/main" val="4117630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0AB3A-F019-217B-8483-697E6E737704}"/>
              </a:ext>
            </a:extLst>
          </p:cNvPr>
          <p:cNvSpPr>
            <a:spLocks noGrp="1"/>
          </p:cNvSpPr>
          <p:nvPr>
            <p:ph idx="26"/>
          </p:nvPr>
        </p:nvSpPr>
        <p:spPr>
          <a:xfrm>
            <a:off x="423601" y="591284"/>
            <a:ext cx="6363406" cy="3964291"/>
          </a:xfrm>
        </p:spPr>
        <p:txBody>
          <a:bodyPr/>
          <a:lstStyle/>
          <a:p>
            <a:r>
              <a:rPr lang="en-US" dirty="0"/>
              <a:t>If the inputs to a neuron with </a:t>
            </a:r>
            <a:r>
              <a:rPr lang="en-US" dirty="0" err="1"/>
              <a:t>ReLU</a:t>
            </a:r>
            <a:r>
              <a:rPr lang="en-US" dirty="0"/>
              <a:t> activation are negative, the </a:t>
            </a:r>
            <a:r>
              <a:rPr lang="en-US" dirty="0" err="1"/>
              <a:t>ReLU</a:t>
            </a:r>
            <a:r>
              <a:rPr lang="en-US" dirty="0"/>
              <a:t> neuron turns off and its gradient never updates …</a:t>
            </a:r>
          </a:p>
          <a:p>
            <a:endParaRPr lang="en-US" dirty="0"/>
          </a:p>
          <a:p>
            <a:r>
              <a:rPr lang="en-US" dirty="0"/>
              <a:t>Solutions: </a:t>
            </a:r>
          </a:p>
          <a:p>
            <a:pPr>
              <a:buFontTx/>
              <a:buChar char="-"/>
            </a:pPr>
            <a:r>
              <a:rPr lang="en-US" dirty="0"/>
              <a:t>Initialize all neurons such that their output starts positive (start with some positive biases).</a:t>
            </a:r>
          </a:p>
          <a:p>
            <a:pPr>
              <a:buFontTx/>
              <a:buChar char="-"/>
            </a:pPr>
            <a:r>
              <a:rPr lang="en-US" dirty="0"/>
              <a:t>Choose weights to be relatively small initially (random selection from a normal distribution with small mean and small standard deviation)</a:t>
            </a:r>
          </a:p>
          <a:p>
            <a:pPr>
              <a:buFontTx/>
              <a:buChar char="-"/>
            </a:pPr>
            <a:r>
              <a:rPr lang="en-US" dirty="0"/>
              <a:t>Try different </a:t>
            </a:r>
            <a:r>
              <a:rPr lang="en-US" dirty="0" err="1"/>
              <a:t>ReLU</a:t>
            </a:r>
            <a:r>
              <a:rPr lang="en-US" dirty="0"/>
              <a:t> functions like Leaky </a:t>
            </a:r>
            <a:r>
              <a:rPr lang="en-US" dirty="0" err="1"/>
              <a:t>ReLU</a:t>
            </a:r>
            <a:r>
              <a:rPr lang="en-US" dirty="0"/>
              <a:t> or ELU (Exponential Linear Unit)</a:t>
            </a:r>
          </a:p>
        </p:txBody>
      </p:sp>
      <p:sp>
        <p:nvSpPr>
          <p:cNvPr id="3" name="Title 2">
            <a:extLst>
              <a:ext uri="{FF2B5EF4-FFF2-40B4-BE49-F238E27FC236}">
                <a16:creationId xmlns:a16="http://schemas.microsoft.com/office/drawing/2014/main" id="{3AC90495-F120-FB42-DCB1-81CA679AC944}"/>
              </a:ext>
            </a:extLst>
          </p:cNvPr>
          <p:cNvSpPr>
            <a:spLocks noGrp="1"/>
          </p:cNvSpPr>
          <p:nvPr>
            <p:ph type="title"/>
          </p:nvPr>
        </p:nvSpPr>
        <p:spPr/>
        <p:txBody>
          <a:bodyPr/>
          <a:lstStyle/>
          <a:p>
            <a:r>
              <a:rPr lang="en-US"/>
              <a:t>The Dying </a:t>
            </a:r>
            <a:r>
              <a:rPr lang="en-US" err="1"/>
              <a:t>ReLU</a:t>
            </a:r>
            <a:r>
              <a:rPr lang="en-US"/>
              <a:t> Problem</a:t>
            </a:r>
          </a:p>
        </p:txBody>
      </p:sp>
      <p:pic>
        <p:nvPicPr>
          <p:cNvPr id="4" name="Picture 3" descr="relu derivative | kawahara.ca">
            <a:extLst>
              <a:ext uri="{FF2B5EF4-FFF2-40B4-BE49-F238E27FC236}">
                <a16:creationId xmlns:a16="http://schemas.microsoft.com/office/drawing/2014/main" id="{46432F7B-4C68-CD55-7EDB-5DCC4E3F8CAA}"/>
              </a:ext>
            </a:extLst>
          </p:cNvPr>
          <p:cNvPicPr>
            <a:picLocks noChangeAspect="1"/>
          </p:cNvPicPr>
          <p:nvPr/>
        </p:nvPicPr>
        <p:blipFill>
          <a:blip r:embed="rId2"/>
          <a:stretch>
            <a:fillRect/>
          </a:stretch>
        </p:blipFill>
        <p:spPr>
          <a:xfrm>
            <a:off x="7031225" y="912468"/>
            <a:ext cx="1740877" cy="1393549"/>
          </a:xfrm>
          <a:prstGeom prst="rect">
            <a:avLst/>
          </a:prstGeom>
        </p:spPr>
      </p:pic>
      <p:pic>
        <p:nvPicPr>
          <p:cNvPr id="5" name="Picture 4" descr="What is the &quot;dead ReLU&quot; problem and, why is it an issue in Neural Network  training? - AIML.com">
            <a:extLst>
              <a:ext uri="{FF2B5EF4-FFF2-40B4-BE49-F238E27FC236}">
                <a16:creationId xmlns:a16="http://schemas.microsoft.com/office/drawing/2014/main" id="{24612DE2-7731-EB4B-EDF0-B3F65E5D8C5E}"/>
              </a:ext>
            </a:extLst>
          </p:cNvPr>
          <p:cNvPicPr>
            <a:picLocks noChangeAspect="1"/>
          </p:cNvPicPr>
          <p:nvPr/>
        </p:nvPicPr>
        <p:blipFill>
          <a:blip r:embed="rId3"/>
          <a:stretch>
            <a:fillRect/>
          </a:stretch>
        </p:blipFill>
        <p:spPr>
          <a:xfrm>
            <a:off x="6894059" y="2571750"/>
            <a:ext cx="2015208" cy="1562573"/>
          </a:xfrm>
          <a:prstGeom prst="rect">
            <a:avLst/>
          </a:prstGeom>
        </p:spPr>
      </p:pic>
    </p:spTree>
    <p:extLst>
      <p:ext uri="{BB962C8B-B14F-4D97-AF65-F5344CB8AC3E}">
        <p14:creationId xmlns:p14="http://schemas.microsoft.com/office/powerpoint/2010/main" val="1120154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BAF586-84B5-247A-61D9-B53B82E4CAB3}"/>
              </a:ext>
            </a:extLst>
          </p:cNvPr>
          <p:cNvSpPr>
            <a:spLocks noGrp="1"/>
          </p:cNvSpPr>
          <p:nvPr>
            <p:ph idx="26"/>
          </p:nvPr>
        </p:nvSpPr>
        <p:spPr/>
        <p:txBody>
          <a:bodyPr/>
          <a:lstStyle/>
          <a:p>
            <a:r>
              <a:rPr lang="en-US" dirty="0"/>
              <a:t>Neural Networks perform predictions by moving information from inputs through hidden layers (sequentially) into the output layer. Feedforward.</a:t>
            </a:r>
          </a:p>
          <a:p>
            <a:r>
              <a:rPr lang="en-US" dirty="0"/>
              <a:t>Neural Networks learn using gradient descent by propagating error backward from output layer into the input layer.</a:t>
            </a:r>
          </a:p>
          <a:p>
            <a:r>
              <a:rPr lang="en-US" dirty="0"/>
              <a:t>Learning process depends on network architecture and activation functions.</a:t>
            </a:r>
          </a:p>
          <a:p>
            <a:r>
              <a:rPr lang="en-US" dirty="0"/>
              <a:t>Some activations functions may have issues:</a:t>
            </a:r>
          </a:p>
          <a:p>
            <a:pPr lvl="1">
              <a:buFontTx/>
              <a:buChar char="-"/>
            </a:pPr>
            <a:r>
              <a:rPr lang="en-US" dirty="0"/>
              <a:t>Sigmoidal activation: Vanishing gradient.</a:t>
            </a:r>
          </a:p>
          <a:p>
            <a:pPr lvl="1">
              <a:buFontTx/>
              <a:buChar char="-"/>
            </a:pPr>
            <a:r>
              <a:rPr lang="en-US" dirty="0" err="1"/>
              <a:t>ReLU</a:t>
            </a:r>
            <a:r>
              <a:rPr lang="en-US" dirty="0"/>
              <a:t>: Dead </a:t>
            </a:r>
            <a:r>
              <a:rPr lang="en-US" dirty="0" err="1"/>
              <a:t>ReLU</a:t>
            </a:r>
            <a:r>
              <a:rPr lang="en-US" dirty="0"/>
              <a:t> neurons</a:t>
            </a:r>
          </a:p>
        </p:txBody>
      </p:sp>
      <p:sp>
        <p:nvSpPr>
          <p:cNvPr id="3" name="Title 2">
            <a:extLst>
              <a:ext uri="{FF2B5EF4-FFF2-40B4-BE49-F238E27FC236}">
                <a16:creationId xmlns:a16="http://schemas.microsoft.com/office/drawing/2014/main" id="{39B1014B-EA22-22C3-B901-20B1BD2DFECA}"/>
              </a:ext>
            </a:extLst>
          </p:cNvPr>
          <p:cNvSpPr>
            <a:spLocks noGrp="1"/>
          </p:cNvSpPr>
          <p:nvPr>
            <p:ph type="title"/>
          </p:nvPr>
        </p:nvSpPr>
        <p:spPr/>
        <p:txBody>
          <a:bodyPr/>
          <a:lstStyle/>
          <a:p>
            <a:r>
              <a:rPr lang="en-US" dirty="0"/>
              <a:t>Conclusions</a:t>
            </a:r>
          </a:p>
        </p:txBody>
      </p:sp>
    </p:spTree>
    <p:extLst>
      <p:ext uri="{BB962C8B-B14F-4D97-AF65-F5344CB8AC3E}">
        <p14:creationId xmlns:p14="http://schemas.microsoft.com/office/powerpoint/2010/main" val="42699596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E27A2C-2561-1778-9B2E-3E5735A5D09B}"/>
              </a:ext>
            </a:extLst>
          </p:cNvPr>
          <p:cNvSpPr>
            <a:spLocks noGrp="1"/>
          </p:cNvSpPr>
          <p:nvPr>
            <p:ph idx="26"/>
          </p:nvPr>
        </p:nvSpPr>
        <p:spPr/>
        <p:txBody>
          <a:bodyPr/>
          <a:lstStyle/>
          <a:p>
            <a:r>
              <a:rPr lang="en-US" dirty="0"/>
              <a:t>Materials from this handout used Machine Learning, A First Course for Engineers and Scientists by Lindholm et. al (March 4</a:t>
            </a:r>
            <a:r>
              <a:rPr lang="en-US" baseline="30000" dirty="0"/>
              <a:t>th</a:t>
            </a:r>
            <a:r>
              <a:rPr lang="en-US" dirty="0"/>
              <a:t>, 2026 version), section 6.2 as a reference. Access to this document is free at the publishers’ GitHub page. </a:t>
            </a:r>
          </a:p>
          <a:p>
            <a:r>
              <a:rPr lang="en-US" dirty="0"/>
              <a:t>The following was also used for materials: </a:t>
            </a:r>
            <a:r>
              <a:rPr lang="en-US" i="1" dirty="0"/>
              <a:t>Artificial Intelligence: A Modern Approach</a:t>
            </a:r>
            <a:r>
              <a:rPr lang="en-US" dirty="0"/>
              <a:t>, Russel and Norvig, 4</a:t>
            </a:r>
            <a:r>
              <a:rPr lang="en-US" baseline="30000" dirty="0"/>
              <a:t>th</a:t>
            </a:r>
            <a:r>
              <a:rPr lang="en-US" dirty="0"/>
              <a:t> edition, section 21.1.</a:t>
            </a:r>
          </a:p>
          <a:p>
            <a:r>
              <a:rPr lang="en-US" i="1" dirty="0"/>
              <a:t>Data-Driven Science and Engineering: Machine Learning, Dynamical Systems and Control</a:t>
            </a:r>
            <a:r>
              <a:rPr lang="en-US" dirty="0"/>
              <a:t>, Brunton &amp; Kutz, second edition. Section 6.3-6.4.</a:t>
            </a:r>
          </a:p>
          <a:p>
            <a:endParaRPr lang="en-US" dirty="0"/>
          </a:p>
        </p:txBody>
      </p:sp>
      <p:sp>
        <p:nvSpPr>
          <p:cNvPr id="3" name="Title 2">
            <a:extLst>
              <a:ext uri="{FF2B5EF4-FFF2-40B4-BE49-F238E27FC236}">
                <a16:creationId xmlns:a16="http://schemas.microsoft.com/office/drawing/2014/main" id="{4DA13E2E-A912-09EE-0B68-D5DDBBF5B218}"/>
              </a:ext>
            </a:extLst>
          </p:cNvPr>
          <p:cNvSpPr>
            <a:spLocks noGrp="1"/>
          </p:cNvSpPr>
          <p:nvPr>
            <p:ph type="title"/>
          </p:nvPr>
        </p:nvSpPr>
        <p:spPr/>
        <p:txBody>
          <a:bodyPr/>
          <a:lstStyle/>
          <a:p>
            <a:r>
              <a:rPr lang="en-US"/>
              <a:t>References</a:t>
            </a:r>
          </a:p>
        </p:txBody>
      </p:sp>
    </p:spTree>
    <p:extLst>
      <p:ext uri="{BB962C8B-B14F-4D97-AF65-F5344CB8AC3E}">
        <p14:creationId xmlns:p14="http://schemas.microsoft.com/office/powerpoint/2010/main" val="2276568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76C07-D41A-AEFA-B42E-48C3DBC675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53156F-1A2F-8505-D207-92180BBBDDAB}"/>
              </a:ext>
            </a:extLst>
          </p:cNvPr>
          <p:cNvSpPr>
            <a:spLocks noGrp="1"/>
          </p:cNvSpPr>
          <p:nvPr>
            <p:ph type="title"/>
          </p:nvPr>
        </p:nvSpPr>
        <p:spPr/>
        <p:txBody>
          <a:bodyPr/>
          <a:lstStyle/>
          <a:p>
            <a:r>
              <a:rPr lang="en-US"/>
              <a:t>Extra notes</a:t>
            </a:r>
          </a:p>
        </p:txBody>
      </p:sp>
      <p:grpSp>
        <p:nvGrpSpPr>
          <p:cNvPr id="4" name="Group 3">
            <a:extLst>
              <a:ext uri="{FF2B5EF4-FFF2-40B4-BE49-F238E27FC236}">
                <a16:creationId xmlns:a16="http://schemas.microsoft.com/office/drawing/2014/main" id="{6B7336C1-5220-AC4A-445F-99497361E25F}"/>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870EE114-1063-253B-FB2C-BFA39DC3EF20}"/>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EFBB1F5-906F-0250-0D16-77C4DC5D9A16}"/>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CF31AFC-1484-5785-3E87-671DAC523D16}"/>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086074F-80CB-D98B-5737-52C190287FFE}"/>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965DB92-0732-96C5-B36D-D7853A6F6C83}"/>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003FED1-AAB1-F690-CB81-9E9A6B7731BE}"/>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BD5393A-A68F-5765-F267-E302B784B23C}"/>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35437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CP_PPT_STANDARD_V1" val="bFGnCw1I"/>
  <p:tag name="ARTICULATE_PROJECT_OPEN" val="0"/>
  <p:tag name="ARTICULATE_SLIDE_COUNT" val="6"/>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P_ppt_standard_v1">
  <a:themeElements>
    <a:clrScheme name="Cal Poly Theme 1">
      <a:dk1>
        <a:srgbClr val="000000"/>
      </a:dk1>
      <a:lt1>
        <a:sysClr val="window" lastClr="FFFFFF"/>
      </a:lt1>
      <a:dk2>
        <a:srgbClr val="143B1E"/>
      </a:dk2>
      <a:lt2>
        <a:srgbClr val="EEECE1"/>
      </a:lt2>
      <a:accent1>
        <a:srgbClr val="857756"/>
      </a:accent1>
      <a:accent2>
        <a:srgbClr val="7E7462"/>
      </a:accent2>
      <a:accent3>
        <a:srgbClr val="3B3523"/>
      </a:accent3>
      <a:accent4>
        <a:srgbClr val="4F512F"/>
      </a:accent4>
      <a:accent5>
        <a:srgbClr val="273015"/>
      </a:accent5>
      <a:accent6>
        <a:srgbClr val="C6C0B7"/>
      </a:accent6>
      <a:hlink>
        <a:srgbClr val="857756"/>
      </a:hlink>
      <a:folHlink>
        <a:srgbClr val="7E7462"/>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a:spPr>
      <a:bodyPr vert="horz" wrap="square" lIns="91440" tIns="45720" rIns="91440" bIns="45720" numCol="1" anchor="t" anchorCtr="0" compatLnSpc="1">
        <a:prstTxWarp prst="textNoShape">
          <a:avLst/>
        </a:prstTxWarp>
        <a:normAutofit/>
      </a:bodyPr>
      <a:lstStyle>
        <a:defPPr>
          <a:defRPr sz="2800" dirty="0" smtClean="0">
            <a:solidFill>
              <a:srgbClr val="29551A"/>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1188</Words>
  <Application>Microsoft Macintosh PowerPoint</Application>
  <PresentationFormat>On-screen Show (16:9)</PresentationFormat>
  <Paragraphs>137</Paragraphs>
  <Slides>25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Cambria Math</vt:lpstr>
      <vt:lpstr>Palatino Linotype</vt:lpstr>
      <vt:lpstr>Wingdings</vt:lpstr>
      <vt:lpstr>CP_ppt_standard_v1</vt:lpstr>
      <vt:lpstr>Introduction to Neural Networks (2): Feedforward and Backpropagation</vt:lpstr>
      <vt:lpstr>Overview</vt:lpstr>
      <vt:lpstr>Information Processing in NN</vt:lpstr>
      <vt:lpstr>Learning from Mistakes</vt:lpstr>
      <vt:lpstr>Error Propagation</vt:lpstr>
      <vt:lpstr>Error Propagation</vt:lpstr>
      <vt:lpstr>Gradient Descent</vt:lpstr>
      <vt:lpstr>Gradient Descent</vt:lpstr>
      <vt:lpstr>Extra notes</vt:lpstr>
      <vt:lpstr>Extra notes</vt:lpstr>
      <vt:lpstr>Updating one weight</vt:lpstr>
      <vt:lpstr>Updating other weights in the output layer</vt:lpstr>
      <vt:lpstr>Matrix Form Equation (Updating weights in last layer)</vt:lpstr>
      <vt:lpstr>Matrix Form Equation (Updating biases in last layer)</vt:lpstr>
      <vt:lpstr>Propagating the Error Further Back</vt:lpstr>
      <vt:lpstr>Propagating the Error Further Back</vt:lpstr>
      <vt:lpstr>Propagating the Error Further Back</vt:lpstr>
      <vt:lpstr>Updating all weights in Layer 2 </vt:lpstr>
      <vt:lpstr>Problems with Gradient Descent </vt:lpstr>
      <vt:lpstr>The Vanishing Gradient Problem</vt:lpstr>
      <vt:lpstr>The Vanishing Gradient Problem</vt:lpstr>
      <vt:lpstr>The Dying ReLU Problem</vt:lpstr>
      <vt:lpstr>Conclusions</vt:lpstr>
      <vt:lpstr>References</vt:lpstr>
      <vt:lpstr>Extra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AI and Machine Learning?</dc:title>
  <cp:lastModifiedBy>Mohammad Hasan</cp:lastModifiedBy>
  <cp:revision>11</cp:revision>
  <dcterms:modified xsi:type="dcterms:W3CDTF">2026-10-02T00:32:20Z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118AC62C-6063-445C-83E0-64D5A29EA3D4</vt:lpwstr>
  </property>
  <property fmtid="{D5CDD505-2E9C-101B-9397-08002B2CF9AE}" pid="3" name="ArticulatePath">
    <vt:lpwstr>Unconscious Bias in the Engineering Faculty Search Process_v3</vt:lpwstr>
  </property>
</Properties>
</file>