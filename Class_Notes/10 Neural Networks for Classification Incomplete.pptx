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17"/>
  </p:notesMasterIdLst>
  <p:sldIdLst>
    <p:sldId id="315" r:id="rId2"/>
    <p:sldId id="343" r:id="rId3"/>
    <p:sldId id="365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62" r:id="rId15"/>
    <p:sldId id="373" r:id="rId16"/>
  </p:sldIdLst>
  <p:sldSz cx="9144000" cy="5143500" type="screen16x9"/>
  <p:notesSz cx="9236075" cy="7010400"/>
  <p:custDataLst>
    <p:tags r:id="rId1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284"/>
    <a:srgbClr val="8B92DE"/>
    <a:srgbClr val="EAAB00"/>
    <a:srgbClr val="C6C0B7"/>
    <a:srgbClr val="3B3523"/>
    <a:srgbClr val="F0EED7"/>
    <a:srgbClr val="857756"/>
    <a:srgbClr val="7E7462"/>
    <a:srgbClr val="273015"/>
    <a:srgbClr val="4F5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71202"/>
  </p:normalViewPr>
  <p:slideViewPr>
    <p:cSldViewPr snapToGrid="0">
      <p:cViewPr varScale="1">
        <p:scale>
          <a:sx n="117" d="100"/>
          <a:sy n="117" d="100"/>
        </p:scale>
        <p:origin x="138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Overfitting: training performance exceeds results on new cases.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Data leakage: test information enters training or model selection.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Distribution shift: future inputs differ from the training data.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606060"/>
                </a:solidFill>
                <a:latin typeface="Arial"/>
                <a:ea typeface="Arial"/>
                <a:cs typeface="Arial"/>
              </a:rPr>
              <a:t>Label quality and calibration affect the meaning of predictions.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44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10/11/26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10/11/26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4014441" y="4788791"/>
            <a:ext cx="4181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ME 4452 Machine Learning in Mechanical Engineering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10/11/26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10/11/26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10/11/26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10/11/26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10/11/26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10/11/26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10/11/26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10/11/26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10/11/26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10/11/26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10/11/26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10/11/26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10/11/26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10/11/26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10/11/26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10/11/26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hyperlink" Target="https://medium.com/@Suraj_Yadav/in-depth-knowledge-of-convolutional-neural-networks-b4bfff8145ab" TargetMode="Externa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Instructor: Mohammad Hasan</a:t>
            </a:r>
          </a:p>
          <a:p>
            <a:r>
              <a:rPr lang="en-US" sz="1600" dirty="0"/>
              <a:t>Office: 13-240</a:t>
            </a:r>
          </a:p>
          <a:p>
            <a:r>
              <a:rPr lang="en-US" sz="1600" dirty="0"/>
              <a:t>10/12/26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 dirty="0"/>
              <a:t>Neural Networks for Classification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Using Neural Networks for Classification</a:t>
            </a:r>
          </a:p>
          <a:p>
            <a:endParaRPr lang="en-US" dirty="0"/>
          </a:p>
          <a:p>
            <a:r>
              <a:rPr lang="en-US" dirty="0"/>
              <a:t>Classification Metrics</a:t>
            </a:r>
          </a:p>
          <a:p>
            <a:endParaRPr lang="en-US" dirty="0"/>
          </a:p>
          <a:p>
            <a:r>
              <a:rPr lang="en-US" dirty="0"/>
              <a:t>Classification Challenges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63FC08-569F-5666-8E52-C78CDE71A1FF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698665"/>
            <a:ext cx="8318119" cy="3968751"/>
          </a:xfrm>
        </p:spPr>
        <p:txBody>
          <a:bodyPr/>
          <a:lstStyle/>
          <a:p>
            <a:r>
              <a:rPr lang="en-US" dirty="0"/>
              <a:t>We have seen the general workings of a neural network:</a:t>
            </a:r>
          </a:p>
          <a:p>
            <a:pPr>
              <a:buFontTx/>
              <a:buChar char="-"/>
            </a:pPr>
            <a:r>
              <a:rPr lang="en-US" dirty="0"/>
              <a:t>Prediction: data flows forward</a:t>
            </a:r>
          </a:p>
          <a:p>
            <a:pPr>
              <a:buFontTx/>
              <a:buChar char="-"/>
            </a:pPr>
            <a:r>
              <a:rPr lang="en-US" dirty="0"/>
              <a:t>Learning: error flows backward (more computationally expensive)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Studied examples: regression.</a:t>
            </a:r>
          </a:p>
          <a:p>
            <a:endParaRPr lang="en-US" dirty="0"/>
          </a:p>
          <a:p>
            <a:r>
              <a:rPr lang="en-US" dirty="0"/>
              <a:t>What about classification? (example aside)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5E13A0-F572-7C70-0D95-5DBB40CEE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for Classification</a:t>
            </a:r>
          </a:p>
        </p:txBody>
      </p:sp>
      <p:pic>
        <p:nvPicPr>
          <p:cNvPr id="11" name="Picture 10" descr="Medium">
            <a:hlinkClick r:id="rId2"/>
            <a:extLst>
              <a:ext uri="{FF2B5EF4-FFF2-40B4-BE49-F238E27FC236}">
                <a16:creationId xmlns:a16="http://schemas.microsoft.com/office/drawing/2014/main" id="{6AE4B549-850A-BCAD-11A3-999843412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394" y="2379410"/>
            <a:ext cx="31750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B1014B-EA22-22C3-B901-20B1BD2DF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for Classification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B967BE-5771-8CA4-BA38-B1B68D43D2FB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AD077D6-2C33-A81D-4E47-CB51F5A8956F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C80DC48-02A6-0C0D-CBE4-2DEEC908F2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189" y="2072222"/>
              <a:ext cx="2717000" cy="3619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EBD3127-A48A-1AFF-A331-85EB1B75BF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189" y="2609767"/>
              <a:ext cx="2717000" cy="2476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7CFBF55-C23C-F482-DCBB-3527F4A0E7A1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1F6175-9496-D1D2-4D8B-60BDF8CD2D19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5BA610-3EC8-6328-4194-AF6098EEE067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D9169F-D14E-4A00-66B0-FD7779E351D6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1608814"/>
              <a:ext cx="263679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1D6C6E6-E53E-44C3-EAFD-2E4290592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697" y="1079901"/>
            <a:ext cx="4012334" cy="183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59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6F1F6-274B-174C-E375-2AE186B19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138250-25BF-073B-896C-177166C26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for Classification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B93CB1-1571-A200-2570-7C6E5087789E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28BB8BC-AC75-9835-0B7E-5217E4A58718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2826EC6-8B2D-96F6-8D25-96CB9E3F17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189" y="2072222"/>
              <a:ext cx="2717000" cy="3619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D9129C9-7A4A-1BBC-58D3-E1D1F56B6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189" y="2609767"/>
              <a:ext cx="2717000" cy="2476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8A47434-BD36-7E8A-4711-D68CB1D172A3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B4D8FD2-4367-167E-5175-5AA8BB2DB3FD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71CA7BE-05D1-5C45-F414-88166343AE8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62F215-328F-8E85-0977-8D670F0434D0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1608814"/>
              <a:ext cx="263679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2DDDF67-EDA8-DE39-ED50-B9A561DCA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697" y="1079901"/>
            <a:ext cx="4012334" cy="183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76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22C4DB-2C94-D307-4ECD-B571B2F1BE1F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We often like to report our data in a table called a “confusion matrix”</a:t>
            </a:r>
          </a:p>
          <a:p>
            <a:endParaRPr lang="en-US" dirty="0"/>
          </a:p>
          <a:p>
            <a:r>
              <a:rPr lang="en-US" dirty="0"/>
              <a:t>Consider a binary classification problem with 2 classes: Positive and Negative: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D618C6-3EFC-5648-3AD0-8D975C1E0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Confusion Matrix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5DCF6F-45C4-8B0B-8127-665AA992AC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3387413"/>
              </p:ext>
            </p:extLst>
          </p:nvPr>
        </p:nvGraphicFramePr>
        <p:xfrm>
          <a:off x="1887956" y="2383875"/>
          <a:ext cx="7067550" cy="2171700"/>
        </p:xfrm>
        <a:graphic>
          <a:graphicData uri="http://schemas.openxmlformats.org/drawingml/2006/table">
            <a:tbl>
              <a:tblPr/>
              <a:tblGrid>
                <a:gridCol w="235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class</a:t>
                      </a:r>
                    </a:p>
                  </a:txBody>
                  <a:tcPr marL="76200" marR="76200" marT="95250" marB="95250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2955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Positive (prediction)</a:t>
                      </a:r>
                    </a:p>
                  </a:txBody>
                  <a:tcPr marL="76200" marR="76200" marT="95250" marB="95250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2955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Negative (prediction)</a:t>
                      </a:r>
                    </a:p>
                  </a:txBody>
                  <a:tcPr marL="76200" marR="76200" marT="95250" marB="95250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295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sz="1575" b="1">
                          <a:solidFill>
                            <a:srgbClr val="143B1E"/>
                          </a:solidFill>
                          <a:latin typeface="Arial"/>
                          <a:ea typeface="Arial"/>
                          <a:cs typeface="Arial"/>
                        </a:rPr>
                        <a:t>Positive (actual)</a:t>
                      </a:r>
                    </a:p>
                  </a:txBody>
                  <a:tcPr marL="76200" marR="76200" marT="85725" marB="85725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E8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True positive (TP)</a:t>
                      </a: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False negative (FN)</a:t>
                      </a: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sz="1575" b="1">
                          <a:solidFill>
                            <a:srgbClr val="143B1E"/>
                          </a:solidFill>
                          <a:latin typeface="Arial"/>
                          <a:ea typeface="Arial"/>
                          <a:cs typeface="Arial"/>
                        </a:rPr>
                        <a:t>Negative (actual)</a:t>
                      </a:r>
                    </a:p>
                  </a:txBody>
                  <a:tcPr marL="76200" marR="76200" marT="85725" marB="85725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E8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False positive (FP)</a:t>
                      </a: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True negative (TN)</a:t>
                      </a: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279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839D18-68DD-4EE4-4C49-54448208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metrics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71E8C6-4A55-EDDC-6A2F-65423DEE16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1445433"/>
              </p:ext>
            </p:extLst>
          </p:nvPr>
        </p:nvGraphicFramePr>
        <p:xfrm>
          <a:off x="3906253" y="2951747"/>
          <a:ext cx="5097378" cy="1727741"/>
        </p:xfrm>
        <a:graphic>
          <a:graphicData uri="http://schemas.openxmlformats.org/drawingml/2006/table">
            <a:tbl>
              <a:tblPr/>
              <a:tblGrid>
                <a:gridCol w="169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441"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class</a:t>
                      </a:r>
                    </a:p>
                  </a:txBody>
                  <a:tcPr marL="76200" marR="76200" marT="95250" marB="95250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2955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Positive</a:t>
                      </a: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(p)</a:t>
                      </a:r>
                      <a:endParaRPr sz="165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2955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Negative</a:t>
                      </a: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(p)</a:t>
                      </a:r>
                      <a:endParaRPr sz="165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295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441">
                <a:tc>
                  <a:txBody>
                    <a:bodyPr/>
                    <a:lstStyle/>
                    <a:p>
                      <a:r>
                        <a:rPr sz="1575" b="1" dirty="0">
                          <a:solidFill>
                            <a:srgbClr val="143B1E"/>
                          </a:solidFill>
                          <a:latin typeface="Arial"/>
                          <a:ea typeface="Arial"/>
                          <a:cs typeface="Arial"/>
                        </a:rPr>
                        <a:t>Positive</a:t>
                      </a:r>
                      <a:r>
                        <a:rPr lang="en-US" sz="1575" b="1" dirty="0">
                          <a:solidFill>
                            <a:srgbClr val="143B1E"/>
                          </a:solidFill>
                          <a:latin typeface="Arial"/>
                          <a:ea typeface="Arial"/>
                          <a:cs typeface="Arial"/>
                        </a:rPr>
                        <a:t> (a)</a:t>
                      </a:r>
                      <a:endParaRPr sz="1575" b="1" dirty="0">
                        <a:solidFill>
                          <a:srgbClr val="143B1E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E8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True positive (TP)</a:t>
                      </a: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False negative (FN)</a:t>
                      </a: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441">
                <a:tc>
                  <a:txBody>
                    <a:bodyPr/>
                    <a:lstStyle/>
                    <a:p>
                      <a:r>
                        <a:rPr sz="1575" b="1" dirty="0">
                          <a:solidFill>
                            <a:srgbClr val="143B1E"/>
                          </a:solidFill>
                          <a:latin typeface="Arial"/>
                          <a:ea typeface="Arial"/>
                          <a:cs typeface="Arial"/>
                        </a:rPr>
                        <a:t>Negative</a:t>
                      </a:r>
                      <a:r>
                        <a:rPr lang="en-US" sz="1575" b="1" dirty="0">
                          <a:solidFill>
                            <a:srgbClr val="143B1E"/>
                          </a:solidFill>
                          <a:latin typeface="Arial"/>
                          <a:ea typeface="Arial"/>
                          <a:cs typeface="Arial"/>
                        </a:rPr>
                        <a:t> (a)</a:t>
                      </a:r>
                      <a:endParaRPr sz="1575" b="1" dirty="0">
                        <a:solidFill>
                          <a:srgbClr val="143B1E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E8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False positive (FP)</a:t>
                      </a: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True negative (TN)</a:t>
                      </a: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94F2135-3C10-7FAD-433A-CAEBC5988922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33C9903-63DC-A998-21B8-CCA15F739625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590CD9-41EA-CA6C-C516-FBCA96CCB52A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982C4C5-4418-40FE-D56B-3D964A8F0CB0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629DAB-1F6E-A1B9-D4F1-954F06EA56CB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3173896"/>
              <a:ext cx="334264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BF1A7CE-207D-CCA7-488D-145CA91ED187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3700007"/>
              <a:ext cx="334264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4D31E57-172F-05F6-8706-D55B1E6266D3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4240696"/>
              <a:ext cx="334264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4844F6A-6D97-1672-0634-A44581D3BF80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1390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EE6792-B38F-FE0C-58F4-290311AEA294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Often, there is a trade-off between precision and recall. Why?</a:t>
            </a:r>
          </a:p>
          <a:p>
            <a:endParaRPr lang="en-US" dirty="0"/>
          </a:p>
          <a:p>
            <a:r>
              <a:rPr lang="en-US" dirty="0"/>
              <a:t>How can we make use of both precision and recall while acknowledging the trade off?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C56455-C2B4-9770-2369-A30F0EB69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Precision-Recall Trade-off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A44786-B2A7-6CAD-2156-B1E95DF9E19F}"/>
              </a:ext>
            </a:extLst>
          </p:cNvPr>
          <p:cNvGrpSpPr/>
          <p:nvPr/>
        </p:nvGrpSpPr>
        <p:grpSpPr>
          <a:xfrm>
            <a:off x="403189" y="2634532"/>
            <a:ext cx="8070574" cy="1606164"/>
            <a:chOff x="403189" y="2634532"/>
            <a:chExt cx="8070574" cy="160616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9B2DC55-8CC0-C101-100B-659BE1AED65F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56500AB-8453-85CD-B2F5-6E2A183EE2B9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D824A6-7925-50AA-7F1F-7A89ED38F5F1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4EA758D-DC3E-CBA3-88A5-634D2A32C340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6261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E0C09A-4C64-918E-AF98-42C9F8DB5486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Both are commonly used as metrics for classification.</a:t>
            </a:r>
          </a:p>
          <a:p>
            <a:endParaRPr lang="en-US" dirty="0"/>
          </a:p>
          <a:p>
            <a:r>
              <a:rPr lang="en-US" dirty="0"/>
              <a:t>They measure different things.</a:t>
            </a:r>
          </a:p>
          <a:p>
            <a:endParaRPr lang="en-US" dirty="0"/>
          </a:p>
          <a:p>
            <a:r>
              <a:rPr lang="en-US" dirty="0"/>
              <a:t>Accuracy focuses on correctness in predictions.</a:t>
            </a:r>
          </a:p>
          <a:p>
            <a:endParaRPr lang="en-US" dirty="0"/>
          </a:p>
          <a:p>
            <a:r>
              <a:rPr lang="en-US" dirty="0"/>
              <a:t>F1-Score focuses on missing positives (FN) or making incorrect positive guesses (FP).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98CA0B-1786-5B27-7C85-0F9059324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vs F1-Score</a:t>
            </a:r>
          </a:p>
        </p:txBody>
      </p:sp>
    </p:spTree>
    <p:extLst>
      <p:ext uri="{BB962C8B-B14F-4D97-AF65-F5344CB8AC3E}">
        <p14:creationId xmlns:p14="http://schemas.microsoft.com/office/powerpoint/2010/main" val="383287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FAACBD-F5B3-39E2-97D8-8F8D5B9BDEC7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Precision, Recall and F1 scores can be reported for one class or for the entire ML algorithm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DB4298-F2BF-47BE-D1CE-9A1AA54E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Precision, Recall and F1 score in multiclassification problems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061ED9-1256-9641-D831-88C2995153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4401595"/>
              </p:ext>
            </p:extLst>
          </p:nvPr>
        </p:nvGraphicFramePr>
        <p:xfrm>
          <a:off x="1968167" y="1798338"/>
          <a:ext cx="7067552" cy="2895600"/>
        </p:xfrm>
        <a:graphic>
          <a:graphicData uri="http://schemas.openxmlformats.org/drawingml/2006/table">
            <a:tbl>
              <a:tblPr/>
              <a:tblGrid>
                <a:gridCol w="1766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6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6888">
                  <a:extLst>
                    <a:ext uri="{9D8B030D-6E8A-4147-A177-3AD203B41FA5}">
                      <a16:colId xmlns:a16="http://schemas.microsoft.com/office/drawing/2014/main" val="3615253258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endParaRPr sz="165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2955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 A (prediction)</a:t>
                      </a:r>
                      <a:endParaRPr sz="165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2955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 B (prediction)</a:t>
                      </a:r>
                      <a:endParaRPr sz="165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2955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 C</a:t>
                      </a:r>
                    </a:p>
                    <a:p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(prediction)</a:t>
                      </a:r>
                      <a:endParaRPr sz="165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5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sz="1575" b="1" dirty="0">
                          <a:solidFill>
                            <a:srgbClr val="143B1E"/>
                          </a:solidFill>
                          <a:latin typeface="Arial"/>
                          <a:ea typeface="Arial"/>
                          <a:cs typeface="Arial"/>
                        </a:rPr>
                        <a:t>Class A (actual)</a:t>
                      </a:r>
                      <a:endParaRPr sz="1575" b="1" dirty="0">
                        <a:solidFill>
                          <a:srgbClr val="143B1E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E8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n-US" sz="1575" b="1" dirty="0">
                          <a:solidFill>
                            <a:srgbClr val="143B1E"/>
                          </a:solidFill>
                          <a:latin typeface="Arial"/>
                          <a:ea typeface="Arial"/>
                          <a:cs typeface="Arial"/>
                        </a:rPr>
                        <a:t>Class B (actual)</a:t>
                      </a:r>
                    </a:p>
                  </a:txBody>
                  <a:tcPr marL="76200" marR="76200" marT="85725" marB="85725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75" b="1" dirty="0">
                          <a:solidFill>
                            <a:srgbClr val="143B1E"/>
                          </a:solidFill>
                          <a:latin typeface="Arial"/>
                          <a:ea typeface="Arial"/>
                          <a:cs typeface="Arial"/>
                        </a:rPr>
                        <a:t>Class C (actual)</a:t>
                      </a:r>
                    </a:p>
                  </a:txBody>
                  <a:tcPr marL="76200" marR="76200" marT="85725" marB="85725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E8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60606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70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24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D8DF6A-14EC-B81F-CD15-1260CCD9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Precision, Recall and F1 score in multiclassification problems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4DE7EB-EBBF-9AC7-E111-562824B2AD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0578483"/>
              </p:ext>
            </p:extLst>
          </p:nvPr>
        </p:nvGraphicFramePr>
        <p:xfrm>
          <a:off x="4572000" y="2165683"/>
          <a:ext cx="4437399" cy="2448044"/>
        </p:xfrm>
        <a:graphic>
          <a:graphicData uri="http://schemas.openxmlformats.org/drawingml/2006/table">
            <a:tbl>
              <a:tblPr/>
              <a:tblGrid>
                <a:gridCol w="1479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endParaRPr sz="165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2955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  <a:endParaRPr sz="165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2955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  <a:endParaRPr sz="165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9CA59B"/>
                      </a:solidFill>
                      <a:prstDash val="soli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295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11">
                <a:tc>
                  <a:txBody>
                    <a:bodyPr/>
                    <a:lstStyle/>
                    <a:p>
                      <a:r>
                        <a:rPr lang="en-US" sz="1575" b="1" dirty="0">
                          <a:solidFill>
                            <a:srgbClr val="143B1E"/>
                          </a:solidFill>
                          <a:latin typeface="Arial"/>
                          <a:ea typeface="Arial"/>
                          <a:cs typeface="Arial"/>
                        </a:rPr>
                        <a:t>Class A</a:t>
                      </a:r>
                      <a:endParaRPr sz="1575" b="1" dirty="0">
                        <a:solidFill>
                          <a:srgbClr val="143B1E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E8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11">
                <a:tc>
                  <a:txBody>
                    <a:bodyPr/>
                    <a:lstStyle/>
                    <a:p>
                      <a:r>
                        <a:rPr lang="en-US" sz="1575" b="1" dirty="0">
                          <a:solidFill>
                            <a:srgbClr val="143B1E"/>
                          </a:solidFill>
                          <a:latin typeface="Arial"/>
                          <a:ea typeface="Arial"/>
                          <a:cs typeface="Arial"/>
                        </a:rPr>
                        <a:t>Class B</a:t>
                      </a:r>
                    </a:p>
                  </a:txBody>
                  <a:tcPr marL="76200" marR="76200" marT="85725" marB="85725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CA59B"/>
                      </a:solidFill>
                      <a:prstDash val="soli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1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75" b="1" dirty="0">
                          <a:solidFill>
                            <a:srgbClr val="143B1E"/>
                          </a:solidFill>
                          <a:latin typeface="Arial"/>
                          <a:ea typeface="Arial"/>
                          <a:cs typeface="Arial"/>
                        </a:rPr>
                        <a:t>Class C</a:t>
                      </a:r>
                    </a:p>
                  </a:txBody>
                  <a:tcPr marL="76200" marR="76200" marT="85725" marB="85725" anchor="ctr">
                    <a:lnL w="9525">
                      <a:solidFill>
                        <a:srgbClr val="9CA59B"/>
                      </a:solidFill>
                      <a:prstDash val="solid"/>
                    </a:lnL>
                    <a:lnR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E8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dirty="0">
                        <a:solidFill>
                          <a:srgbClr val="6060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85725" marB="85725" anchor="ctr">
                    <a:lnL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A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CA59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70207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7F7C3CC2-A402-5B8D-62E3-3558145ACA4F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0080041-6ACB-D92E-5719-3E5B35272F6C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EAD04C3-1667-A9E0-CDF3-ACEE22D61689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7186B5B-1260-C5E5-1FEF-13A65E846640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2634532"/>
              <a:ext cx="403245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277BA8B-0573-60AD-FF06-D9181827C17C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3173896"/>
              <a:ext cx="403245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7270BCD-3FDB-48F5-CCC0-7B8540241702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3700007"/>
              <a:ext cx="403245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52DAE4-F085-E83D-02CA-5BE227216CE3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4240696"/>
              <a:ext cx="403245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31040F0-59E8-B0F4-9FD1-9303A91C63BC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2761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7FCD87-E713-FAAF-5763-A4819FF4B7E1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  <a:p>
            <a:endParaRPr lang="en-US" dirty="0"/>
          </a:p>
          <a:p>
            <a:r>
              <a:rPr lang="en-US" dirty="0"/>
              <a:t>Data leakage</a:t>
            </a:r>
          </a:p>
          <a:p>
            <a:endParaRPr lang="en-US" dirty="0"/>
          </a:p>
          <a:p>
            <a:r>
              <a:rPr lang="en-US" dirty="0"/>
              <a:t>Distribution shift</a:t>
            </a:r>
          </a:p>
          <a:p>
            <a:endParaRPr lang="en-US" dirty="0"/>
          </a:p>
          <a:p>
            <a:r>
              <a:rPr lang="en-US" dirty="0"/>
              <a:t>Label quality</a:t>
            </a:r>
          </a:p>
          <a:p>
            <a:endParaRPr lang="en-US" dirty="0"/>
          </a:p>
          <a:p>
            <a:r>
              <a:rPr lang="en-US" dirty="0"/>
              <a:t>Data imbalance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2EFE20-2EBD-38F6-F4EC-11DFFC031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Challenges for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62196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C5D5B7-675E-E144-7ACF-EFAC8E25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Challenges for classification (solutions)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5C627F-877D-A1A2-74F4-CB24F827CDA4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9E172B-0304-78AC-E949-165BB2D0560B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74AB8BB-709D-12A9-CC8C-9E227F713A33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A18C843-02CC-E80C-1016-B34E71D80529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769B0C9-3FC5-886A-44CA-579C66EB47B1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8E4DD8-1B69-B03B-400D-1B6B04A67339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9E5B9BB-8BB6-90D6-31CF-78AB383A21B3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8EA763-B367-EBCE-8E8C-B5D854E5CE1B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1847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E27A2C-2561-1778-9B2E-3E5735A5D09B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Materials from this handout used Machine Learning, A First Course for Engineers and Scientists by Lindholm et. al (March 4</a:t>
            </a:r>
            <a:r>
              <a:rPr lang="en-US" baseline="30000"/>
              <a:t>th</a:t>
            </a:r>
            <a:r>
              <a:rPr lang="en-US"/>
              <a:t>, 2026 version), section 6.1 as a reference. Access to this document is free at the publishers’ GitHub page. </a:t>
            </a:r>
          </a:p>
          <a:p>
            <a:r>
              <a:rPr lang="en-US"/>
              <a:t>The following was also used for materials: </a:t>
            </a:r>
            <a:r>
              <a:rPr lang="en-US" i="1"/>
              <a:t>Artificial Intelligence: A Modern Approach</a:t>
            </a:r>
            <a:r>
              <a:rPr lang="en-US"/>
              <a:t>, Russel and Norvig, 4</a:t>
            </a:r>
            <a:r>
              <a:rPr lang="en-US" baseline="30000"/>
              <a:t>th</a:t>
            </a:r>
            <a:r>
              <a:rPr lang="en-US"/>
              <a:t> edition, section 21.1.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13E2E-A912-09EE-0B68-D5DDBBF5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7656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76C07-D41A-AEFA-B42E-48C3DBC6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53156F-1A2F-8505-D207-92180BBB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 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7336C1-5220-AC4A-445F-99497361E25F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70EE114-1063-253B-FB2C-BFA39DC3EF20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EFBB1F5-906F-0250-0D16-77C4DC5D9A16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F31AFC-1484-5785-3E87-671DAC523D16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86074F-80CB-D98B-5737-52C190287FFE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965DB92-0732-96C5-B36D-D7853A6F6C83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003FED1-AAB1-F690-CB81-9E9A6B7731BE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BD5393A-A68F-5765-F267-E302B784B23C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5437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PROJECT_OPEN" val="0"/>
  <p:tag name="ARTICULATE_SLIDE_COUNT" val="6"/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="" xmlns:ma14="http://schemas.microsoft.com/office/mac/drawingml/2011/main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478</Words>
  <Application>Microsoft Macintosh PowerPoint</Application>
  <PresentationFormat>On-screen Show (16:9)</PresentationFormat>
  <Paragraphs>102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Palatino Linotype</vt:lpstr>
      <vt:lpstr>CP_ppt_standard_v1</vt:lpstr>
      <vt:lpstr>Neural Networks for Classification</vt:lpstr>
      <vt:lpstr>Overview</vt:lpstr>
      <vt:lpstr>Neural Networks for Classification</vt:lpstr>
      <vt:lpstr>Neural Networks for Classification</vt:lpstr>
      <vt:lpstr>Neural Networks for Classification</vt:lpstr>
      <vt:lpstr>Confusion Matrix</vt:lpstr>
      <vt:lpstr>Classification metrics</vt:lpstr>
      <vt:lpstr>Precision-Recall Trade-off</vt:lpstr>
      <vt:lpstr>Accuracy vs F1-Score</vt:lpstr>
      <vt:lpstr>Precision, Recall and F1 score in multiclassification problems</vt:lpstr>
      <vt:lpstr>Precision, Recall and F1 score in multiclassification problems</vt:lpstr>
      <vt:lpstr>General Challenges for classification</vt:lpstr>
      <vt:lpstr>General Challenges for classification (solutions)</vt:lpstr>
      <vt:lpstr>References</vt:lpstr>
      <vt:lpstr>Extra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6</cp:revision>
  <dcterms:modified xsi:type="dcterms:W3CDTF">2026-10-12T04:30:04Z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