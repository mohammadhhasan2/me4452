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1"/>
  </p:notesMasterIdLst>
  <p:sldIdLst>
    <p:sldId id="315" r:id="rId2"/>
    <p:sldId id="363" r:id="rId3"/>
    <p:sldId id="364" r:id="rId4"/>
    <p:sldId id="343" r:id="rId5"/>
    <p:sldId id="353" r:id="rId6"/>
    <p:sldId id="365" r:id="rId7"/>
    <p:sldId id="366" r:id="rId8"/>
    <p:sldId id="367" r:id="rId9"/>
    <p:sldId id="368" r:id="rId10"/>
    <p:sldId id="370" r:id="rId11"/>
    <p:sldId id="371" r:id="rId12"/>
    <p:sldId id="369" r:id="rId13"/>
    <p:sldId id="376" r:id="rId14"/>
    <p:sldId id="373" r:id="rId15"/>
    <p:sldId id="372" r:id="rId16"/>
    <p:sldId id="375" r:id="rId17"/>
    <p:sldId id="374" r:id="rId18"/>
    <p:sldId id="362" r:id="rId19"/>
    <p:sldId id="360" r:id="rId20"/>
  </p:sldIdLst>
  <p:sldSz cx="9144000" cy="5143500" type="screen16x9"/>
  <p:notesSz cx="9236075" cy="7010400"/>
  <p:custDataLst>
    <p:tags r:id="rId2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1049"/>
  </p:normalViewPr>
  <p:slideViewPr>
    <p:cSldViewPr snapToGrid="0">
      <p:cViewPr varScale="1">
        <p:scale>
          <a:sx n="117" d="100"/>
          <a:sy n="117" d="100"/>
        </p:scale>
        <p:origin x="176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83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9/22/26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9/22/26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9/22/26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9/22/26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9/22/26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9/22/26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9/22/26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Instructor: Mohammad Hasan</a:t>
            </a:r>
          </a:p>
          <a:p>
            <a:r>
              <a:rPr lang="en-US" sz="1600"/>
              <a:t>Office: 13-240</a:t>
            </a:r>
          </a:p>
          <a:p>
            <a:r>
              <a:rPr lang="en-US" sz="1600"/>
              <a:t>09/23/26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/>
              <a:t>Gradient Descent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9"/>
                <a:ext cx="8318119" cy="1416382"/>
              </a:xfrm>
            </p:spPr>
            <p:txBody>
              <a:bodyPr/>
              <a:lstStyle/>
              <a:p>
                <a:r>
                  <a:rPr lang="en-US" dirty="0"/>
                  <a:t>In previous lectures, we saw that regression and classification problems have some similarities.</a:t>
                </a:r>
              </a:p>
              <a:p>
                <a:r>
                  <a:rPr lang="en-US" dirty="0"/>
                  <a:t>Both are problems where the best model has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that minimize some loss function.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9"/>
                <a:ext cx="8318119" cy="1416382"/>
              </a:xfrm>
              <a:blipFill>
                <a:blip r:embed="rId2"/>
                <a:stretch>
                  <a:fillRect l="-659" t="-2155" b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B9791-2203-C12B-08B4-9C0968C905BE}"/>
                  </a:ext>
                </a:extLst>
              </p:cNvPr>
              <p:cNvSpPr/>
              <p:nvPr/>
            </p:nvSpPr>
            <p:spPr>
              <a:xfrm>
                <a:off x="184976" y="3210267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B9791-2203-C12B-08B4-9C0968C90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76" y="3210267"/>
                <a:ext cx="2311734" cy="347061"/>
              </a:xfrm>
              <a:prstGeom prst="rect">
                <a:avLst/>
              </a:prstGeom>
              <a:blipFill>
                <a:blip r:embed="rId3"/>
                <a:stretch>
                  <a:fillRect t="-14035" b="-192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FDEF562-0956-29AD-A4E4-685F606BD5A9}"/>
              </a:ext>
            </a:extLst>
          </p:cNvPr>
          <p:cNvGrpSpPr/>
          <p:nvPr/>
        </p:nvGrpSpPr>
        <p:grpSpPr>
          <a:xfrm>
            <a:off x="2496710" y="2321781"/>
            <a:ext cx="1170520" cy="1062017"/>
            <a:chOff x="2496710" y="2321781"/>
            <a:chExt cx="1170520" cy="106201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E87252-8EDC-4306-2D6F-E3A0BAB56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2830" y="2321781"/>
              <a:ext cx="914400" cy="888486"/>
            </a:xfrm>
            <a:prstGeom prst="rect">
              <a:avLst/>
            </a:prstGeom>
          </p:spPr>
        </p:pic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62C4B75E-BE6E-E884-9DA5-27040E77E8CC}"/>
                </a:ext>
              </a:extLst>
            </p:cNvPr>
            <p:cNvCxnSpPr>
              <a:cxnSpLocks/>
              <a:stCxn id="10" idx="3"/>
              <a:endCxn id="8" idx="1"/>
            </p:cNvCxnSpPr>
            <p:nvPr/>
          </p:nvCxnSpPr>
          <p:spPr>
            <a:xfrm flipV="1">
              <a:off x="2496710" y="2766024"/>
              <a:ext cx="256120" cy="61777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4A272-9E29-80C9-45F6-2CE0AB4F4B41}"/>
              </a:ext>
            </a:extLst>
          </p:cNvPr>
          <p:cNvGrpSpPr/>
          <p:nvPr/>
        </p:nvGrpSpPr>
        <p:grpSpPr>
          <a:xfrm>
            <a:off x="2496710" y="3383798"/>
            <a:ext cx="1170520" cy="1138435"/>
            <a:chOff x="2496710" y="3383798"/>
            <a:chExt cx="1170520" cy="11384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0247E2-E51F-B087-15CD-B74EFBC5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2830" y="3633747"/>
              <a:ext cx="914400" cy="888486"/>
            </a:xfrm>
            <a:prstGeom prst="rect">
              <a:avLst/>
            </a:prstGeom>
          </p:spPr>
        </p:pic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814B92C4-4206-591F-F0B7-35C7204620E1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2496710" y="3383798"/>
              <a:ext cx="256120" cy="6941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82726B-4CF0-D81A-1B98-B2BD10688BEC}"/>
              </a:ext>
            </a:extLst>
          </p:cNvPr>
          <p:cNvGrpSpPr/>
          <p:nvPr/>
        </p:nvGrpSpPr>
        <p:grpSpPr>
          <a:xfrm>
            <a:off x="3667230" y="2148285"/>
            <a:ext cx="2778711" cy="791269"/>
            <a:chOff x="3667230" y="2148285"/>
            <a:chExt cx="2778711" cy="79126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19EABFD-5D7C-9DDE-9A00-8A66B9A3A0EB}"/>
                </a:ext>
              </a:extLst>
            </p:cNvPr>
            <p:cNvGrpSpPr/>
            <p:nvPr/>
          </p:nvGrpSpPr>
          <p:grpSpPr>
            <a:xfrm>
              <a:off x="4134207" y="2148285"/>
              <a:ext cx="2311734" cy="791269"/>
              <a:chOff x="4134207" y="2148285"/>
              <a:chExt cx="2311734" cy="7912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6B5D3EF-F564-7377-34AC-16EEB2A35F94}"/>
                      </a:ext>
                    </a:extLst>
                  </p:cNvPr>
                  <p:cNvSpPr/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400" b="0" i="1" smtClean="0">
                                                  <a:solidFill>
                                                    <a:sysClr val="windowText" lastClr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400" b="0" i="1" smtClean="0">
                                                  <a:solidFill>
                                                    <a:sysClr val="windowText" lastClr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  <a:endParaRPr 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6B5D3EF-F564-7377-34AC-16EEB2A35F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29825" b="-4035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4A0CE1-2AE8-18D3-8F68-38A901901952}"/>
                  </a:ext>
                </a:extLst>
              </p:cNvPr>
              <p:cNvSpPr/>
              <p:nvPr/>
            </p:nvSpPr>
            <p:spPr>
              <a:xfrm>
                <a:off x="4134207" y="2148285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Mean square error</a:t>
                </a:r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73F3908-5736-EC3D-513E-8C64FA7AAB88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3667230" y="2766024"/>
              <a:ext cx="55576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F77CF4-E514-2E24-0508-73E4D4F24FB4}"/>
              </a:ext>
            </a:extLst>
          </p:cNvPr>
          <p:cNvGrpSpPr/>
          <p:nvPr/>
        </p:nvGrpSpPr>
        <p:grpSpPr>
          <a:xfrm>
            <a:off x="3659279" y="3454032"/>
            <a:ext cx="2875452" cy="797488"/>
            <a:chOff x="3659279" y="3454032"/>
            <a:chExt cx="2875452" cy="79748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A68CBA9-2D42-5955-FFE6-29866DDAE8CF}"/>
                </a:ext>
              </a:extLst>
            </p:cNvPr>
            <p:cNvGrpSpPr/>
            <p:nvPr/>
          </p:nvGrpSpPr>
          <p:grpSpPr>
            <a:xfrm>
              <a:off x="4134207" y="3454032"/>
              <a:ext cx="2400524" cy="797488"/>
              <a:chOff x="4134207" y="3454032"/>
              <a:chExt cx="2400524" cy="7974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0ABFA18-1FB0-8546-6B5F-B725191F18FC}"/>
                      </a:ext>
                    </a:extLst>
                  </p:cNvPr>
                  <p:cNvSpPr/>
                  <p:nvPr/>
                </p:nvSpPr>
                <p:spPr>
                  <a:xfrm>
                    <a:off x="4134207" y="3904459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Sup>
                                    <m:sSub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0ABFA18-1FB0-8546-6B5F-B725191F18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3904459"/>
                    <a:ext cx="2311734" cy="34706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31579" b="-4210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0C8417-43AA-E714-4DB8-C8E9FDB1DBA8}"/>
                  </a:ext>
                </a:extLst>
              </p:cNvPr>
              <p:cNvSpPr/>
              <p:nvPr/>
            </p:nvSpPr>
            <p:spPr>
              <a:xfrm>
                <a:off x="4222997" y="3454032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Categorical cross-entropy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429913-2E44-1AC0-54FE-840D05BA38FD}"/>
                </a:ext>
              </a:extLst>
            </p:cNvPr>
            <p:cNvCxnSpPr/>
            <p:nvPr/>
          </p:nvCxnSpPr>
          <p:spPr>
            <a:xfrm>
              <a:off x="3659279" y="4093857"/>
              <a:ext cx="555767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EC6E3B-F921-A737-00E9-7357DB51D899}"/>
              </a:ext>
            </a:extLst>
          </p:cNvPr>
          <p:cNvGrpSpPr/>
          <p:nvPr/>
        </p:nvGrpSpPr>
        <p:grpSpPr>
          <a:xfrm>
            <a:off x="6256847" y="2196858"/>
            <a:ext cx="2815128" cy="791269"/>
            <a:chOff x="6256847" y="2196858"/>
            <a:chExt cx="2815128" cy="79126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2E7A0DB-6D92-9015-173F-F01DF18638CA}"/>
                </a:ext>
              </a:extLst>
            </p:cNvPr>
            <p:cNvGrpSpPr/>
            <p:nvPr/>
          </p:nvGrpSpPr>
          <p:grpSpPr>
            <a:xfrm>
              <a:off x="6760241" y="2196858"/>
              <a:ext cx="2311734" cy="791269"/>
              <a:chOff x="4134207" y="2148285"/>
              <a:chExt cx="2311734" cy="7912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9178909C-06AF-235C-F22F-F9ADC4099F46}"/>
                      </a:ext>
                    </a:extLst>
                  </p:cNvPr>
                  <p:cNvSpPr/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9178909C-06AF-235C-F22F-F9ADC4099F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4207" y="2592493"/>
                    <a:ext cx="2311734" cy="34706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E7D1C23-3E41-F283-C861-A74B9039BED1}"/>
                  </a:ext>
                </a:extLst>
              </p:cNvPr>
              <p:cNvSpPr/>
              <p:nvPr/>
            </p:nvSpPr>
            <p:spPr>
              <a:xfrm>
                <a:off x="4134207" y="2148285"/>
                <a:ext cx="2311734" cy="347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u="sng">
                    <a:solidFill>
                      <a:sysClr val="windowText" lastClr="000000"/>
                    </a:solidFill>
                  </a:rPr>
                  <a:t>Linear Regression</a:t>
                </a:r>
                <a:r>
                  <a:rPr lang="en-US" sz="1400">
                    <a:solidFill>
                      <a:sysClr val="windowText" lastClr="000000"/>
                    </a:solidFill>
                  </a:rPr>
                  <a:t>: closed form solution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B694D1E-E1B2-8E37-EF95-DC61BD83C711}"/>
                </a:ext>
              </a:extLst>
            </p:cNvPr>
            <p:cNvCxnSpPr>
              <a:cxnSpLocks/>
            </p:cNvCxnSpPr>
            <p:nvPr/>
          </p:nvCxnSpPr>
          <p:spPr>
            <a:xfrm>
              <a:off x="6256847" y="2766024"/>
              <a:ext cx="883424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1142595-4364-63C2-C7BC-AE0E258E9987}"/>
              </a:ext>
            </a:extLst>
          </p:cNvPr>
          <p:cNvGrpSpPr/>
          <p:nvPr/>
        </p:nvGrpSpPr>
        <p:grpSpPr>
          <a:xfrm>
            <a:off x="6387025" y="3730894"/>
            <a:ext cx="2684950" cy="347061"/>
            <a:chOff x="6387025" y="3730894"/>
            <a:chExt cx="2684950" cy="3470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CD007B9-58DC-13BA-12C9-EB9C6D5B65C0}"/>
                </a:ext>
              </a:extLst>
            </p:cNvPr>
            <p:cNvSpPr/>
            <p:nvPr/>
          </p:nvSpPr>
          <p:spPr>
            <a:xfrm>
              <a:off x="6760241" y="3730894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u="sng">
                  <a:solidFill>
                    <a:sysClr val="windowText" lastClr="000000"/>
                  </a:solidFill>
                </a:rPr>
                <a:t>Logistic Regression</a:t>
              </a:r>
              <a:r>
                <a:rPr lang="en-US" sz="1400">
                  <a:solidFill>
                    <a:sysClr val="windowText" lastClr="000000"/>
                  </a:solidFill>
                </a:rPr>
                <a:t>: No closed form solution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1108C02-9344-7828-BCFE-7D7C396C4BC9}"/>
                </a:ext>
              </a:extLst>
            </p:cNvPr>
            <p:cNvCxnSpPr>
              <a:cxnSpLocks/>
            </p:cNvCxnSpPr>
            <p:nvPr/>
          </p:nvCxnSpPr>
          <p:spPr>
            <a:xfrm>
              <a:off x="6387025" y="4070299"/>
              <a:ext cx="626025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047E0-4B66-A3BE-40DF-F93439DB85B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Optimization problems:</a:t>
            </a:r>
          </a:p>
          <a:p>
            <a:pPr marL="0" indent="0">
              <a:buNone/>
            </a:pPr>
            <a:r>
              <a:rPr lang="en-US"/>
              <a:t>A type of problem that aims to find optimal parameters that:</a:t>
            </a:r>
          </a:p>
          <a:p>
            <a:pPr>
              <a:buFontTx/>
              <a:buChar char="-"/>
            </a:pPr>
            <a:r>
              <a:rPr lang="en-US"/>
              <a:t>Minimizes a cost (or loss) function</a:t>
            </a:r>
          </a:p>
          <a:p>
            <a:pPr>
              <a:buFontTx/>
              <a:buChar char="-"/>
            </a:pPr>
            <a:r>
              <a:rPr lang="en-US"/>
              <a:t>OR maximizes an objective function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Problems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0A5CFD-A431-27DE-3271-AB8BBEB5A55C}"/>
              </a:ext>
            </a:extLst>
          </p:cNvPr>
          <p:cNvGrpSpPr/>
          <p:nvPr/>
        </p:nvGrpSpPr>
        <p:grpSpPr>
          <a:xfrm>
            <a:off x="312182" y="2468880"/>
            <a:ext cx="2707624" cy="1951579"/>
            <a:chOff x="312182" y="2468880"/>
            <a:chExt cx="2707624" cy="19515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C30900-0998-0C5D-A916-F9C5E64CE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182" y="2468880"/>
              <a:ext cx="2707624" cy="160451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9FCDDE-5BF0-1103-EABC-1A9059AF5617}"/>
                </a:ext>
              </a:extLst>
            </p:cNvPr>
            <p:cNvSpPr/>
            <p:nvPr/>
          </p:nvSpPr>
          <p:spPr>
            <a:xfrm>
              <a:off x="510127" y="4073398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Reduce trip time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FCCF11-05E8-58C9-9AA6-BAD501450E25}"/>
              </a:ext>
            </a:extLst>
          </p:cNvPr>
          <p:cNvGrpSpPr/>
          <p:nvPr/>
        </p:nvGrpSpPr>
        <p:grpSpPr>
          <a:xfrm>
            <a:off x="3498469" y="2571750"/>
            <a:ext cx="3082036" cy="1848709"/>
            <a:chOff x="3498469" y="2571750"/>
            <a:chExt cx="3082036" cy="18487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97A412-1144-AC01-A8FB-72C5C286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8469" y="2571750"/>
              <a:ext cx="3082036" cy="14567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3CC1C7-5530-8F65-8EB4-83C76CE0BAF0}"/>
                </a:ext>
              </a:extLst>
            </p:cNvPr>
            <p:cNvSpPr/>
            <p:nvPr/>
          </p:nvSpPr>
          <p:spPr>
            <a:xfrm>
              <a:off x="3883620" y="4073398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Reduce drag coefficient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3679DF-15CE-B337-C3B9-84C2E58A0272}"/>
              </a:ext>
            </a:extLst>
          </p:cNvPr>
          <p:cNvGrpSpPr/>
          <p:nvPr/>
        </p:nvGrpSpPr>
        <p:grpSpPr>
          <a:xfrm>
            <a:off x="6733917" y="2414304"/>
            <a:ext cx="2311734" cy="2073642"/>
            <a:chOff x="6733917" y="2414304"/>
            <a:chExt cx="2311734" cy="20736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73F493-A487-F565-08CF-05A150EE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9168" y="2414304"/>
              <a:ext cx="1661232" cy="161415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4F1ECA-DE8D-807D-355A-489F8607D016}"/>
                </a:ext>
              </a:extLst>
            </p:cNvPr>
            <p:cNvSpPr/>
            <p:nvPr/>
          </p:nvSpPr>
          <p:spPr>
            <a:xfrm>
              <a:off x="6733917" y="4140885"/>
              <a:ext cx="2311734" cy="34706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Reduce aggregate error (loss function)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Optimization introduction</a:t>
            </a:r>
          </a:p>
          <a:p>
            <a:endParaRPr lang="en-US" dirty="0"/>
          </a:p>
          <a:p>
            <a:r>
              <a:rPr lang="en-US" dirty="0"/>
              <a:t>Single variate and multivariate optimization</a:t>
            </a:r>
          </a:p>
          <a:p>
            <a:endParaRPr lang="en-US" dirty="0"/>
          </a:p>
          <a:p>
            <a:r>
              <a:rPr lang="en-US" dirty="0"/>
              <a:t>Gradient Descent (BGD vs SGD)</a:t>
            </a:r>
          </a:p>
          <a:p>
            <a:endParaRPr lang="en-US" dirty="0"/>
          </a:p>
          <a:p>
            <a:r>
              <a:rPr lang="en-US" dirty="0"/>
              <a:t>Convex and non-convex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5BE6F4-F8DB-D374-8494-A0D4EF225585}"/>
              </a:ext>
            </a:extLst>
          </p:cNvPr>
          <p:cNvGrpSpPr/>
          <p:nvPr/>
        </p:nvGrpSpPr>
        <p:grpSpPr>
          <a:xfrm>
            <a:off x="403189" y="2634532"/>
            <a:ext cx="8070574" cy="1606164"/>
            <a:chOff x="403189" y="2634532"/>
            <a:chExt cx="8070574" cy="16061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E88F2B-0AAF-3262-A032-4B13B9BB7C3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2F7C8D-B5A8-74F5-14FD-153AE690D3E2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B4A4AC-72A6-60AD-7339-F11B1571986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E6716CE-72D4-C135-7413-7D32FD9C0C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Way to the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1">
                <a:extLst>
                  <a:ext uri="{FF2B5EF4-FFF2-40B4-BE49-F238E27FC236}">
                    <a16:creationId xmlns:a16="http://schemas.microsoft.com/office/drawing/2014/main" id="{B1D512D7-2972-B4DD-CD85-2BDE2A850884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8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our machine learning model is a function of 1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We may want to look at the the relationship between the loss function and the parameter:</a:t>
                </a:r>
              </a:p>
            </p:txBody>
          </p:sp>
        </mc:Choice>
        <mc:Fallback xmlns="">
          <p:sp>
            <p:nvSpPr>
              <p:cNvPr id="35" name="Content Placeholder 1">
                <a:extLst>
                  <a:ext uri="{FF2B5EF4-FFF2-40B4-BE49-F238E27FC236}">
                    <a16:creationId xmlns:a16="http://schemas.microsoft.com/office/drawing/2014/main" id="{B1D512D7-2972-B4DD-CD85-2BDE2A850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8"/>
                <a:ext cx="8318119" cy="3650177"/>
              </a:xfrm>
              <a:blipFill>
                <a:blip r:embed="rId2"/>
                <a:stretch>
                  <a:fillRect l="-733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F87F-0547-9D01-796D-B3436917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17EF3B-ED0B-F99C-8C3C-6805F1D7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Sense of Down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B5CC8C-BA61-E4D3-B2B5-3ECD523729F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1EA223-F3B3-1FBA-9715-96F7B8EC79D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0D897D4-3EB6-B138-0647-5E7B2B7BB9F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6EA00B-C54C-6A1B-D6F7-EA46F8D5BBD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3170B5-3EDB-CD3B-8C7C-2AF5BAAC611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CDAF07-D0FD-B52D-B370-E1EBDA4892D7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57D9C3-205E-5E0E-BF8D-18A4742C0BC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5F1252-DDF4-60F1-8B28-8930960F14B8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808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86AF-61E4-8277-5BD4-20ED6CA6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433BE-BFF8-BC0A-E0E6-45B18F22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4B31C4-31F2-CAC8-F9ED-2D409D027785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BDEB6B-A323-A9A4-6112-5274804BFD7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61F006E-8F67-FBFE-3214-C8F8DF26E69A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03CFCC9-2656-43A8-5C41-54C5BE89508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B9D0AB-5A8E-AB07-4D1E-E26E66F442D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CE7541-C85B-93F4-8B83-2525FC80399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D824CF-652B-1541-88A9-BCDD1E41AC3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AB9DAC-2120-524A-3285-559C3A64B69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123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620310-84F9-A054-692E-8BFF58EDC85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9"/>
            <a:ext cx="8318119" cy="1526906"/>
          </a:xfrm>
        </p:spPr>
        <p:txBody>
          <a:bodyPr/>
          <a:lstStyle/>
          <a:p>
            <a:r>
              <a:rPr lang="en-US"/>
              <a:t>In reality, most machine learning models have many parameters. Tens, hundreds … billions sometimes. </a:t>
            </a:r>
          </a:p>
          <a:p>
            <a:endParaRPr lang="en-US"/>
          </a:p>
          <a:p>
            <a:r>
              <a:rPr lang="en-US"/>
              <a:t>We can expand this method provided to handle multiple parameters: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47E33-0470-9E4B-AC28-A1F24D22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 Descent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15418E-66DC-8E55-4722-E9D2B4812E8A}"/>
              </a:ext>
            </a:extLst>
          </p:cNvPr>
          <p:cNvGrpSpPr/>
          <p:nvPr/>
        </p:nvGrpSpPr>
        <p:grpSpPr>
          <a:xfrm>
            <a:off x="403189" y="2698540"/>
            <a:ext cx="8070574" cy="1606164"/>
            <a:chOff x="403189" y="2634532"/>
            <a:chExt cx="8070574" cy="160616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2183F51-E748-D146-CA67-53AB796F593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96ABE9C-9F87-AA1A-ED54-D7E8A1686427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C82B4AB-0087-4892-E3BA-2EA01DFB1A7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1A3F88-9593-0694-8E08-1329F137723F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777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AF10580-DDF2-5555-0BBF-0C5F1BFD0D16}"/>
              </a:ext>
            </a:extLst>
          </p:cNvPr>
          <p:cNvSpPr/>
          <p:nvPr/>
        </p:nvSpPr>
        <p:spPr>
          <a:xfrm>
            <a:off x="37061" y="1091944"/>
            <a:ext cx="4054665" cy="35916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ysClr val="windowText" lastClr="0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A4968-A04D-C208-F962-DB57641C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/>
              <a:t>Batch Gradient Descent and Stochastic Gradient Descent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0E0F8098-844F-AAAE-E61B-4AC66772307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706617"/>
            <a:ext cx="8318119" cy="462226"/>
          </a:xfrm>
        </p:spPr>
        <p:txBody>
          <a:bodyPr/>
          <a:lstStyle/>
          <a:p>
            <a:r>
              <a:rPr lang="en-US"/>
              <a:t>In reality, there are multiple versions of gradient descent.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03B3F-CB24-AC9B-2241-13B6EA4A5884}"/>
              </a:ext>
            </a:extLst>
          </p:cNvPr>
          <p:cNvSpPr/>
          <p:nvPr/>
        </p:nvSpPr>
        <p:spPr>
          <a:xfrm>
            <a:off x="715146" y="1174256"/>
            <a:ext cx="2311734" cy="3470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Batch Gradient Descent BGD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4FC781-AFF0-B913-3C6D-10FCA752F9D2}"/>
                  </a:ext>
                </a:extLst>
              </p:cNvPr>
              <p:cNvSpPr/>
              <p:nvPr/>
            </p:nvSpPr>
            <p:spPr>
              <a:xfrm>
                <a:off x="715145" y="2095533"/>
                <a:ext cx="2311734" cy="152665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𝑏𝑎𝑡𝑐ℎ</m:t>
                          </m:r>
                        </m:sub>
                      </m:sSub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Using the average loss of all the training data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𝑏𝑎𝑡𝑐ℎ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1400" b="0" i="1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4FC781-AFF0-B913-3C6D-10FCA752F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45" y="2095533"/>
                <a:ext cx="2311734" cy="1526651"/>
              </a:xfrm>
              <a:prstGeom prst="rect">
                <a:avLst/>
              </a:prstGeom>
              <a:blipFill>
                <a:blip r:embed="rId2"/>
                <a:stretch>
                  <a:fillRect t="-4348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CE3226-0DC9-4EB5-8E07-15182258FF4F}"/>
                  </a:ext>
                </a:extLst>
              </p:cNvPr>
              <p:cNvSpPr/>
              <p:nvPr/>
            </p:nvSpPr>
            <p:spPr>
              <a:xfrm>
                <a:off x="1338702" y="1591825"/>
                <a:ext cx="1064621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CE3226-0DC9-4EB5-8E07-15182258F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702" y="1591825"/>
                <a:ext cx="1064621" cy="338778"/>
              </a:xfrm>
              <a:prstGeom prst="rect">
                <a:avLst/>
              </a:prstGeom>
              <a:blipFill>
                <a:blip r:embed="rId3"/>
                <a:stretch>
                  <a:fillRect t="-10714" r="-16092" b="-17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93B46E-D950-3B1D-2C02-943CAA8515AD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 flipH="1">
            <a:off x="1871012" y="1930603"/>
            <a:ext cx="1" cy="164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Decision 25">
                <a:extLst>
                  <a:ext uri="{FF2B5EF4-FFF2-40B4-BE49-F238E27FC236}">
                    <a16:creationId xmlns:a16="http://schemas.microsoft.com/office/drawing/2014/main" id="{EFF38C0F-EF6E-2D1B-972F-9B1E7BE69910}"/>
                  </a:ext>
                </a:extLst>
              </p:cNvPr>
              <p:cNvSpPr/>
              <p:nvPr/>
            </p:nvSpPr>
            <p:spPr>
              <a:xfrm>
                <a:off x="380142" y="3787114"/>
                <a:ext cx="2981740" cy="731520"/>
              </a:xfrm>
              <a:prstGeom prst="flowChartDecision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</m:sub>
                      </m:sSub>
                    </m:oMath>
                  </m:oMathPara>
                </a14:m>
                <a:endParaRPr lang="en-US" sz="11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100">
                    <a:solidFill>
                      <a:sysClr val="windowText" lastClr="000000"/>
                    </a:solidFill>
                  </a:rPr>
                  <a:t>Or # iterations &gt; max iterations</a:t>
                </a:r>
              </a:p>
            </p:txBody>
          </p:sp>
        </mc:Choice>
        <mc:Fallback xmlns="">
          <p:sp>
            <p:nvSpPr>
              <p:cNvPr id="26" name="Decision 25">
                <a:extLst>
                  <a:ext uri="{FF2B5EF4-FFF2-40B4-BE49-F238E27FC236}">
                    <a16:creationId xmlns:a16="http://schemas.microsoft.com/office/drawing/2014/main" id="{EFF38C0F-EF6E-2D1B-972F-9B1E7BE699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42" y="3787114"/>
                <a:ext cx="2981740" cy="731520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51879F-2115-5A60-E61C-BE1518C69888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>
            <a:off x="1871012" y="3622184"/>
            <a:ext cx="0" cy="164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DA427E3A-7F85-DE94-1603-3DB1F3B9742E}"/>
              </a:ext>
            </a:extLst>
          </p:cNvPr>
          <p:cNvCxnSpPr>
            <a:cxnSpLocks/>
            <a:stCxn id="26" idx="1"/>
            <a:endCxn id="14" idx="1"/>
          </p:cNvCxnSpPr>
          <p:nvPr/>
        </p:nvCxnSpPr>
        <p:spPr>
          <a:xfrm rot="10800000" flipH="1">
            <a:off x="380141" y="2858860"/>
            <a:ext cx="335003" cy="1294015"/>
          </a:xfrm>
          <a:prstGeom prst="bentConnector3">
            <a:avLst>
              <a:gd name="adj1" fmla="val -68238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36E8F6F-BA83-6CCE-1072-CDCEF262FC37}"/>
              </a:ext>
            </a:extLst>
          </p:cNvPr>
          <p:cNvSpPr/>
          <p:nvPr/>
        </p:nvSpPr>
        <p:spPr>
          <a:xfrm>
            <a:off x="157427" y="3773505"/>
            <a:ext cx="445425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No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A18794-BDFE-C1B9-9A81-4769189A760E}"/>
              </a:ext>
            </a:extLst>
          </p:cNvPr>
          <p:cNvSpPr/>
          <p:nvPr/>
        </p:nvSpPr>
        <p:spPr>
          <a:xfrm>
            <a:off x="2977724" y="3773505"/>
            <a:ext cx="501206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DA130C2-3EA0-E99C-0954-313EBFC4219D}"/>
                  </a:ext>
                </a:extLst>
              </p:cNvPr>
              <p:cNvSpPr/>
              <p:nvPr/>
            </p:nvSpPr>
            <p:spPr>
              <a:xfrm>
                <a:off x="2866133" y="4344786"/>
                <a:ext cx="1225594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Optimized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DA130C2-3EA0-E99C-0954-313EBFC42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33" y="4344786"/>
                <a:ext cx="1225594" cy="338778"/>
              </a:xfrm>
              <a:prstGeom prst="rect">
                <a:avLst/>
              </a:prstGeom>
              <a:blipFill>
                <a:blip r:embed="rId5"/>
                <a:stretch>
                  <a:fillRect t="-12727" r="-13930"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5A3E6A0-E779-241C-59CD-84ECEAA47142}"/>
              </a:ext>
            </a:extLst>
          </p:cNvPr>
          <p:cNvCxnSpPr>
            <a:cxnSpLocks/>
            <a:stCxn id="26" idx="3"/>
            <a:endCxn id="36" idx="0"/>
          </p:cNvCxnSpPr>
          <p:nvPr/>
        </p:nvCxnSpPr>
        <p:spPr>
          <a:xfrm>
            <a:off x="3361882" y="4152874"/>
            <a:ext cx="117048" cy="191912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F69AAF1-A291-6408-C272-6592708B42A5}"/>
                  </a:ext>
                </a:extLst>
              </p:cNvPr>
              <p:cNvSpPr/>
              <p:nvPr/>
            </p:nvSpPr>
            <p:spPr>
              <a:xfrm>
                <a:off x="2429068" y="1401346"/>
                <a:ext cx="1195621" cy="68993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𝐵𝐺𝐷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𝐼𝑡𝑒𝑟𝑎𝑡𝑖𝑜𝑛</m:t>
                      </m:r>
                    </m:oMath>
                  </m:oMathPara>
                </a14:m>
                <a:endParaRPr lang="en-US" sz="1400" b="0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Or 1 </a:t>
                </a:r>
                <a:r>
                  <a:rPr lang="en-US" sz="1400" u="sng" dirty="0">
                    <a:solidFill>
                      <a:sysClr val="windowText" lastClr="000000"/>
                    </a:solidFill>
                  </a:rPr>
                  <a:t>epoch</a:t>
                </a:r>
                <a:r>
                  <a:rPr lang="en-US" sz="1400" dirty="0">
                    <a:solidFill>
                      <a:sysClr val="windowText" lastClr="000000"/>
                    </a:solidFill>
                  </a:rPr>
                  <a:t> of training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F69AAF1-A291-6408-C272-6592708B42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068" y="1401346"/>
                <a:ext cx="1195621" cy="689934"/>
              </a:xfrm>
              <a:prstGeom prst="rect">
                <a:avLst/>
              </a:prstGeom>
              <a:blipFill>
                <a:blip r:embed="rId6"/>
                <a:stretch>
                  <a:fillRect r="-6000" b="-10345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FA45EF-BB20-5A2D-41D0-75C27B584BC0}"/>
              </a:ext>
            </a:extLst>
          </p:cNvPr>
          <p:cNvSpPr/>
          <p:nvPr/>
        </p:nvSpPr>
        <p:spPr>
          <a:xfrm>
            <a:off x="4769810" y="1091944"/>
            <a:ext cx="4054665" cy="35916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4B1AC5-3F25-C450-7D2F-58CD5CE43DF6}"/>
                  </a:ext>
                </a:extLst>
              </p:cNvPr>
              <p:cNvSpPr/>
              <p:nvPr/>
            </p:nvSpPr>
            <p:spPr>
              <a:xfrm>
                <a:off x="5447893" y="2265645"/>
                <a:ext cx="2311734" cy="1114022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acc>
                        <m:accPr>
                          <m:chr m:val="⃗"/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acc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 sz="14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Using one datapoint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4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sysClr val="windowText" lastClr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4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4B1AC5-3F25-C450-7D2F-58CD5CE43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893" y="2265645"/>
                <a:ext cx="2311734" cy="1114022"/>
              </a:xfrm>
              <a:prstGeom prst="rect">
                <a:avLst/>
              </a:prstGeom>
              <a:blipFill>
                <a:blip r:embed="rId7"/>
                <a:stretch>
                  <a:fillRect t="-541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E26A95-A717-1E6D-DF9D-FC7150420A4F}"/>
                  </a:ext>
                </a:extLst>
              </p:cNvPr>
              <p:cNvSpPr/>
              <p:nvPr/>
            </p:nvSpPr>
            <p:spPr>
              <a:xfrm>
                <a:off x="6071451" y="1591825"/>
                <a:ext cx="1064621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E26A95-A717-1E6D-DF9D-FC7150420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451" y="1591825"/>
                <a:ext cx="1064621" cy="338778"/>
              </a:xfrm>
              <a:prstGeom prst="rect">
                <a:avLst/>
              </a:prstGeom>
              <a:blipFill>
                <a:blip r:embed="rId8"/>
                <a:stretch>
                  <a:fillRect t="-10714" r="-16000" b="-17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9BC73A-2565-B28B-C2C4-FD92B18911B9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603760" y="1930603"/>
            <a:ext cx="2" cy="3350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Decision 46">
                <a:extLst>
                  <a:ext uri="{FF2B5EF4-FFF2-40B4-BE49-F238E27FC236}">
                    <a16:creationId xmlns:a16="http://schemas.microsoft.com/office/drawing/2014/main" id="{50E3993B-7691-52F5-B17D-5A3598AD830E}"/>
                  </a:ext>
                </a:extLst>
              </p:cNvPr>
              <p:cNvSpPr/>
              <p:nvPr/>
            </p:nvSpPr>
            <p:spPr>
              <a:xfrm>
                <a:off x="5112891" y="3787114"/>
                <a:ext cx="2981740" cy="731520"/>
              </a:xfrm>
              <a:prstGeom prst="flowChartDecision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</m:sub>
                      </m:sSub>
                    </m:oMath>
                  </m:oMathPara>
                </a14:m>
                <a:endParaRPr lang="en-US" sz="110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100">
                    <a:solidFill>
                      <a:sysClr val="windowText" lastClr="000000"/>
                    </a:solidFill>
                  </a:rPr>
                  <a:t>Or # iterations &gt; max iterations</a:t>
                </a:r>
              </a:p>
            </p:txBody>
          </p:sp>
        </mc:Choice>
        <mc:Fallback xmlns="">
          <p:sp>
            <p:nvSpPr>
              <p:cNvPr id="47" name="Decision 46">
                <a:extLst>
                  <a:ext uri="{FF2B5EF4-FFF2-40B4-BE49-F238E27FC236}">
                    <a16:creationId xmlns:a16="http://schemas.microsoft.com/office/drawing/2014/main" id="{50E3993B-7691-52F5-B17D-5A3598AD8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891" y="3787114"/>
                <a:ext cx="2981740" cy="731520"/>
              </a:xfrm>
              <a:prstGeom prst="flowChartDecision">
                <a:avLst/>
              </a:prstGeom>
              <a:blipFill>
                <a:blip r:embed="rId9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5854BE-57D7-0DB4-503C-CA02592FBA47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>
            <a:off x="6603760" y="3379667"/>
            <a:ext cx="1" cy="40744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EA3D5C4-9690-1DE5-02F6-0F6B8E3F3C3B}"/>
              </a:ext>
            </a:extLst>
          </p:cNvPr>
          <p:cNvCxnSpPr>
            <a:cxnSpLocks/>
            <a:stCxn id="47" idx="1"/>
            <a:endCxn id="44" idx="1"/>
          </p:cNvCxnSpPr>
          <p:nvPr/>
        </p:nvCxnSpPr>
        <p:spPr>
          <a:xfrm rot="10800000" flipH="1">
            <a:off x="5112891" y="2822656"/>
            <a:ext cx="335002" cy="1330218"/>
          </a:xfrm>
          <a:prstGeom prst="bentConnector3">
            <a:avLst>
              <a:gd name="adj1" fmla="val -68238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9FD1686-2FEB-5831-32BE-35F6E067FFDD}"/>
              </a:ext>
            </a:extLst>
          </p:cNvPr>
          <p:cNvSpPr/>
          <p:nvPr/>
        </p:nvSpPr>
        <p:spPr>
          <a:xfrm>
            <a:off x="4890176" y="3773505"/>
            <a:ext cx="445425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No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CBC1C22-4F85-C64B-B934-EFE1AFCC5FC5}"/>
              </a:ext>
            </a:extLst>
          </p:cNvPr>
          <p:cNvSpPr/>
          <p:nvPr/>
        </p:nvSpPr>
        <p:spPr>
          <a:xfrm>
            <a:off x="7710473" y="3773505"/>
            <a:ext cx="501206" cy="3387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CEA6A4-E552-035D-C94C-2AF233A391FE}"/>
                  </a:ext>
                </a:extLst>
              </p:cNvPr>
              <p:cNvSpPr/>
              <p:nvPr/>
            </p:nvSpPr>
            <p:spPr>
              <a:xfrm>
                <a:off x="7598882" y="4344786"/>
                <a:ext cx="1225594" cy="338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ysClr val="windowText" lastClr="000000"/>
                    </a:solidFill>
                  </a:rPr>
                  <a:t>Optimized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CEA6A4-E552-035D-C94C-2AF233A39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882" y="4344786"/>
                <a:ext cx="1225594" cy="338778"/>
              </a:xfrm>
              <a:prstGeom prst="rect">
                <a:avLst/>
              </a:prstGeom>
              <a:blipFill>
                <a:blip r:embed="rId10"/>
                <a:stretch>
                  <a:fillRect t="-12727" r="-13433"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57206A2-9F72-5355-540D-46CFD2DE324C}"/>
              </a:ext>
            </a:extLst>
          </p:cNvPr>
          <p:cNvCxnSpPr>
            <a:cxnSpLocks/>
            <a:stCxn id="47" idx="3"/>
            <a:endCxn id="52" idx="0"/>
          </p:cNvCxnSpPr>
          <p:nvPr/>
        </p:nvCxnSpPr>
        <p:spPr>
          <a:xfrm>
            <a:off x="8094631" y="4152874"/>
            <a:ext cx="117048" cy="191912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AD566A0-C6C0-398F-E98C-0A8F9D857B98}"/>
                  </a:ext>
                </a:extLst>
              </p:cNvPr>
              <p:cNvSpPr/>
              <p:nvPr/>
            </p:nvSpPr>
            <p:spPr>
              <a:xfrm>
                <a:off x="7136071" y="2001955"/>
                <a:ext cx="1338121" cy="256886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0" dirty="0">
                    <a:solidFill>
                      <a:sysClr val="windowText" lastClr="000000"/>
                    </a:solidFill>
                  </a:rPr>
                  <a:t>S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𝐺𝐷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𝐼𝑡𝑒𝑟𝑎𝑡𝑖𝑜𝑛</m:t>
                    </m:r>
                  </m:oMath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AD566A0-C6C0-398F-E98C-0A8F9D857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071" y="2001955"/>
                <a:ext cx="1338121" cy="256886"/>
              </a:xfrm>
              <a:prstGeom prst="rect">
                <a:avLst/>
              </a:prstGeom>
              <a:blipFill>
                <a:blip r:embed="rId11"/>
                <a:stretch>
                  <a:fillRect t="-8696" b="-26087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7FDBD0AB-83F5-2F87-834D-68288BAA2AC4}"/>
              </a:ext>
            </a:extLst>
          </p:cNvPr>
          <p:cNvSpPr/>
          <p:nvPr/>
        </p:nvSpPr>
        <p:spPr>
          <a:xfrm>
            <a:off x="5507845" y="1208497"/>
            <a:ext cx="2311734" cy="34706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Stochastic Gradient Descent SGD</a:t>
            </a:r>
          </a:p>
        </p:txBody>
      </p:sp>
      <p:sp>
        <p:nvSpPr>
          <p:cNvPr id="62" name="5-Point Star 61">
            <a:extLst>
              <a:ext uri="{FF2B5EF4-FFF2-40B4-BE49-F238E27FC236}">
                <a16:creationId xmlns:a16="http://schemas.microsoft.com/office/drawing/2014/main" id="{C56D0553-214B-230C-DBA9-33769ACFBA97}"/>
              </a:ext>
            </a:extLst>
          </p:cNvPr>
          <p:cNvSpPr/>
          <p:nvPr/>
        </p:nvSpPr>
        <p:spPr>
          <a:xfrm>
            <a:off x="8282872" y="1154557"/>
            <a:ext cx="458848" cy="38332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A158A-7359-15DA-B758-3C14621BC67D}"/>
              </a:ext>
            </a:extLst>
          </p:cNvPr>
          <p:cNvSpPr/>
          <p:nvPr/>
        </p:nvSpPr>
        <p:spPr>
          <a:xfrm>
            <a:off x="267214" y="4783026"/>
            <a:ext cx="6070212" cy="392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ysClr val="windowText" lastClr="000000"/>
                </a:solidFill>
              </a:rPr>
              <a:t>Note: often, instead of a single training datapoint, SGD uses a small batch of training data called a “mini-batch”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3" grpId="0"/>
      <p:bldP spid="14" grpId="0" animBg="1"/>
      <p:bldP spid="17" grpId="0"/>
      <p:bldP spid="26" grpId="0" animBg="1"/>
      <p:bldP spid="34" grpId="0"/>
      <p:bldP spid="35" grpId="0"/>
      <p:bldP spid="36" grpId="0"/>
      <p:bldP spid="40" grpId="0" animBg="1"/>
      <p:bldP spid="42" grpId="0" animBg="1"/>
      <p:bldP spid="42" grpId="1" animBg="1"/>
      <p:bldP spid="44" grpId="0" animBg="1"/>
      <p:bldP spid="45" grpId="0"/>
      <p:bldP spid="47" grpId="0" animBg="1"/>
      <p:bldP spid="50" grpId="0"/>
      <p:bldP spid="51" grpId="0"/>
      <p:bldP spid="52" grpId="0"/>
      <p:bldP spid="54" grpId="0" animBg="1"/>
      <p:bldP spid="55" grpId="0"/>
      <p:bldP spid="62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6E07E7-76A6-6823-D195-02C663B86FF8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For some arbitrary parameter associated with feature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800" dirty="0"/>
                  <a:t> [Applying the chain rule]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Thus, the gradient equals: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6E07E7-76A6-6823-D195-02C663B86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A26DAFB-EF07-F021-2FA7-7C119583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Gradient Calculation for Multivariate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213F70-2AC0-6CD7-3C24-B8642C04F083}"/>
                  </a:ext>
                </a:extLst>
              </p:cNvPr>
              <p:cNvSpPr/>
              <p:nvPr/>
            </p:nvSpPr>
            <p:spPr>
              <a:xfrm>
                <a:off x="267214" y="4734962"/>
                <a:ext cx="6540992" cy="45853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0" dirty="0">
                    <a:solidFill>
                      <a:sysClr val="windowText" lastClr="000000"/>
                    </a:solidFill>
                  </a:rPr>
                  <a:t>Note</a:t>
                </a:r>
                <a:r>
                  <a:rPr lang="en-US" sz="1400" b="0" dirty="0">
                    <a:solidFill>
                      <a:schemeClr val="tx1"/>
                    </a:solidFill>
                  </a:rPr>
                  <a:t>: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400" b="0" dirty="0">
                    <a:solidFill>
                      <a:schemeClr val="tx1"/>
                    </a:solidFill>
                  </a:rPr>
                  <a:t> is an augmented input with a 1 in the first row (so we can deal with the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213F70-2AC0-6CD7-3C24-B8642C04F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14" y="4734962"/>
                <a:ext cx="6540992" cy="458534"/>
              </a:xfrm>
              <a:prstGeom prst="rect">
                <a:avLst/>
              </a:prstGeom>
              <a:blipFill>
                <a:blip r:embed="rId3"/>
                <a:stretch>
                  <a:fillRect t="-11538" b="-19231"/>
                </a:stretch>
              </a:blipFill>
              <a:ln w="19050">
                <a:solidFill>
                  <a:schemeClr val="accent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A26F4C7-72A3-7A4B-3A73-D05FA9F68EBC}"/>
              </a:ext>
            </a:extLst>
          </p:cNvPr>
          <p:cNvSpPr/>
          <p:nvPr/>
        </p:nvSpPr>
        <p:spPr>
          <a:xfrm>
            <a:off x="1376127" y="986828"/>
            <a:ext cx="1059255" cy="4707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0A7B8-D485-5B8F-0189-55EACD35B664}"/>
              </a:ext>
            </a:extLst>
          </p:cNvPr>
          <p:cNvSpPr/>
          <p:nvPr/>
        </p:nvSpPr>
        <p:spPr>
          <a:xfrm>
            <a:off x="2894029" y="1457608"/>
            <a:ext cx="6014301" cy="2931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ysClr val="windowText" lastClr="000000"/>
                </a:solidFill>
              </a:rPr>
              <a:t>This error is often called the “residual”, which we can store and use later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482AC-8957-1FE0-E769-BABB0AA37C27}"/>
              </a:ext>
            </a:extLst>
          </p:cNvPr>
          <p:cNvSpPr/>
          <p:nvPr/>
        </p:nvSpPr>
        <p:spPr>
          <a:xfrm>
            <a:off x="1698209" y="4002712"/>
            <a:ext cx="3090607" cy="4707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C347BD4-FB4F-7A7D-860E-A7629CDAC592}"/>
              </a:ext>
            </a:extLst>
          </p:cNvPr>
          <p:cNvCxnSpPr>
            <a:stCxn id="6" idx="1"/>
            <a:endCxn id="5" idx="2"/>
          </p:cNvCxnSpPr>
          <p:nvPr/>
        </p:nvCxnSpPr>
        <p:spPr>
          <a:xfrm rot="10800000">
            <a:off x="1905755" y="1457609"/>
            <a:ext cx="988274" cy="14656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8C908DA-25D6-F172-37BD-4764E804A07A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3243513" y="1604173"/>
            <a:ext cx="5664817" cy="2398539"/>
          </a:xfrm>
          <a:prstGeom prst="bentConnector4">
            <a:avLst>
              <a:gd name="adj1" fmla="val -1872"/>
              <a:gd name="adj2" fmla="val 88820"/>
            </a:avLst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F566AC-273C-AFC2-730F-BA4C7A1E3598}"/>
                  </a:ext>
                </a:extLst>
              </p:cNvPr>
              <p:cNvSpPr/>
              <p:nvPr/>
            </p:nvSpPr>
            <p:spPr>
              <a:xfrm>
                <a:off x="5817723" y="4002712"/>
                <a:ext cx="3273480" cy="47078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=2∗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𝑟𝑒𝑠𝑖𝑑𝑢𝑎𝑙</m:t>
                    </m:r>
                    <m:r>
                      <a:rPr lang="en-US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F566AC-273C-AFC2-730F-BA4C7A1E3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723" y="4002712"/>
                <a:ext cx="3273480" cy="47078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19050">
                <a:solidFill>
                  <a:srgbClr val="FF0000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0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64762F-56F7-E1FA-7429-F5505E89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BGD vs SGD (</a:t>
            </a:r>
            <a:r>
              <a:rPr lang="en-US" dirty="0" err="1"/>
              <a:t>Pesudo</a:t>
            </a:r>
            <a:r>
              <a:rPr lang="en-US" dirty="0"/>
              <a:t>-code)</a:t>
            </a:r>
          </a:p>
        </p:txBody>
      </p:sp>
      <p:pic>
        <p:nvPicPr>
          <p:cNvPr id="5" name="Graphic 4" descr="Differences Between Gradient, Stochastic and Mini Batch Gradient Descent |  Baeldung on Computer Science">
            <a:extLst>
              <a:ext uri="{FF2B5EF4-FFF2-40B4-BE49-F238E27FC236}">
                <a16:creationId xmlns:a16="http://schemas.microsoft.com/office/drawing/2014/main" id="{4FBAC823-FFA9-70C6-4EA1-39418DC18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4556" y="759279"/>
            <a:ext cx="4299444" cy="1755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C9F26-FAAF-CB05-5470-6B09CE764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794174"/>
            <a:ext cx="3405414" cy="1687705"/>
          </a:xfrm>
          <a:prstGeom prst="rect">
            <a:avLst/>
          </a:prstGeom>
        </p:spPr>
      </p:pic>
      <p:pic>
        <p:nvPicPr>
          <p:cNvPr id="7" name="Graphic 6" descr="Rendered by QuickLaTeX.com">
            <a:extLst>
              <a:ext uri="{FF2B5EF4-FFF2-40B4-BE49-F238E27FC236}">
                <a16:creationId xmlns:a16="http://schemas.microsoft.com/office/drawing/2014/main" id="{980DD3B9-58AD-215A-E715-9A4E0861C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556" y="759279"/>
            <a:ext cx="4572000" cy="1511300"/>
          </a:xfrm>
          <a:prstGeom prst="rect">
            <a:avLst/>
          </a:prstGeom>
        </p:spPr>
      </p:pic>
      <p:pic>
        <p:nvPicPr>
          <p:cNvPr id="8" name="Graphic 7" descr="Rendered by QuickLaTeX.com">
            <a:extLst>
              <a:ext uri="{FF2B5EF4-FFF2-40B4-BE49-F238E27FC236}">
                <a16:creationId xmlns:a16="http://schemas.microsoft.com/office/drawing/2014/main" id="{14127512-A76F-0BDB-0684-15C7B2F3C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556" y="2682880"/>
            <a:ext cx="4572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147755-3869-0449-5682-C289ED62724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sz="1800"/>
                  <a:t>BGD offers smoother convergence towards goal (asymptotically reaches optimal theta if loss function is convex)</a:t>
                </a:r>
              </a:p>
              <a:p>
                <a:endParaRPr lang="en-US" sz="1800"/>
              </a:p>
              <a:p>
                <a:r>
                  <a:rPr lang="en-US" sz="1800"/>
                  <a:t>BGD is super slow. It only updates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once all training data loss is computed.</a:t>
                </a:r>
              </a:p>
              <a:p>
                <a:endParaRPr lang="en-US" sz="1800"/>
              </a:p>
              <a:p>
                <a:r>
                  <a:rPr lang="en-US" sz="1800"/>
                  <a:t>SGD is fast. It updates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every time a training datapoint is seen.</a:t>
                </a:r>
              </a:p>
              <a:p>
                <a:endParaRPr lang="en-US" sz="1800"/>
              </a:p>
              <a:p>
                <a:r>
                  <a:rPr lang="en-US" sz="1800"/>
                  <a:t>SGD does not reach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800"/>
                  <a:t> efficiently (or at all). It oscillates close to the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800"/>
              </a:p>
              <a:p>
                <a:endParaRPr lang="en-US" sz="1800"/>
              </a:p>
              <a:p>
                <a:r>
                  <a:rPr lang="en-US" sz="1800"/>
                  <a:t>For big data, SGD is almost always used.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147755-3869-0449-5682-C289ED627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440" t="-1003" b="-4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5D05D01-6CB1-E87F-954F-09EE9B54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BGD vs SGD</a:t>
            </a:r>
          </a:p>
        </p:txBody>
      </p:sp>
    </p:spTree>
    <p:extLst>
      <p:ext uri="{BB962C8B-B14F-4D97-AF65-F5344CB8AC3E}">
        <p14:creationId xmlns:p14="http://schemas.microsoft.com/office/powerpoint/2010/main" val="292952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ACB521-4B2A-82E7-C4B1-D9BAC8C5B89E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SGD will not converge to the optimal solution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constant. Rather, it will keep oscillating.</a:t>
                </a:r>
              </a:p>
              <a:p>
                <a:endParaRPr lang="en-US" dirty="0"/>
              </a:p>
              <a:p>
                <a:r>
                  <a:rPr lang="en-US" dirty="0"/>
                  <a:t>A solution to this is using adaptive learning rates that decay with each iteration. 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is the maximum (starting) learning rate.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 is the minimum (final) learning rate.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a constant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iteration number.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ACB521-4B2A-82E7-C4B1-D9BAC8C5B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62" t="-1042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2E245D-DE26-0A1E-DB01-A27B1153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Learning Rate</a:t>
            </a:r>
          </a:p>
        </p:txBody>
      </p:sp>
    </p:spTree>
    <p:extLst>
      <p:ext uri="{BB962C8B-B14F-4D97-AF65-F5344CB8AC3E}">
        <p14:creationId xmlns:p14="http://schemas.microsoft.com/office/powerpoint/2010/main" val="52428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EAD8BD-D88E-A019-A85B-0F46B9A07536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746661"/>
                <a:ext cx="4159060" cy="3650177"/>
              </a:xfrm>
            </p:spPr>
            <p:txBody>
              <a:bodyPr/>
              <a:lstStyle/>
              <a:p>
                <a:r>
                  <a:rPr lang="en-US" sz="1600" dirty="0"/>
                  <a:t>L1 regularization methods like LASSO tends to produce </a:t>
                </a:r>
                <a:r>
                  <a:rPr lang="en-US" sz="1600" u="sng" dirty="0"/>
                  <a:t>sparse models</a:t>
                </a:r>
                <a:r>
                  <a:rPr lang="en-US" sz="1600" dirty="0"/>
                  <a:t>. (models where a lot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This is due to the trade off between the loss function minimum and the intersection with the regularization penalty curve.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L1 regularization methods tend to have a “pointy” shape. The intersection usually happens at a corner, which is associated with some zero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/>
                  <a:t>. Compare that to the circular penalty function of L2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EAD8BD-D88E-A019-A85B-0F46B9A07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746661"/>
                <a:ext cx="4159060" cy="3650177"/>
              </a:xfrm>
              <a:blipFill>
                <a:blip r:embed="rId3"/>
                <a:stretch>
                  <a:fillRect l="-587" t="-501" b="-3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435FF56-5719-1742-AF6A-21284A8F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Note</a:t>
            </a:r>
          </a:p>
        </p:txBody>
      </p:sp>
      <p:pic>
        <p:nvPicPr>
          <p:cNvPr id="4" name="Picture 3" descr="L1 vs L2 Regularization: Intuition, Geometry, and Bayesian View | by Feroz  Khan | Medium">
            <a:extLst>
              <a:ext uri="{FF2B5EF4-FFF2-40B4-BE49-F238E27FC236}">
                <a16:creationId xmlns:a16="http://schemas.microsoft.com/office/drawing/2014/main" id="{A90EA849-E4ED-C405-B0C0-ED1449791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127" y="746661"/>
            <a:ext cx="4504873" cy="246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6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D3FD6C-8A34-4C7F-F4C3-173E617740F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Convex functions: Functions whose shape curve down like a cup. </a:t>
            </a:r>
            <a:r>
              <a:rPr lang="en-US" u="sng" dirty="0"/>
              <a:t>Mathematically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Advantage of Convex Loss Functions: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Non-convex functions: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9BCB84-0C43-6CD8-A327-605AB919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 Optimization vs Non-Convex Optimization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9F8A1-5724-A9E4-686A-241C88BAACFB}"/>
              </a:ext>
            </a:extLst>
          </p:cNvPr>
          <p:cNvCxnSpPr>
            <a:cxnSpLocks/>
          </p:cNvCxnSpPr>
          <p:nvPr/>
        </p:nvCxnSpPr>
        <p:spPr>
          <a:xfrm>
            <a:off x="423600" y="2770832"/>
            <a:ext cx="48545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13DE5F-ED11-1AB7-5B10-0FC0037B9A9B}"/>
              </a:ext>
            </a:extLst>
          </p:cNvPr>
          <p:cNvCxnSpPr>
            <a:cxnSpLocks/>
          </p:cNvCxnSpPr>
          <p:nvPr/>
        </p:nvCxnSpPr>
        <p:spPr>
          <a:xfrm>
            <a:off x="2741422" y="1557669"/>
            <a:ext cx="277449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A232BA-4DD9-CFFF-E20D-1A529EAF9051}"/>
              </a:ext>
            </a:extLst>
          </p:cNvPr>
          <p:cNvCxnSpPr>
            <a:cxnSpLocks/>
          </p:cNvCxnSpPr>
          <p:nvPr/>
        </p:nvCxnSpPr>
        <p:spPr>
          <a:xfrm>
            <a:off x="423600" y="3810471"/>
            <a:ext cx="485457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694C3D-C991-14FC-FD03-A38B222F81D7}"/>
              </a:ext>
            </a:extLst>
          </p:cNvPr>
          <p:cNvCxnSpPr/>
          <p:nvPr/>
        </p:nvCxnSpPr>
        <p:spPr>
          <a:xfrm>
            <a:off x="423600" y="4418564"/>
            <a:ext cx="80705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EB85B39-E646-B285-1115-819D4F60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319" y="1421437"/>
            <a:ext cx="1601945" cy="1371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7143C9-4D13-C404-4A53-9AEA019B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4" y="1399231"/>
            <a:ext cx="1601945" cy="1371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9AC4BA-0488-EFD7-3B86-BAD308053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319" y="2815244"/>
            <a:ext cx="1600200" cy="15589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D545C0-6F80-8849-028B-1C8476C0B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24" y="2815245"/>
            <a:ext cx="1600200" cy="155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522A36-0564-47C6-7751-DDCF5D047DD8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2851150" y="1215620"/>
            <a:ext cx="1828800" cy="164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BAB3459-66E6-08A8-3118-AB55B6D9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 Optimization vs Non-Convex Optimization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E9D6D-BA27-CEB4-4602-68EA917B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911" y="1261350"/>
            <a:ext cx="1828800" cy="1646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F7B08F-9D9C-B7BD-5EDD-B4CC1F379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911" y="3001736"/>
            <a:ext cx="1828800" cy="1646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123071-48B3-40CB-21F6-5B724C69C1E3}"/>
                  </a:ext>
                </a:extLst>
              </p:cNvPr>
              <p:cNvSpPr/>
              <p:nvPr/>
            </p:nvSpPr>
            <p:spPr>
              <a:xfrm>
                <a:off x="403189" y="1215619"/>
                <a:ext cx="2311734" cy="16465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Different initial guesses for the parameters (blue and yellow paths) lead to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combination associated with the minimum possible loss value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123071-48B3-40CB-21F6-5B724C69C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89" y="1215619"/>
                <a:ext cx="2311734" cy="1646527"/>
              </a:xfrm>
              <a:prstGeom prst="rect">
                <a:avLst/>
              </a:prstGeom>
              <a:blipFill>
                <a:blip r:embed="rId5"/>
                <a:stretch>
                  <a:fillRect b="-22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9EDAF44-3741-2A63-7C8E-E2BA70A4775C}"/>
                  </a:ext>
                </a:extLst>
              </p:cNvPr>
              <p:cNvSpPr/>
              <p:nvPr/>
            </p:nvSpPr>
            <p:spPr>
              <a:xfrm>
                <a:off x="4816177" y="1215620"/>
                <a:ext cx="2311734" cy="17861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Different initial guesses for the parameters (blue and yellow paths) lead to the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combination associated with different minimum loss value (one may not be the absolute minimum)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9EDAF44-3741-2A63-7C8E-E2BA70A477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77" y="1215620"/>
                <a:ext cx="2311734" cy="1786116"/>
              </a:xfrm>
              <a:prstGeom prst="rect">
                <a:avLst/>
              </a:prstGeom>
              <a:blipFill>
                <a:blip r:embed="rId6"/>
                <a:stretch>
                  <a:fillRect t="-704" r="-1639" b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44A14C-FD20-D5AA-0894-DD8CDC7C5FBD}"/>
                  </a:ext>
                </a:extLst>
              </p:cNvPr>
              <p:cNvSpPr/>
              <p:nvPr/>
            </p:nvSpPr>
            <p:spPr>
              <a:xfrm>
                <a:off x="4816177" y="3265714"/>
                <a:ext cx="2311734" cy="118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</a:rPr>
                  <a:t>Sometimes, high learning rates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</a:rPr>
                  <a:t> may lead to jumping between multiple local minima (we do not converge to either).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44A14C-FD20-D5AA-0894-DD8CDC7C5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77" y="3265714"/>
                <a:ext cx="2311734" cy="1180200"/>
              </a:xfrm>
              <a:prstGeom prst="rect">
                <a:avLst/>
              </a:prstGeom>
              <a:blipFill>
                <a:blip r:embed="rId7"/>
                <a:stretch>
                  <a:fillRect r="-1639" b="-53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A19EF1C-05D8-128D-CE60-20CC5E2B70C3}"/>
              </a:ext>
            </a:extLst>
          </p:cNvPr>
          <p:cNvSpPr/>
          <p:nvPr/>
        </p:nvSpPr>
        <p:spPr>
          <a:xfrm>
            <a:off x="2609683" y="824632"/>
            <a:ext cx="2311734" cy="1886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Convex Optimization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6BA4A0-2757-B3B1-D9B2-A3B629C8C92B}"/>
              </a:ext>
            </a:extLst>
          </p:cNvPr>
          <p:cNvSpPr/>
          <p:nvPr/>
        </p:nvSpPr>
        <p:spPr>
          <a:xfrm>
            <a:off x="6777424" y="824632"/>
            <a:ext cx="2311734" cy="1886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Non-convex Optimization</a:t>
            </a:r>
          </a:p>
        </p:txBody>
      </p:sp>
    </p:spTree>
    <p:extLst>
      <p:ext uri="{BB962C8B-B14F-4D97-AF65-F5344CB8AC3E}">
        <p14:creationId xmlns:p14="http://schemas.microsoft.com/office/powerpoint/2010/main" val="188627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1C1163-86CE-1EE6-763D-9A1563396EEF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2034721" y="2661558"/>
            <a:ext cx="7109279" cy="565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35051D-AD1B-A711-02C4-5968188E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”Art” of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E2DDD-ABFF-67C8-57DF-F08F89411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" y="690918"/>
            <a:ext cx="5929748" cy="1791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148FA4-4B13-DD55-84E6-5D0A40E33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1" y="3442035"/>
            <a:ext cx="5715000" cy="8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1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Slides (5-8) </a:t>
            </a:r>
            <a:r>
              <a:rPr lang="en-US" i="1" dirty="0"/>
              <a:t>Data-Driven Science and Engineering: Machine Learning, Dynamical Systems and Control</a:t>
            </a:r>
            <a:r>
              <a:rPr lang="en-US" dirty="0"/>
              <a:t>, Brunton &amp; Kutz, second edition. Section 4.2</a:t>
            </a:r>
          </a:p>
          <a:p>
            <a:r>
              <a:rPr lang="en-US" dirty="0"/>
              <a:t>Materials from this slides (slide 14 – 17) used </a:t>
            </a:r>
            <a:r>
              <a:rPr lang="en-US" i="1" dirty="0"/>
              <a:t>Machine Learning, A First Course for Engineers and Scientists</a:t>
            </a:r>
            <a:r>
              <a:rPr lang="en-US" dirty="0"/>
              <a:t>,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4.4 as a reference. Access to this document is free at the publishers’ GitHub page. </a:t>
            </a:r>
          </a:p>
          <a:p>
            <a:r>
              <a:rPr lang="en-US" dirty="0"/>
              <a:t>Materials for slides (5-13) are from: </a:t>
            </a:r>
            <a:r>
              <a:rPr lang="en-US" i="1" dirty="0"/>
              <a:t>Artificial Intelligence: A Modern Approach</a:t>
            </a:r>
            <a:r>
              <a:rPr lang="en-US" dirty="0"/>
              <a:t>, Russel and Norvig, 4</a:t>
            </a:r>
            <a:r>
              <a:rPr lang="en-US" baseline="30000" dirty="0"/>
              <a:t>th</a:t>
            </a:r>
            <a:r>
              <a:rPr lang="en-US" dirty="0"/>
              <a:t> edition, section 19.6.2.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912</Words>
  <Application>Microsoft Macintosh PowerPoint</Application>
  <PresentationFormat>On-screen Show (16:9)</PresentationFormat>
  <Paragraphs>129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Palatino Linotype</vt:lpstr>
      <vt:lpstr>CP_ppt_standard_v1</vt:lpstr>
      <vt:lpstr>Gradient Descent</vt:lpstr>
      <vt:lpstr>Motivation</vt:lpstr>
      <vt:lpstr>Optimization Problems</vt:lpstr>
      <vt:lpstr>Overview</vt:lpstr>
      <vt:lpstr>A Way to the Solution</vt:lpstr>
      <vt:lpstr>The Sense of Down</vt:lpstr>
      <vt:lpstr>Observations</vt:lpstr>
      <vt:lpstr>Gradient Descent</vt:lpstr>
      <vt:lpstr>Batch Gradient Descent and Stochastic Gradient Descent</vt:lpstr>
      <vt:lpstr>Gradient Calculation for Multivariate Linear Regression</vt:lpstr>
      <vt:lpstr>BGD vs SGD (Pesudo-code)</vt:lpstr>
      <vt:lpstr>BGD vs SGD</vt:lpstr>
      <vt:lpstr>Adaptive Learning Rate</vt:lpstr>
      <vt:lpstr>Regularization Note</vt:lpstr>
      <vt:lpstr>Convex Optimization vs Non-Convex Optimization</vt:lpstr>
      <vt:lpstr>Convex Optimization vs Non-Convex Optimization</vt:lpstr>
      <vt:lpstr>The ”Art” of Optimization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5</cp:revision>
  <dcterms:modified xsi:type="dcterms:W3CDTF">2026-09-22T21:01:10Z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